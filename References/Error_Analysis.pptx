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4" r:id="rId48"/>
    <p:sldId id="305" r:id="rId49"/>
    <p:sldId id="306" r:id="rId50"/>
    <p:sldId id="307" r:id="rId51"/>
    <p:sldId id="302" r:id="rId52"/>
    <p:sldId id="303"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215444"/>
          </a:xfrm>
          <a:prstGeom prst="rect">
            <a:avLst/>
          </a:prstGeom>
          <a:noFill/>
        </p:spPr>
        <p:txBody>
          <a:bodyPr wrap="square" lIns="0" tIns="0" rIns="0" bIns="0" anchor="t">
            <a:spAutoFit/>
          </a:bodyPr>
          <a:lstStyle/>
          <a:p>
            <a:pPr algn="l">
              <a:lnSpc>
                <a:spcPct val="100000"/>
              </a:lnSpc>
              <a:spcAft>
                <a:spcPts val="600"/>
              </a:spcAft>
            </a:pPr>
            <a:r>
              <a:rPr sz="1400" b="1" i="0" dirty="0">
                <a:solidFill>
                  <a:srgbClr val="00E4FF"/>
                </a:solidFill>
                <a:latin typeface="Calibri"/>
              </a:rPr>
              <a:t>PG DIPLOMA  ·  ADVANCED COMMUNICATION WITH QUANTUM &amp; AI</a:t>
            </a:r>
          </a:p>
        </p:txBody>
      </p:sp>
      <p:sp>
        <p:nvSpPr>
          <p:cNvPr id="5" name="TextBox 4"/>
          <p:cNvSpPr txBox="1"/>
          <p:nvPr/>
        </p:nvSpPr>
        <p:spPr>
          <a:xfrm>
            <a:off x="822960" y="1965960"/>
            <a:ext cx="10515600" cy="1920240"/>
          </a:xfrm>
          <a:prstGeom prst="rect">
            <a:avLst/>
          </a:prstGeom>
          <a:noFill/>
        </p:spPr>
        <p:txBody>
          <a:bodyPr wrap="square" lIns="0" tIns="0" rIns="0" bIns="0" anchor="t">
            <a:spAutoFit/>
          </a:bodyPr>
          <a:lstStyle/>
          <a:p>
            <a:pPr algn="l">
              <a:lnSpc>
                <a:spcPct val="100000"/>
              </a:lnSpc>
              <a:spcAft>
                <a:spcPts val="600"/>
              </a:spcAft>
            </a:pPr>
            <a:r>
              <a:rPr sz="5800" b="1" i="0" dirty="0">
                <a:solidFill>
                  <a:srgbClr val="E8EAF6"/>
                </a:solidFill>
                <a:latin typeface="Cambria"/>
              </a:rPr>
              <a:t>Why More Antennas
= Fewer Errors</a:t>
            </a:r>
          </a:p>
        </p:txBody>
      </p:sp>
      <p:sp>
        <p:nvSpPr>
          <p:cNvPr id="6" name="TextBox 5"/>
          <p:cNvSpPr txBox="1"/>
          <p:nvPr/>
        </p:nvSpPr>
        <p:spPr>
          <a:xfrm>
            <a:off x="822960" y="4114800"/>
            <a:ext cx="10058400" cy="457200"/>
          </a:xfrm>
          <a:prstGeom prst="rect">
            <a:avLst/>
          </a:prstGeom>
          <a:noFill/>
        </p:spPr>
        <p:txBody>
          <a:bodyPr wrap="square" lIns="0" tIns="0" rIns="0" bIns="0" anchor="t">
            <a:spAutoFit/>
          </a:bodyPr>
          <a:lstStyle/>
          <a:p>
            <a:pPr algn="l">
              <a:lnSpc>
                <a:spcPct val="100000"/>
              </a:lnSpc>
              <a:spcAft>
                <a:spcPts val="600"/>
              </a:spcAft>
            </a:pPr>
            <a:r>
              <a:rPr sz="2000" b="0" i="0">
                <a:solidFill>
                  <a:srgbClr val="9AA3C0"/>
                </a:solidFill>
                <a:latin typeface="Calibri"/>
              </a:rPr>
              <a:t>Error Probability Analysis for MIMO — an intuition-first session</a:t>
            </a:r>
          </a:p>
        </p:txBody>
      </p:sp>
      <p:sp>
        <p:nvSpPr>
          <p:cNvPr id="7" name="Rounded Rectangle 6"/>
          <p:cNvSpPr/>
          <p:nvPr/>
        </p:nvSpPr>
        <p:spPr>
          <a:xfrm>
            <a:off x="822960" y="4937760"/>
            <a:ext cx="1554480" cy="310896"/>
          </a:xfrm>
          <a:prstGeom prst="roundRect">
            <a:avLst>
              <a:gd name="adj" fmla="val 8000"/>
            </a:avLst>
          </a:prstGeom>
          <a:solidFill>
            <a:srgbClr val="182244"/>
          </a:solidFill>
          <a:ln w="15240">
            <a:solidFill>
              <a:srgbClr val="7C5CF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200" b="1">
                <a:solidFill>
                  <a:srgbClr val="7C5CFF"/>
                </a:solidFill>
                <a:latin typeface="Calibri"/>
              </a:rPr>
              <a:t>90 minutes</a:t>
            </a:r>
          </a:p>
        </p:txBody>
      </p:sp>
      <p:sp>
        <p:nvSpPr>
          <p:cNvPr id="8" name="Rounded Rectangle 7"/>
          <p:cNvSpPr/>
          <p:nvPr/>
        </p:nvSpPr>
        <p:spPr>
          <a:xfrm>
            <a:off x="2560320" y="4937760"/>
            <a:ext cx="1554480" cy="310896"/>
          </a:xfrm>
          <a:prstGeom prst="roundRect">
            <a:avLst>
              <a:gd name="adj" fmla="val 8000"/>
            </a:avLst>
          </a:prstGeom>
          <a:solidFill>
            <a:srgbClr val="182244"/>
          </a:solidFill>
          <a:ln w="15240">
            <a:solidFill>
              <a:srgbClr val="00E4F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200" b="1">
                <a:solidFill>
                  <a:srgbClr val="00E4FF"/>
                </a:solidFill>
                <a:latin typeface="Calibri"/>
              </a:rPr>
              <a:t>6 numericals</a:t>
            </a:r>
          </a:p>
        </p:txBody>
      </p:sp>
      <p:sp>
        <p:nvSpPr>
          <p:cNvPr id="9" name="Rounded Rectangle 8"/>
          <p:cNvSpPr/>
          <p:nvPr/>
        </p:nvSpPr>
        <p:spPr>
          <a:xfrm>
            <a:off x="4297680" y="4937760"/>
            <a:ext cx="1463040" cy="310896"/>
          </a:xfrm>
          <a:prstGeom prst="roundRect">
            <a:avLst>
              <a:gd name="adj" fmla="val 8000"/>
            </a:avLst>
          </a:prstGeom>
          <a:solidFill>
            <a:srgbClr val="182244"/>
          </a:solidFill>
          <a:ln w="15240">
            <a:solidFill>
              <a:srgbClr val="FFB454"/>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200" b="1">
                <a:solidFill>
                  <a:srgbClr val="FFB454"/>
                </a:solidFill>
                <a:latin typeface="Calibri"/>
              </a:rPr>
              <a:t>5 quizzes</a:t>
            </a:r>
          </a:p>
        </p:txBody>
      </p:sp>
      <p:sp>
        <p:nvSpPr>
          <p:cNvPr id="10" name="Rounded Rectangle 9"/>
          <p:cNvSpPr/>
          <p:nvPr/>
        </p:nvSpPr>
        <p:spPr>
          <a:xfrm>
            <a:off x="5943600" y="4937760"/>
            <a:ext cx="2103120" cy="310896"/>
          </a:xfrm>
          <a:prstGeom prst="roundRect">
            <a:avLst>
              <a:gd name="adj" fmla="val 8000"/>
            </a:avLst>
          </a:prstGeom>
          <a:solidFill>
            <a:srgbClr val="182244"/>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200" b="1">
                <a:solidFill>
                  <a:srgbClr val="3DDC97"/>
                </a:solidFill>
                <a:latin typeface="Calibri"/>
              </a:rPr>
              <a:t>3 design problems</a:t>
            </a:r>
          </a:p>
        </p:txBody>
      </p:sp>
      <p:sp>
        <p:nvSpPr>
          <p:cNvPr id="11" name="Rectangle 10"/>
          <p:cNvSpPr/>
          <p:nvPr/>
        </p:nvSpPr>
        <p:spPr>
          <a:xfrm>
            <a:off x="9692640" y="1645920"/>
            <a:ext cx="45720" cy="384048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592056" y="1417320"/>
            <a:ext cx="246888" cy="246888"/>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332720" y="2103120"/>
            <a:ext cx="45720" cy="338328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232136" y="1874519"/>
            <a:ext cx="246888" cy="246888"/>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0" y="2560320"/>
            <a:ext cx="45720" cy="292608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872216" y="2331720"/>
            <a:ext cx="246888" cy="246888"/>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HOOK</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Your call drops in the lift. Why?</a:t>
            </a:r>
          </a:p>
        </p:txBody>
      </p:sp>
      <p:sp>
        <p:nvSpPr>
          <p:cNvPr id="4" name="TextBox 3"/>
          <p:cNvSpPr txBox="1"/>
          <p:nvPr/>
        </p:nvSpPr>
        <p:spPr>
          <a:xfrm>
            <a:off x="502920" y="1737360"/>
            <a:ext cx="5394960" cy="3291840"/>
          </a:xfrm>
          <a:prstGeom prst="rect">
            <a:avLst/>
          </a:prstGeom>
          <a:noFill/>
        </p:spPr>
        <p:txBody>
          <a:bodyPr wrap="square" lIns="0" tIns="0" rIns="0" bIns="0" anchor="t">
            <a:spAutoFit/>
          </a:bodyPr>
          <a:lstStyle/>
          <a:p>
            <a:pPr algn="l">
              <a:lnSpc>
                <a:spcPct val="105000"/>
              </a:lnSpc>
              <a:spcAft>
                <a:spcPts val="1200"/>
              </a:spcAft>
            </a:pPr>
            <a:r>
              <a:rPr sz="1650" b="1" i="0">
                <a:solidFill>
                  <a:srgbClr val="7C5CFF"/>
                </a:solidFill>
                <a:latin typeface="Calibri"/>
              </a:rPr>
              <a:t>›  </a:t>
            </a:r>
            <a:r>
              <a:rPr sz="1650" b="0" i="0">
                <a:solidFill>
                  <a:srgbClr val="E8EAF6"/>
                </a:solidFill>
                <a:latin typeface="Calibri"/>
              </a:rPr>
              <a:t>Signal bounces off walls, floors, people — copies collide.</a:t>
            </a:r>
          </a:p>
          <a:p>
            <a:pPr algn="l">
              <a:lnSpc>
                <a:spcPct val="105000"/>
              </a:lnSpc>
              <a:spcAft>
                <a:spcPts val="1200"/>
              </a:spcAft>
            </a:pPr>
            <a:r>
              <a:rPr sz="1650" b="1" i="0">
                <a:solidFill>
                  <a:srgbClr val="7C5CFF"/>
                </a:solidFill>
                <a:latin typeface="Calibri"/>
              </a:rPr>
              <a:t>›  </a:t>
            </a:r>
            <a:r>
              <a:rPr sz="1650" b="0" i="0">
                <a:solidFill>
                  <a:srgbClr val="E8EAF6"/>
                </a:solidFill>
                <a:latin typeface="Calibri"/>
              </a:rPr>
              <a:t>Sometimes copies cancel almost perfectly: a DEEP FADE.</a:t>
            </a:r>
          </a:p>
          <a:p>
            <a:pPr algn="l">
              <a:lnSpc>
                <a:spcPct val="105000"/>
              </a:lnSpc>
              <a:spcAft>
                <a:spcPts val="1200"/>
              </a:spcAft>
            </a:pPr>
            <a:r>
              <a:rPr sz="1650" b="1" i="0">
                <a:solidFill>
                  <a:srgbClr val="7C5CFF"/>
                </a:solidFill>
                <a:latin typeface="Calibri"/>
              </a:rPr>
              <a:t>›  </a:t>
            </a:r>
            <a:r>
              <a:rPr sz="1650" b="0" i="0">
                <a:solidFill>
                  <a:srgbClr val="E8EAF6"/>
                </a:solidFill>
                <a:latin typeface="Calibri"/>
              </a:rPr>
              <a:t>For a few milliseconds the channel gain ≈ 0 — no power survives.</a:t>
            </a:r>
          </a:p>
          <a:p>
            <a:pPr algn="l">
              <a:lnSpc>
                <a:spcPct val="105000"/>
              </a:lnSpc>
              <a:spcAft>
                <a:spcPts val="1200"/>
              </a:spcAft>
            </a:pPr>
            <a:r>
              <a:rPr sz="1650" b="1" i="0">
                <a:solidFill>
                  <a:srgbClr val="7C5CFF"/>
                </a:solidFill>
                <a:latin typeface="Calibri"/>
              </a:rPr>
              <a:t>›  </a:t>
            </a:r>
            <a:r>
              <a:rPr sz="1650" b="0" i="0">
                <a:solidFill>
                  <a:srgbClr val="E8EAF6"/>
                </a:solidFill>
                <a:latin typeface="Calibri"/>
              </a:rPr>
              <a:t>Errors don't happen 'a little, all the time'. They happen in bursts, inside fades.</a:t>
            </a:r>
          </a:p>
        </p:txBody>
      </p:sp>
      <p:sp>
        <p:nvSpPr>
          <p:cNvPr id="5" name="Rounded Rectangle 4"/>
          <p:cNvSpPr/>
          <p:nvPr/>
        </p:nvSpPr>
        <p:spPr>
          <a:xfrm>
            <a:off x="502920" y="4892040"/>
            <a:ext cx="5394960" cy="13258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5038344"/>
            <a:ext cx="499262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Today's single big question</a:t>
            </a:r>
          </a:p>
        </p:txBody>
      </p:sp>
      <p:sp>
        <p:nvSpPr>
          <p:cNvPr id="7" name="TextBox 6"/>
          <p:cNvSpPr txBox="1"/>
          <p:nvPr/>
        </p:nvSpPr>
        <p:spPr>
          <a:xfrm>
            <a:off x="731520" y="5440680"/>
            <a:ext cx="4937760" cy="685800"/>
          </a:xfrm>
          <a:prstGeom prst="rect">
            <a:avLst/>
          </a:prstGeom>
          <a:noFill/>
        </p:spPr>
        <p:txBody>
          <a:bodyPr wrap="square" lIns="0" tIns="0" rIns="0" bIns="0" anchor="t">
            <a:spAutoFit/>
          </a:bodyPr>
          <a:lstStyle/>
          <a:p>
            <a:pPr algn="l">
              <a:lnSpc>
                <a:spcPct val="100000"/>
              </a:lnSpc>
              <a:spcAft>
                <a:spcPts val="600"/>
              </a:spcAft>
            </a:pPr>
            <a:r>
              <a:rPr sz="1800" b="1" i="0">
                <a:solidFill>
                  <a:srgbClr val="E8EAF6"/>
                </a:solidFill>
                <a:latin typeface="Calibri"/>
              </a:rPr>
              <a:t>How exactly does BER fall when we add antennas?</a:t>
            </a:r>
          </a:p>
        </p:txBody>
      </p:sp>
      <p:pic>
        <p:nvPicPr>
          <p:cNvPr id="8" name="Picture 7" descr="c_deepfade.png"/>
          <p:cNvPicPr>
            <a:picLocks noChangeAspect="1"/>
          </p:cNvPicPr>
          <p:nvPr/>
        </p:nvPicPr>
        <p:blipFill>
          <a:blip r:embed="rId2"/>
          <a:stretch>
            <a:fillRect/>
          </a:stretch>
        </p:blipFill>
        <p:spPr>
          <a:xfrm>
            <a:off x="6172200" y="1920240"/>
            <a:ext cx="5577840" cy="2998520"/>
          </a:xfrm>
          <a:prstGeom prst="rect">
            <a:avLst/>
          </a:prstGeom>
        </p:spPr>
      </p:pic>
      <p:sp>
        <p:nvSpPr>
          <p:cNvPr id="9" name="TextBox 8"/>
          <p:cNvSpPr txBox="1"/>
          <p:nvPr/>
        </p:nvSpPr>
        <p:spPr>
          <a:xfrm>
            <a:off x="6172200" y="5120640"/>
            <a:ext cx="5486400" cy="548640"/>
          </a:xfrm>
          <a:prstGeom prst="rect">
            <a:avLst/>
          </a:prstGeom>
          <a:noFill/>
        </p:spPr>
        <p:txBody>
          <a:bodyPr wrap="square" lIns="0" tIns="0" rIns="0" bIns="0" anchor="t">
            <a:spAutoFit/>
          </a:bodyPr>
          <a:lstStyle/>
          <a:p>
            <a:pPr algn="l">
              <a:lnSpc>
                <a:spcPct val="100000"/>
              </a:lnSpc>
              <a:spcAft>
                <a:spcPts val="600"/>
              </a:spcAft>
            </a:pPr>
            <a:r>
              <a:rPr sz="1300" b="0" i="0">
                <a:solidFill>
                  <a:srgbClr val="9AA3C0"/>
                </a:solidFill>
                <a:latin typeface="Calibri"/>
              </a:rPr>
              <a:t>Red zones = deep fades. Tiny fraction of time, almost all of the errors.</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FOUNDATIONS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BER: Just Count the Errors</a:t>
            </a:r>
          </a:p>
        </p:txBody>
      </p:sp>
      <p:sp>
        <p:nvSpPr>
          <p:cNvPr id="4" name="Rounded Rectangle 3"/>
          <p:cNvSpPr/>
          <p:nvPr/>
        </p:nvSpPr>
        <p:spPr>
          <a:xfrm>
            <a:off x="502920" y="1691640"/>
            <a:ext cx="5577840" cy="18288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Definition (no calculus required)</a:t>
            </a:r>
          </a:p>
        </p:txBody>
      </p:sp>
      <p:sp>
        <p:nvSpPr>
          <p:cNvPr id="6" name="TextBox 5"/>
          <p:cNvSpPr txBox="1"/>
          <p:nvPr/>
        </p:nvSpPr>
        <p:spPr>
          <a:xfrm>
            <a:off x="777240" y="2240280"/>
            <a:ext cx="5120640" cy="1188720"/>
          </a:xfrm>
          <a:prstGeom prst="rect">
            <a:avLst/>
          </a:prstGeom>
          <a:noFill/>
        </p:spPr>
        <p:txBody>
          <a:bodyPr wrap="square" lIns="0" tIns="0" rIns="0" bIns="0" anchor="t">
            <a:spAutoFit/>
          </a:bodyPr>
          <a:lstStyle/>
          <a:p>
            <a:pPr algn="l">
              <a:lnSpc>
                <a:spcPct val="100000"/>
              </a:lnSpc>
              <a:spcAft>
                <a:spcPts val="1000"/>
              </a:spcAft>
            </a:pPr>
            <a:r>
              <a:rPr sz="2200" b="1" i="0">
                <a:solidFill>
                  <a:srgbClr val="E8EAF6"/>
                </a:solidFill>
                <a:latin typeface="Calibri"/>
              </a:rPr>
              <a:t>BER  =  </a:t>
            </a:r>
            <a:r>
              <a:rPr sz="2200" b="1" i="0">
                <a:solidFill>
                  <a:srgbClr val="00E4FF"/>
                </a:solidFill>
                <a:latin typeface="Calibri"/>
              </a:rPr>
              <a:t>erroneous bits ÷ total bits</a:t>
            </a:r>
          </a:p>
          <a:p>
            <a:pPr algn="l">
              <a:lnSpc>
                <a:spcPct val="100000"/>
              </a:lnSpc>
              <a:spcAft>
                <a:spcPts val="1000"/>
              </a:spcAft>
            </a:pPr>
            <a:r>
              <a:rPr sz="1450" b="0" i="0">
                <a:solidFill>
                  <a:srgbClr val="9AA3C0"/>
                </a:solidFill>
                <a:latin typeface="Calibri"/>
              </a:rPr>
              <a:t>A probability between 0 and 1. Lower = better link.</a:t>
            </a:r>
          </a:p>
        </p:txBody>
      </p:sp>
      <p:sp>
        <p:nvSpPr>
          <p:cNvPr id="7" name="Rounded Rectangle 6"/>
          <p:cNvSpPr/>
          <p:nvPr/>
        </p:nvSpPr>
        <p:spPr>
          <a:xfrm>
            <a:off x="502920" y="3794760"/>
            <a:ext cx="5577840" cy="23317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9410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Targets you'll meet in practice</a:t>
            </a:r>
          </a:p>
        </p:txBody>
      </p:sp>
      <p:sp>
        <p:nvSpPr>
          <p:cNvPr id="9" name="TextBox 8"/>
          <p:cNvSpPr txBox="1"/>
          <p:nvPr/>
        </p:nvSpPr>
        <p:spPr>
          <a:xfrm>
            <a:off x="777240" y="4343400"/>
            <a:ext cx="5120640" cy="1737360"/>
          </a:xfrm>
          <a:prstGeom prst="rect">
            <a:avLst/>
          </a:prstGeom>
          <a:noFill/>
        </p:spPr>
        <p:txBody>
          <a:bodyPr wrap="square" lIns="0" tIns="0" rIns="0" bIns="0" anchor="t">
            <a:spAutoFit/>
          </a:bodyPr>
          <a:lstStyle/>
          <a:p>
            <a:pPr algn="l">
              <a:lnSpc>
                <a:spcPct val="105000"/>
              </a:lnSpc>
              <a:spcAft>
                <a:spcPts val="800"/>
              </a:spcAft>
            </a:pPr>
            <a:r>
              <a:rPr sz="1500" b="1" i="0">
                <a:solidFill>
                  <a:srgbClr val="7C5CFF"/>
                </a:solidFill>
                <a:latin typeface="Calibri"/>
              </a:rPr>
              <a:t>›  </a:t>
            </a:r>
            <a:r>
              <a:rPr sz="1500" b="0" i="0">
                <a:solidFill>
                  <a:srgbClr val="E8EAF6"/>
                </a:solidFill>
                <a:latin typeface="Calibri"/>
              </a:rPr>
              <a:t>Voice call: BER ≈ 10⁻³ is tolerable</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Data / video: 10⁻⁶ or better</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5G URLLC (factory robots): 10⁻⁹ reliability targets</a:t>
            </a:r>
          </a:p>
        </p:txBody>
      </p:sp>
      <p:sp>
        <p:nvSpPr>
          <p:cNvPr id="10" name="Rounded Rectangle 9"/>
          <p:cNvSpPr/>
          <p:nvPr/>
        </p:nvSpPr>
        <p:spPr>
          <a:xfrm>
            <a:off x="6492240" y="1920240"/>
            <a:ext cx="512064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2084832"/>
            <a:ext cx="5120640" cy="731520"/>
          </a:xfrm>
          <a:prstGeom prst="rect">
            <a:avLst/>
          </a:prstGeom>
          <a:noFill/>
        </p:spPr>
        <p:txBody>
          <a:bodyPr wrap="square" lIns="0" tIns="0" rIns="0" bIns="0" anchor="t">
            <a:spAutoFit/>
          </a:bodyPr>
          <a:lstStyle/>
          <a:p>
            <a:pPr algn="ctr">
              <a:lnSpc>
                <a:spcPct val="100000"/>
              </a:lnSpc>
              <a:spcAft>
                <a:spcPts val="600"/>
              </a:spcAft>
            </a:pPr>
            <a:r>
              <a:rPr sz="3800" b="1" i="0">
                <a:solidFill>
                  <a:srgbClr val="00E4FF"/>
                </a:solidFill>
                <a:latin typeface="Cambria"/>
              </a:rPr>
              <a:t>100 / 10,000</a:t>
            </a:r>
          </a:p>
        </p:txBody>
      </p:sp>
      <p:sp>
        <p:nvSpPr>
          <p:cNvPr id="12" name="TextBox 11"/>
          <p:cNvSpPr txBox="1"/>
          <p:nvPr/>
        </p:nvSpPr>
        <p:spPr>
          <a:xfrm>
            <a:off x="6583680" y="2907792"/>
            <a:ext cx="493776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bits in error / bits sent — from the classic example</a:t>
            </a:r>
          </a:p>
        </p:txBody>
      </p:sp>
      <p:sp>
        <p:nvSpPr>
          <p:cNvPr id="13" name="Rounded Rectangle 12"/>
          <p:cNvSpPr/>
          <p:nvPr/>
        </p:nvSpPr>
        <p:spPr>
          <a:xfrm>
            <a:off x="6492240" y="3703320"/>
            <a:ext cx="512064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3867912"/>
            <a:ext cx="5120640" cy="731520"/>
          </a:xfrm>
          <a:prstGeom prst="rect">
            <a:avLst/>
          </a:prstGeom>
          <a:noFill/>
        </p:spPr>
        <p:txBody>
          <a:bodyPr wrap="square" lIns="0" tIns="0" rIns="0" bIns="0" anchor="t">
            <a:spAutoFit/>
          </a:bodyPr>
          <a:lstStyle/>
          <a:p>
            <a:pPr algn="ctr">
              <a:lnSpc>
                <a:spcPct val="100000"/>
              </a:lnSpc>
              <a:spcAft>
                <a:spcPts val="600"/>
              </a:spcAft>
            </a:pPr>
            <a:r>
              <a:rPr sz="3800" b="1" i="0">
                <a:solidFill>
                  <a:srgbClr val="FFB454"/>
                </a:solidFill>
                <a:latin typeface="Cambria"/>
              </a:rPr>
              <a:t>BER = 0.01</a:t>
            </a:r>
          </a:p>
        </p:txBody>
      </p:sp>
      <p:sp>
        <p:nvSpPr>
          <p:cNvPr id="15" name="TextBox 14"/>
          <p:cNvSpPr txBox="1"/>
          <p:nvPr/>
        </p:nvSpPr>
        <p:spPr>
          <a:xfrm>
            <a:off x="6583680" y="4690872"/>
            <a:ext cx="493776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one bit in every hundred is wrong — unusable for data</a:t>
            </a:r>
          </a:p>
        </p:txBody>
      </p:sp>
      <p:sp>
        <p:nvSpPr>
          <p:cNvPr id="16" name="TextBox 1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7C5CFF"/>
                </a:solidFill>
                <a:latin typeface="Calibri"/>
              </a:rPr>
              <a:t>NUMERICAL 1</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Two Links, One Verdict</a:t>
            </a:r>
          </a:p>
        </p:txBody>
      </p:sp>
      <p:sp>
        <p:nvSpPr>
          <p:cNvPr id="4" name="Rounded Rectangle 3"/>
          <p:cNvSpPr/>
          <p:nvPr/>
        </p:nvSpPr>
        <p:spPr>
          <a:xfrm>
            <a:off x="502920" y="1691640"/>
            <a:ext cx="11155680" cy="13716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Problem</a:t>
            </a:r>
          </a:p>
        </p:txBody>
      </p:sp>
      <p:sp>
        <p:nvSpPr>
          <p:cNvPr id="6" name="TextBox 5"/>
          <p:cNvSpPr txBox="1"/>
          <p:nvPr/>
        </p:nvSpPr>
        <p:spPr>
          <a:xfrm>
            <a:off x="777240" y="2212848"/>
            <a:ext cx="10607040" cy="777240"/>
          </a:xfrm>
          <a:prstGeom prst="rect">
            <a:avLst/>
          </a:prstGeom>
          <a:noFill/>
        </p:spPr>
        <p:txBody>
          <a:bodyPr wrap="square" lIns="0" tIns="0" rIns="0" bIns="0" anchor="t">
            <a:spAutoFit/>
          </a:bodyPr>
          <a:lstStyle/>
          <a:p>
            <a:pPr algn="l">
              <a:lnSpc>
                <a:spcPct val="100000"/>
              </a:lnSpc>
              <a:spcAft>
                <a:spcPts val="600"/>
              </a:spcAft>
            </a:pPr>
            <a:r>
              <a:rPr sz="1600" b="0" i="0">
                <a:solidFill>
                  <a:srgbClr val="E8EAF6"/>
                </a:solidFill>
                <a:latin typeface="Calibri"/>
              </a:rPr>
              <a:t>Link P sends 2,000,000 bits and logs 400 errors. Link Q sends 50,000 bits and logs 25 errors. Which link is better, and by how much?</a:t>
            </a:r>
          </a:p>
        </p:txBody>
      </p:sp>
      <p:sp>
        <p:nvSpPr>
          <p:cNvPr id="7" name="Rounded Rectangle 6"/>
          <p:cNvSpPr/>
          <p:nvPr/>
        </p:nvSpPr>
        <p:spPr>
          <a:xfrm>
            <a:off x="502920" y="3291840"/>
            <a:ext cx="5440680" cy="18288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43814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Link P</a:t>
            </a:r>
          </a:p>
        </p:txBody>
      </p:sp>
      <p:sp>
        <p:nvSpPr>
          <p:cNvPr id="9" name="TextBox 8"/>
          <p:cNvSpPr txBox="1"/>
          <p:nvPr/>
        </p:nvSpPr>
        <p:spPr>
          <a:xfrm>
            <a:off x="777240" y="3840480"/>
            <a:ext cx="4937760" cy="1097280"/>
          </a:xfrm>
          <a:prstGeom prst="rect">
            <a:avLst/>
          </a:prstGeom>
          <a:noFill/>
        </p:spPr>
        <p:txBody>
          <a:bodyPr wrap="square" lIns="0" tIns="0" rIns="0" bIns="0" anchor="t">
            <a:spAutoFit/>
          </a:bodyPr>
          <a:lstStyle/>
          <a:p>
            <a:pPr algn="l">
              <a:lnSpc>
                <a:spcPct val="100000"/>
              </a:lnSpc>
              <a:spcAft>
                <a:spcPts val="600"/>
              </a:spcAft>
            </a:pPr>
            <a:r>
              <a:rPr sz="1700" b="0" i="0">
                <a:solidFill>
                  <a:srgbClr val="E8EAF6"/>
                </a:solidFill>
                <a:latin typeface="Calibri"/>
              </a:rPr>
              <a:t>BER = 400 / 2,000,000 = </a:t>
            </a:r>
            <a:r>
              <a:rPr sz="2000" b="1" i="0">
                <a:solidFill>
                  <a:srgbClr val="3DDC97"/>
                </a:solidFill>
                <a:latin typeface="Calibri"/>
              </a:rPr>
              <a:t>2 × 10⁻⁴</a:t>
            </a:r>
          </a:p>
        </p:txBody>
      </p:sp>
      <p:sp>
        <p:nvSpPr>
          <p:cNvPr id="10" name="Rounded Rectangle 9"/>
          <p:cNvSpPr/>
          <p:nvPr/>
        </p:nvSpPr>
        <p:spPr>
          <a:xfrm>
            <a:off x="6217920" y="3291840"/>
            <a:ext cx="5440680" cy="18288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343814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Link Q</a:t>
            </a:r>
          </a:p>
        </p:txBody>
      </p:sp>
      <p:sp>
        <p:nvSpPr>
          <p:cNvPr id="12" name="TextBox 11"/>
          <p:cNvSpPr txBox="1"/>
          <p:nvPr/>
        </p:nvSpPr>
        <p:spPr>
          <a:xfrm>
            <a:off x="6492240" y="3840480"/>
            <a:ext cx="4937760" cy="1097280"/>
          </a:xfrm>
          <a:prstGeom prst="rect">
            <a:avLst/>
          </a:prstGeom>
          <a:noFill/>
        </p:spPr>
        <p:txBody>
          <a:bodyPr wrap="square" lIns="0" tIns="0" rIns="0" bIns="0" anchor="t">
            <a:spAutoFit/>
          </a:bodyPr>
          <a:lstStyle/>
          <a:p>
            <a:pPr algn="l">
              <a:lnSpc>
                <a:spcPct val="100000"/>
              </a:lnSpc>
              <a:spcAft>
                <a:spcPts val="600"/>
              </a:spcAft>
            </a:pPr>
            <a:r>
              <a:rPr sz="1700" b="0" i="0">
                <a:solidFill>
                  <a:srgbClr val="E8EAF6"/>
                </a:solidFill>
                <a:latin typeface="Calibri"/>
              </a:rPr>
              <a:t>BER = 25 / 50,000 = </a:t>
            </a:r>
            <a:r>
              <a:rPr sz="2000" b="1" i="0">
                <a:solidFill>
                  <a:srgbClr val="FF5C7A"/>
                </a:solidFill>
                <a:latin typeface="Calibri"/>
              </a:rPr>
              <a:t>5 × 10⁻⁴</a:t>
            </a:r>
          </a:p>
        </p:txBody>
      </p:sp>
      <p:sp>
        <p:nvSpPr>
          <p:cNvPr id="13" name="Rounded Rectangle 12"/>
          <p:cNvSpPr/>
          <p:nvPr/>
        </p:nvSpPr>
        <p:spPr>
          <a:xfrm>
            <a:off x="502920" y="5349240"/>
            <a:ext cx="11155680" cy="10058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5577840"/>
            <a:ext cx="10607040" cy="64008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Verdict:  </a:t>
            </a:r>
            <a:r>
              <a:rPr sz="1600" b="0" i="0">
                <a:solidFill>
                  <a:srgbClr val="E8EAF6"/>
                </a:solidFill>
                <a:latin typeface="Calibri"/>
              </a:rPr>
              <a:t>Link P is 2.5× better. Raw error counts mislead — always normalise to a rate.</a:t>
            </a:r>
          </a:p>
        </p:txBody>
      </p:sp>
      <p:sp>
        <p:nvSpPr>
          <p:cNvPr id="15" name="TextBox 14"/>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FOUNDATIONS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Same Average SNR, Wildly Different BER</a:t>
            </a:r>
          </a:p>
        </p:txBody>
      </p:sp>
      <p:pic>
        <p:nvPicPr>
          <p:cNvPr id="4" name="Picture 3" descr="c_awgn_vs_fading.png"/>
          <p:cNvPicPr>
            <a:picLocks noChangeAspect="1"/>
          </p:cNvPicPr>
          <p:nvPr/>
        </p:nvPicPr>
        <p:blipFill>
          <a:blip r:embed="rId2"/>
          <a:stretch>
            <a:fillRect/>
          </a:stretch>
        </p:blipFill>
        <p:spPr>
          <a:xfrm>
            <a:off x="502920" y="1691640"/>
            <a:ext cx="5852160" cy="4041453"/>
          </a:xfrm>
          <a:prstGeom prst="rect">
            <a:avLst/>
          </a:prstGeom>
        </p:spPr>
      </p:pic>
      <p:sp>
        <p:nvSpPr>
          <p:cNvPr id="5" name="TextBox 4"/>
          <p:cNvSpPr txBox="1"/>
          <p:nvPr/>
        </p:nvSpPr>
        <p:spPr>
          <a:xfrm>
            <a:off x="6720840" y="1920240"/>
            <a:ext cx="4937760" cy="3200400"/>
          </a:xfrm>
          <a:prstGeom prst="rect">
            <a:avLst/>
          </a:prstGeom>
          <a:noFill/>
        </p:spPr>
        <p:txBody>
          <a:bodyPr wrap="square" lIns="0" tIns="0" rIns="0" bIns="0" anchor="t">
            <a:spAutoFit/>
          </a:bodyPr>
          <a:lstStyle/>
          <a:p>
            <a:pPr algn="l">
              <a:lnSpc>
                <a:spcPct val="105000"/>
              </a:lnSpc>
              <a:spcAft>
                <a:spcPts val="1200"/>
              </a:spcAft>
            </a:pPr>
            <a:r>
              <a:rPr sz="1550" b="1" i="0">
                <a:solidFill>
                  <a:srgbClr val="7C5CFF"/>
                </a:solidFill>
                <a:latin typeface="Calibri"/>
              </a:rPr>
              <a:t>›  </a:t>
            </a:r>
            <a:r>
              <a:rPr sz="1550" b="0" i="0">
                <a:solidFill>
                  <a:srgbClr val="E8EAF6"/>
                </a:solidFill>
                <a:latin typeface="Calibri"/>
              </a:rPr>
              <a:t>Cable / AWGN: BER plunges like a cliff — a few extra dB buys orders of magnitude.</a:t>
            </a:r>
          </a:p>
          <a:p>
            <a:pPr algn="l">
              <a:lnSpc>
                <a:spcPct val="105000"/>
              </a:lnSpc>
              <a:spcAft>
                <a:spcPts val="1200"/>
              </a:spcAft>
            </a:pPr>
            <a:r>
              <a:rPr sz="1550" b="1" i="0">
                <a:solidFill>
                  <a:srgbClr val="7C5CFF"/>
                </a:solidFill>
                <a:latin typeface="Calibri"/>
              </a:rPr>
              <a:t>›  </a:t>
            </a:r>
            <a:r>
              <a:rPr sz="1550" b="0" i="0">
                <a:solidFill>
                  <a:srgbClr val="E8EAF6"/>
                </a:solidFill>
                <a:latin typeface="Calibri"/>
              </a:rPr>
              <a:t>Fading: BER drifts down lazily — 10 dB more buys only ~10× improvement.</a:t>
            </a:r>
          </a:p>
          <a:p>
            <a:pPr algn="l">
              <a:lnSpc>
                <a:spcPct val="105000"/>
              </a:lnSpc>
              <a:spcAft>
                <a:spcPts val="1200"/>
              </a:spcAft>
            </a:pPr>
            <a:r>
              <a:rPr sz="1550" b="1" i="0">
                <a:solidFill>
                  <a:srgbClr val="7C5CFF"/>
                </a:solidFill>
                <a:latin typeface="Calibri"/>
              </a:rPr>
              <a:t>›  </a:t>
            </a:r>
            <a:r>
              <a:rPr sz="1550" b="0" i="0">
                <a:solidFill>
                  <a:srgbClr val="E8EAF6"/>
                </a:solidFill>
                <a:latin typeface="Calibri"/>
              </a:rPr>
              <a:t>At BER 10⁻⁵, fading costs you tens of dB versus AWGN.</a:t>
            </a:r>
          </a:p>
          <a:p>
            <a:pPr algn="l">
              <a:lnSpc>
                <a:spcPct val="105000"/>
              </a:lnSpc>
              <a:spcAft>
                <a:spcPts val="1200"/>
              </a:spcAft>
            </a:pPr>
            <a:r>
              <a:rPr sz="1550" b="1" i="0">
                <a:solidFill>
                  <a:srgbClr val="7C5CFF"/>
                </a:solidFill>
                <a:latin typeface="Calibri"/>
              </a:rPr>
              <a:t>›  </a:t>
            </a:r>
            <a:r>
              <a:rPr sz="1550" b="1" i="0">
                <a:solidFill>
                  <a:srgbClr val="FFB454"/>
                </a:solidFill>
                <a:latin typeface="Calibri"/>
              </a:rPr>
              <a:t>Reason: averages hide the disasters. Performance is dictated by the worst moments.</a:t>
            </a:r>
          </a:p>
        </p:txBody>
      </p:sp>
      <p:sp>
        <p:nvSpPr>
          <p:cNvPr id="6" name="TextBox 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ONE INSIGHT</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BER ≈ Probability of a Deep Fade</a:t>
            </a:r>
          </a:p>
        </p:txBody>
      </p:sp>
      <p:sp>
        <p:nvSpPr>
          <p:cNvPr id="4" name="Rounded Rectangle 3"/>
          <p:cNvSpPr/>
          <p:nvPr/>
        </p:nvSpPr>
        <p:spPr>
          <a:xfrm>
            <a:off x="502920" y="1737360"/>
            <a:ext cx="1115568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11680"/>
            <a:ext cx="10607040" cy="1097280"/>
          </a:xfrm>
          <a:prstGeom prst="rect">
            <a:avLst/>
          </a:prstGeom>
          <a:noFill/>
        </p:spPr>
        <p:txBody>
          <a:bodyPr wrap="square" lIns="0" tIns="0" rIns="0" bIns="0" anchor="t">
            <a:spAutoFit/>
          </a:bodyPr>
          <a:lstStyle/>
          <a:p>
            <a:pPr algn="l">
              <a:lnSpc>
                <a:spcPct val="100000"/>
              </a:lnSpc>
              <a:spcAft>
                <a:spcPts val="1000"/>
              </a:spcAft>
            </a:pPr>
            <a:r>
              <a:rPr sz="1700" b="0" i="0">
                <a:solidFill>
                  <a:srgbClr val="E8EAF6"/>
                </a:solidFill>
                <a:latin typeface="Calibri"/>
              </a:rPr>
              <a:t>When |h| is healthy, errors are vanishingly rare. When |h| ≈ 0, you lose almost everything.</a:t>
            </a:r>
          </a:p>
          <a:p>
            <a:pPr algn="l">
              <a:lnSpc>
                <a:spcPct val="100000"/>
              </a:lnSpc>
              <a:spcAft>
                <a:spcPts val="1000"/>
              </a:spcAft>
            </a:pPr>
            <a:r>
              <a:rPr sz="2000" b="1" i="0">
                <a:solidFill>
                  <a:srgbClr val="E8EAF6"/>
                </a:solidFill>
                <a:latin typeface="Calibri"/>
              </a:rPr>
              <a:t>So:  </a:t>
            </a:r>
            <a:r>
              <a:rPr sz="2400" b="1" i="0">
                <a:solidFill>
                  <a:srgbClr val="00E4FF"/>
                </a:solidFill>
                <a:latin typeface="Calibri"/>
              </a:rPr>
              <a:t>BER  ∝  P( deep fade )</a:t>
            </a:r>
          </a:p>
        </p:txBody>
      </p:sp>
      <p:sp>
        <p:nvSpPr>
          <p:cNvPr id="6" name="Rounded Rectangle 5"/>
          <p:cNvSpPr/>
          <p:nvPr/>
        </p:nvSpPr>
        <p:spPr>
          <a:xfrm>
            <a:off x="502920" y="3611880"/>
            <a:ext cx="5440680" cy="24688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375818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Why this reframing is powerful</a:t>
            </a:r>
          </a:p>
        </p:txBody>
      </p:sp>
      <p:sp>
        <p:nvSpPr>
          <p:cNvPr id="8" name="TextBox 7"/>
          <p:cNvSpPr txBox="1"/>
          <p:nvPr/>
        </p:nvSpPr>
        <p:spPr>
          <a:xfrm>
            <a:off x="777240" y="4160520"/>
            <a:ext cx="4937760" cy="1828800"/>
          </a:xfrm>
          <a:prstGeom prst="rect">
            <a:avLst/>
          </a:prstGeom>
          <a:noFill/>
        </p:spPr>
        <p:txBody>
          <a:bodyPr wrap="square" lIns="0" tIns="0" rIns="0" bIns="0" anchor="t">
            <a:spAutoFit/>
          </a:bodyPr>
          <a:lstStyle/>
          <a:p>
            <a:pPr algn="l">
              <a:lnSpc>
                <a:spcPct val="105000"/>
              </a:lnSpc>
              <a:spcAft>
                <a:spcPts val="800"/>
              </a:spcAft>
            </a:pPr>
            <a:r>
              <a:rPr sz="1500" b="1" i="0">
                <a:solidFill>
                  <a:srgbClr val="7C5CFF"/>
                </a:solidFill>
                <a:latin typeface="Calibri"/>
              </a:rPr>
              <a:t>›  </a:t>
            </a:r>
            <a:r>
              <a:rPr sz="1500" b="0" i="0">
                <a:solidFill>
                  <a:srgbClr val="E8EAF6"/>
                </a:solidFill>
                <a:latin typeface="Calibri"/>
              </a:rPr>
              <a:t>Forget integrating Q-functions — think about avoiding holes.</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Cutting fade probability cuts BER, almost one-for-one.</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Diversity = carrying spare channels so one hole can't sink you.</a:t>
            </a:r>
          </a:p>
        </p:txBody>
      </p:sp>
      <p:sp>
        <p:nvSpPr>
          <p:cNvPr id="9" name="Rounded Rectangle 8"/>
          <p:cNvSpPr/>
          <p:nvPr/>
        </p:nvSpPr>
        <p:spPr>
          <a:xfrm>
            <a:off x="6217920" y="3611880"/>
            <a:ext cx="5440680" cy="24688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19088" y="375818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The umbrella picture</a:t>
            </a:r>
          </a:p>
        </p:txBody>
      </p:sp>
      <p:sp>
        <p:nvSpPr>
          <p:cNvPr id="11" name="TextBox 10"/>
          <p:cNvSpPr txBox="1"/>
          <p:nvPr/>
        </p:nvSpPr>
        <p:spPr>
          <a:xfrm>
            <a:off x="6492240" y="4160520"/>
            <a:ext cx="4937760" cy="182880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One umbrella with one hole over your head: you get wet whenever the hole lines up.
Carry four independent umbrellas: you only get wet if all four holes line up at once — far rarer.</a:t>
            </a:r>
          </a:p>
        </p:txBody>
      </p:sp>
      <p:sp>
        <p:nvSpPr>
          <p:cNvPr id="12" name="TextBox 11"/>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FFB454"/>
                </a:solidFill>
                <a:latin typeface="Calibri"/>
              </a:rPr>
              <a:t>CHECKPOINT QUIZ</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1 — Your Turn</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Q1.  </a:t>
            </a:r>
            <a:r>
              <a:rPr sz="1600" b="1" i="0">
                <a:solidFill>
                  <a:srgbClr val="E8EAF6"/>
                </a:solidFill>
                <a:latin typeface="Calibri"/>
              </a:rPr>
              <a:t>A link sends 5 × 10⁶ bits with 50 errors. BER = ?</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10⁻⁴      (b) 10⁻⁵      (c) 10⁻⁶      (d) 5 × 10⁻⁵</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Q2.  </a:t>
            </a:r>
            <a:r>
              <a:rPr sz="1600" b="1" i="0">
                <a:solidFill>
                  <a:srgbClr val="E8EAF6"/>
                </a:solidFill>
                <a:latin typeface="Calibri"/>
              </a:rPr>
              <a:t>Fading channels have poor BER mainly because…</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noise is stronger      (b) bandwidth is smaller      (c) deep fades occasionally kill the signal      (d) receivers are cheaper</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Q3.  </a:t>
            </a:r>
            <a:r>
              <a:rPr sz="1600" b="1" i="0">
                <a:solidFill>
                  <a:srgbClr val="E8EAF6"/>
                </a:solidFill>
                <a:latin typeface="Calibri"/>
              </a:rPr>
              <a:t>A 'deep fade' means…</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high noise burst      (b) |h| collapses toward 0      (c) transmitter shuts off      (d) interference from 5G</a:t>
            </a:r>
          </a:p>
        </p:txBody>
      </p:sp>
      <p:sp>
        <p:nvSpPr>
          <p:cNvPr id="13" name="TextBox 12"/>
          <p:cNvSpPr txBox="1"/>
          <p:nvPr/>
        </p:nvSpPr>
        <p:spPr>
          <a:xfrm>
            <a:off x="502920" y="6355080"/>
            <a:ext cx="8229600" cy="274320"/>
          </a:xfrm>
          <a:prstGeom prst="rect">
            <a:avLst/>
          </a:prstGeom>
          <a:noFill/>
        </p:spPr>
        <p:txBody>
          <a:bodyPr wrap="square" lIns="0" tIns="0" rIns="0" bIns="0" anchor="t">
            <a:spAutoFit/>
          </a:bodyPr>
          <a:lstStyle/>
          <a:p>
            <a:pPr algn="l">
              <a:lnSpc>
                <a:spcPct val="100000"/>
              </a:lnSpc>
              <a:spcAft>
                <a:spcPts val="600"/>
              </a:spcAft>
            </a:pPr>
            <a:r>
              <a:rPr sz="1250" b="0" i="0">
                <a:solidFill>
                  <a:srgbClr val="FFB454"/>
                </a:solidFill>
                <a:latin typeface="Calibri"/>
              </a:rPr>
              <a:t>Answers on the next slide — commit before you flip!</a:t>
            </a:r>
          </a:p>
        </p:txBody>
      </p:sp>
      <p:sp>
        <p:nvSpPr>
          <p:cNvPr id="14" name="TextBox 13"/>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ANSWERS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1 — Answers</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A1.  (b) 10⁻⁵</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50 / 5,000,000 = 1 in 100,000. Always reduce to a clean power of ten when you can.</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A2.  (c) deep fades</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The noise floor is the same as a cable — it's the channel gain collapsing that destroys SNR.</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A3.  (b) |h| collapses toward 0</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Multipath copies cancel; received SNR drops by 20–30 dB for milliseconds.</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TWO KNOBS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One Formula to Read Every BER Curve</a:t>
            </a:r>
          </a:p>
        </p:txBody>
      </p:sp>
      <p:sp>
        <p:nvSpPr>
          <p:cNvPr id="4" name="Rounded Rectangle 3"/>
          <p:cNvSpPr/>
          <p:nvPr/>
        </p:nvSpPr>
        <p:spPr>
          <a:xfrm>
            <a:off x="502920" y="1737360"/>
            <a:ext cx="11155680" cy="14630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11680"/>
            <a:ext cx="10607040" cy="1005840"/>
          </a:xfrm>
          <a:prstGeom prst="rect">
            <a:avLst/>
          </a:prstGeom>
          <a:noFill/>
        </p:spPr>
        <p:txBody>
          <a:bodyPr wrap="square" lIns="0" tIns="0" rIns="0" bIns="0" anchor="t">
            <a:spAutoFit/>
          </a:bodyPr>
          <a:lstStyle/>
          <a:p>
            <a:pPr algn="l">
              <a:lnSpc>
                <a:spcPct val="100000"/>
              </a:lnSpc>
              <a:spcAft>
                <a:spcPts val="600"/>
              </a:spcAft>
            </a:pPr>
            <a:r>
              <a:rPr sz="2000" b="0" i="0">
                <a:solidFill>
                  <a:srgbClr val="E8EAF6"/>
                </a:solidFill>
                <a:latin typeface="Calibri"/>
              </a:rPr>
              <a:t>At high SNR:    </a:t>
            </a:r>
            <a:r>
              <a:rPr sz="3000" b="1" i="0">
                <a:solidFill>
                  <a:srgbClr val="00E4FF"/>
                </a:solidFill>
                <a:latin typeface="Cambria"/>
              </a:rPr>
              <a:t>Pₑ ≈ Gc / SNRᵈ</a:t>
            </a:r>
          </a:p>
        </p:txBody>
      </p:sp>
      <p:sp>
        <p:nvSpPr>
          <p:cNvPr id="6" name="TextBox 5"/>
          <p:cNvSpPr txBox="1"/>
          <p:nvPr/>
        </p:nvSpPr>
        <p:spPr>
          <a:xfrm>
            <a:off x="777240" y="2743200"/>
            <a:ext cx="10607040" cy="365760"/>
          </a:xfrm>
          <a:prstGeom prst="rect">
            <a:avLst/>
          </a:prstGeom>
          <a:noFill/>
        </p:spPr>
        <p:txBody>
          <a:bodyPr wrap="square" lIns="0" tIns="0" rIns="0" bIns="0" anchor="t">
            <a:spAutoFit/>
          </a:bodyPr>
          <a:lstStyle/>
          <a:p>
            <a:pPr algn="l">
              <a:lnSpc>
                <a:spcPct val="100000"/>
              </a:lnSpc>
              <a:spcAft>
                <a:spcPts val="600"/>
              </a:spcAft>
            </a:pPr>
            <a:r>
              <a:rPr sz="1400" b="0" i="0">
                <a:solidFill>
                  <a:srgbClr val="9AA3C0"/>
                </a:solidFill>
                <a:latin typeface="Calibri"/>
              </a:rPr>
              <a:t>This is the only formula you must internalise today. Everything else is interpretation.</a:t>
            </a:r>
          </a:p>
        </p:txBody>
      </p:sp>
      <p:sp>
        <p:nvSpPr>
          <p:cNvPr id="7" name="Rounded Rectangle 6"/>
          <p:cNvSpPr/>
          <p:nvPr/>
        </p:nvSpPr>
        <p:spPr>
          <a:xfrm>
            <a:off x="502920" y="3520440"/>
            <a:ext cx="5440680" cy="2560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66674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Gc — coding gain</a:t>
            </a:r>
          </a:p>
        </p:txBody>
      </p:sp>
      <p:sp>
        <p:nvSpPr>
          <p:cNvPr id="9" name="TextBox 8"/>
          <p:cNvSpPr txBox="1"/>
          <p:nvPr/>
        </p:nvSpPr>
        <p:spPr>
          <a:xfrm>
            <a:off x="777240" y="4069080"/>
            <a:ext cx="4937760" cy="1828800"/>
          </a:xfrm>
          <a:prstGeom prst="rect">
            <a:avLst/>
          </a:prstGeom>
          <a:noFill/>
        </p:spPr>
        <p:txBody>
          <a:bodyPr wrap="square" lIns="0" tIns="0" rIns="0" bIns="0" anchor="t">
            <a:spAutoFit/>
          </a:bodyPr>
          <a:lstStyle/>
          <a:p>
            <a:pPr algn="l">
              <a:lnSpc>
                <a:spcPct val="105000"/>
              </a:lnSpc>
              <a:spcAft>
                <a:spcPts val="800"/>
              </a:spcAft>
            </a:pPr>
            <a:r>
              <a:rPr sz="1500" b="1" i="0">
                <a:solidFill>
                  <a:srgbClr val="7C5CFF"/>
                </a:solidFill>
                <a:latin typeface="Calibri"/>
              </a:rPr>
              <a:t>›  </a:t>
            </a:r>
            <a:r>
              <a:rPr sz="1500" b="1" i="0">
                <a:solidFill>
                  <a:srgbClr val="E8EAF6"/>
                </a:solidFill>
                <a:latin typeface="Calibri"/>
              </a:rPr>
              <a:t>Horizontal SHIFT of the curve</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Better constellations, better codes</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Same steepness — you arrive earlier</a:t>
            </a:r>
          </a:p>
        </p:txBody>
      </p:sp>
      <p:sp>
        <p:nvSpPr>
          <p:cNvPr id="10" name="Rounded Rectangle 9"/>
          <p:cNvSpPr/>
          <p:nvPr/>
        </p:nvSpPr>
        <p:spPr>
          <a:xfrm>
            <a:off x="6217920" y="3520440"/>
            <a:ext cx="5440680" cy="2560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366674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d — diversity order</a:t>
            </a:r>
          </a:p>
        </p:txBody>
      </p:sp>
      <p:sp>
        <p:nvSpPr>
          <p:cNvPr id="12" name="TextBox 11"/>
          <p:cNvSpPr txBox="1"/>
          <p:nvPr/>
        </p:nvSpPr>
        <p:spPr>
          <a:xfrm>
            <a:off x="6492240" y="4069080"/>
            <a:ext cx="4937760" cy="1828800"/>
          </a:xfrm>
          <a:prstGeom prst="rect">
            <a:avLst/>
          </a:prstGeom>
          <a:noFill/>
        </p:spPr>
        <p:txBody>
          <a:bodyPr wrap="square" lIns="0" tIns="0" rIns="0" bIns="0" anchor="t">
            <a:spAutoFit/>
          </a:bodyPr>
          <a:lstStyle/>
          <a:p>
            <a:pPr algn="l">
              <a:lnSpc>
                <a:spcPct val="105000"/>
              </a:lnSpc>
              <a:spcAft>
                <a:spcPts val="800"/>
              </a:spcAft>
            </a:pPr>
            <a:r>
              <a:rPr sz="1500" b="1" i="0">
                <a:solidFill>
                  <a:srgbClr val="7C5CFF"/>
                </a:solidFill>
                <a:latin typeface="Calibri"/>
              </a:rPr>
              <a:t>›  </a:t>
            </a:r>
            <a:r>
              <a:rPr sz="1500" b="1" i="0">
                <a:solidFill>
                  <a:srgbClr val="E8EAF6"/>
                </a:solidFill>
                <a:latin typeface="Calibri"/>
              </a:rPr>
              <a:t>SLOPE of the curve on log-log axes</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Number of independent fading paths</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Changes the exponent — the game-changer</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TWO KNOBS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Shift vs Slope — See It</a:t>
            </a:r>
          </a:p>
        </p:txBody>
      </p:sp>
      <p:pic>
        <p:nvPicPr>
          <p:cNvPr id="4" name="Picture 3" descr="c_shift_vs_slope.png"/>
          <p:cNvPicPr>
            <a:picLocks noChangeAspect="1"/>
          </p:cNvPicPr>
          <p:nvPr/>
        </p:nvPicPr>
        <p:blipFill>
          <a:blip r:embed="rId2"/>
          <a:stretch>
            <a:fillRect/>
          </a:stretch>
        </p:blipFill>
        <p:spPr>
          <a:xfrm>
            <a:off x="640080" y="1783080"/>
            <a:ext cx="10881360" cy="5129784"/>
          </a:xfrm>
          <a:prstGeom prst="rect">
            <a:avLst/>
          </a:prstGeom>
        </p:spPr>
      </p:pic>
      <p:sp>
        <p:nvSpPr>
          <p:cNvPr id="5" name="TextBox 4"/>
          <p:cNvSpPr txBox="1"/>
          <p:nvPr/>
        </p:nvSpPr>
        <p:spPr>
          <a:xfrm>
            <a:off x="640080" y="6327648"/>
            <a:ext cx="10881360" cy="411480"/>
          </a:xfrm>
          <a:prstGeom prst="rect">
            <a:avLst/>
          </a:prstGeom>
          <a:noFill/>
        </p:spPr>
        <p:txBody>
          <a:bodyPr wrap="square" lIns="0" tIns="0" rIns="0" bIns="0" anchor="t">
            <a:spAutoFit/>
          </a:bodyPr>
          <a:lstStyle/>
          <a:p>
            <a:pPr algn="l">
              <a:lnSpc>
                <a:spcPct val="100000"/>
              </a:lnSpc>
              <a:spcAft>
                <a:spcPts val="600"/>
              </a:spcAft>
            </a:pPr>
            <a:r>
              <a:rPr sz="1400" b="0" i="0">
                <a:solidFill>
                  <a:srgbClr val="9AA3C0"/>
                </a:solidFill>
                <a:latin typeface="Calibri"/>
              </a:rPr>
              <a:t>Left: same slope, curve B simply needs fewer dB. Right: same start, but d = 2 pulls away faster with every dB.</a:t>
            </a:r>
          </a:p>
        </p:txBody>
      </p:sp>
      <p:sp>
        <p:nvSpPr>
          <p:cNvPr id="6" name="TextBox 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TWO KNOBS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Diversity Order = Slope of the Waterfall</a:t>
            </a:r>
          </a:p>
        </p:txBody>
      </p:sp>
      <p:pic>
        <p:nvPicPr>
          <p:cNvPr id="4" name="Picture 3" descr="c_slope_fan.png"/>
          <p:cNvPicPr>
            <a:picLocks noChangeAspect="1"/>
          </p:cNvPicPr>
          <p:nvPr/>
        </p:nvPicPr>
        <p:blipFill>
          <a:blip r:embed="rId2"/>
          <a:stretch>
            <a:fillRect/>
          </a:stretch>
        </p:blipFill>
        <p:spPr>
          <a:xfrm>
            <a:off x="502920" y="1737360"/>
            <a:ext cx="5852160" cy="4041453"/>
          </a:xfrm>
          <a:prstGeom prst="rect">
            <a:avLst/>
          </a:prstGeom>
        </p:spPr>
      </p:pic>
      <p:sp>
        <p:nvSpPr>
          <p:cNvPr id="5" name="TextBox 4"/>
          <p:cNvSpPr txBox="1"/>
          <p:nvPr/>
        </p:nvSpPr>
        <p:spPr>
          <a:xfrm>
            <a:off x="6720840" y="2011680"/>
            <a:ext cx="4937760" cy="3291840"/>
          </a:xfrm>
          <a:prstGeom prst="rect">
            <a:avLst/>
          </a:prstGeom>
          <a:noFill/>
        </p:spPr>
        <p:txBody>
          <a:bodyPr wrap="square" lIns="0" tIns="0" rIns="0" bIns="0" anchor="t">
            <a:spAutoFit/>
          </a:bodyPr>
          <a:lstStyle/>
          <a:p>
            <a:pPr algn="l">
              <a:lnSpc>
                <a:spcPct val="105000"/>
              </a:lnSpc>
              <a:spcAft>
                <a:spcPts val="1300"/>
              </a:spcAft>
            </a:pPr>
            <a:r>
              <a:rPr sz="1550" b="1" i="0">
                <a:solidFill>
                  <a:srgbClr val="7C5CFF"/>
                </a:solidFill>
                <a:latin typeface="Calibri"/>
              </a:rPr>
              <a:t>›  </a:t>
            </a:r>
            <a:r>
              <a:rPr sz="1550" b="0" i="0">
                <a:solidFill>
                  <a:srgbClr val="E8EAF6"/>
                </a:solidFill>
                <a:latin typeface="Calibri"/>
              </a:rPr>
              <a:t>d = 1: each 10 dB buys one decade of BER.</a:t>
            </a:r>
          </a:p>
          <a:p>
            <a:pPr algn="l">
              <a:lnSpc>
                <a:spcPct val="105000"/>
              </a:lnSpc>
              <a:spcAft>
                <a:spcPts val="1300"/>
              </a:spcAft>
            </a:pPr>
            <a:r>
              <a:rPr sz="1550" b="1" i="0">
                <a:solidFill>
                  <a:srgbClr val="7C5CFF"/>
                </a:solidFill>
                <a:latin typeface="Calibri"/>
              </a:rPr>
              <a:t>›  </a:t>
            </a:r>
            <a:r>
              <a:rPr sz="1550" b="0" i="0">
                <a:solidFill>
                  <a:srgbClr val="E8EAF6"/>
                </a:solidFill>
                <a:latin typeface="Calibri"/>
              </a:rPr>
              <a:t>d = 2: each 10 dB buys two decades.</a:t>
            </a:r>
          </a:p>
          <a:p>
            <a:pPr algn="l">
              <a:lnSpc>
                <a:spcPct val="105000"/>
              </a:lnSpc>
              <a:spcAft>
                <a:spcPts val="1300"/>
              </a:spcAft>
            </a:pPr>
            <a:r>
              <a:rPr sz="1550" b="1" i="0">
                <a:solidFill>
                  <a:srgbClr val="7C5CFF"/>
                </a:solidFill>
                <a:latin typeface="Calibri"/>
              </a:rPr>
              <a:t>›  </a:t>
            </a:r>
            <a:r>
              <a:rPr sz="1550" b="0" i="0">
                <a:solidFill>
                  <a:srgbClr val="E8EAF6"/>
                </a:solidFill>
                <a:latin typeface="Calibri"/>
              </a:rPr>
              <a:t>d = 4: each 10 dB buys four decades — the curve falls off a cliff.</a:t>
            </a:r>
          </a:p>
          <a:p>
            <a:pPr algn="l">
              <a:lnSpc>
                <a:spcPct val="105000"/>
              </a:lnSpc>
              <a:spcAft>
                <a:spcPts val="1300"/>
              </a:spcAft>
            </a:pPr>
            <a:r>
              <a:rPr sz="1550" b="1" i="0">
                <a:solidFill>
                  <a:srgbClr val="7C5CFF"/>
                </a:solidFill>
                <a:latin typeface="Calibri"/>
              </a:rPr>
              <a:t>›  </a:t>
            </a:r>
            <a:r>
              <a:rPr sz="1550" b="1" i="0">
                <a:solidFill>
                  <a:srgbClr val="00E4FF"/>
                </a:solidFill>
                <a:latin typeface="Calibri"/>
              </a:rPr>
              <a:t>Rule of thumb: slope (decades per 10 dB) = diversity order.</a:t>
            </a:r>
          </a:p>
        </p:txBody>
      </p:sp>
      <p:sp>
        <p:nvSpPr>
          <p:cNvPr id="6" name="TextBox 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7C5CFF"/>
                </a:solidFill>
                <a:latin typeface="Calibri"/>
              </a:rPr>
              <a:t>NUMERICAL 2</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The Power of the Exponent</a:t>
            </a:r>
          </a:p>
        </p:txBody>
      </p:sp>
      <p:sp>
        <p:nvSpPr>
          <p:cNvPr id="4" name="Rounded Rectangle 3"/>
          <p:cNvSpPr/>
          <p:nvPr/>
        </p:nvSpPr>
        <p:spPr>
          <a:xfrm>
            <a:off x="502920" y="1691640"/>
            <a:ext cx="11155680" cy="11430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Problem</a:t>
            </a:r>
          </a:p>
        </p:txBody>
      </p:sp>
      <p:sp>
        <p:nvSpPr>
          <p:cNvPr id="6" name="TextBox 5"/>
          <p:cNvSpPr txBox="1"/>
          <p:nvPr/>
        </p:nvSpPr>
        <p:spPr>
          <a:xfrm>
            <a:off x="777240" y="2212848"/>
            <a:ext cx="10607040" cy="548640"/>
          </a:xfrm>
          <a:prstGeom prst="rect">
            <a:avLst/>
          </a:prstGeom>
          <a:noFill/>
        </p:spPr>
        <p:txBody>
          <a:bodyPr wrap="square" lIns="0" tIns="0" rIns="0" bIns="0" anchor="t">
            <a:spAutoFit/>
          </a:bodyPr>
          <a:lstStyle/>
          <a:p>
            <a:pPr algn="l">
              <a:lnSpc>
                <a:spcPct val="100000"/>
              </a:lnSpc>
              <a:spcAft>
                <a:spcPts val="600"/>
              </a:spcAft>
            </a:pPr>
            <a:r>
              <a:rPr sz="1600" b="0" i="0">
                <a:solidFill>
                  <a:srgbClr val="E8EAF6"/>
                </a:solidFill>
                <a:latin typeface="Calibri"/>
              </a:rPr>
              <a:t>Take Pₑ ≈ SNR⁻ᵈ at SNR = 20 dB (i.e. SNR = 100). Compare d = 1, 2, 4.</a:t>
            </a:r>
          </a:p>
        </p:txBody>
      </p:sp>
      <p:sp>
        <p:nvSpPr>
          <p:cNvPr id="7" name="Rounded Rectangle 6"/>
          <p:cNvSpPr/>
          <p:nvPr/>
        </p:nvSpPr>
        <p:spPr>
          <a:xfrm>
            <a:off x="502920" y="3108960"/>
            <a:ext cx="356616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3273552"/>
            <a:ext cx="3566160" cy="731520"/>
          </a:xfrm>
          <a:prstGeom prst="rect">
            <a:avLst/>
          </a:prstGeom>
          <a:noFill/>
        </p:spPr>
        <p:txBody>
          <a:bodyPr wrap="square" lIns="0" tIns="0" rIns="0" bIns="0" anchor="t">
            <a:spAutoFit/>
          </a:bodyPr>
          <a:lstStyle/>
          <a:p>
            <a:pPr algn="ctr">
              <a:lnSpc>
                <a:spcPct val="100000"/>
              </a:lnSpc>
              <a:spcAft>
                <a:spcPts val="600"/>
              </a:spcAft>
            </a:pPr>
            <a:r>
              <a:rPr sz="4400" b="1" i="0">
                <a:solidFill>
                  <a:srgbClr val="FF5C7A"/>
                </a:solidFill>
                <a:latin typeface="Cambria"/>
              </a:rPr>
              <a:t>10⁻²</a:t>
            </a:r>
          </a:p>
        </p:txBody>
      </p:sp>
      <p:sp>
        <p:nvSpPr>
          <p:cNvPr id="9" name="TextBox 8"/>
          <p:cNvSpPr txBox="1"/>
          <p:nvPr/>
        </p:nvSpPr>
        <p:spPr>
          <a:xfrm>
            <a:off x="594360" y="4096512"/>
            <a:ext cx="338328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d = 1 — one error per hundred bits</a:t>
            </a:r>
          </a:p>
        </p:txBody>
      </p:sp>
      <p:sp>
        <p:nvSpPr>
          <p:cNvPr id="10" name="Rounded Rectangle 9"/>
          <p:cNvSpPr/>
          <p:nvPr/>
        </p:nvSpPr>
        <p:spPr>
          <a:xfrm>
            <a:off x="4297680" y="3108960"/>
            <a:ext cx="356616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7680" y="3273552"/>
            <a:ext cx="3566160" cy="731520"/>
          </a:xfrm>
          <a:prstGeom prst="rect">
            <a:avLst/>
          </a:prstGeom>
          <a:noFill/>
        </p:spPr>
        <p:txBody>
          <a:bodyPr wrap="square" lIns="0" tIns="0" rIns="0" bIns="0" anchor="t">
            <a:spAutoFit/>
          </a:bodyPr>
          <a:lstStyle/>
          <a:p>
            <a:pPr algn="ctr">
              <a:lnSpc>
                <a:spcPct val="100000"/>
              </a:lnSpc>
              <a:spcAft>
                <a:spcPts val="600"/>
              </a:spcAft>
            </a:pPr>
            <a:r>
              <a:rPr sz="4400" b="1" i="0">
                <a:solidFill>
                  <a:srgbClr val="FFB454"/>
                </a:solidFill>
                <a:latin typeface="Cambria"/>
              </a:rPr>
              <a:t>10⁻⁴</a:t>
            </a:r>
          </a:p>
        </p:txBody>
      </p:sp>
      <p:sp>
        <p:nvSpPr>
          <p:cNvPr id="12" name="TextBox 11"/>
          <p:cNvSpPr txBox="1"/>
          <p:nvPr/>
        </p:nvSpPr>
        <p:spPr>
          <a:xfrm>
            <a:off x="4389120" y="4096512"/>
            <a:ext cx="338328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d = 2 — 100× fewer errors</a:t>
            </a:r>
          </a:p>
        </p:txBody>
      </p:sp>
      <p:sp>
        <p:nvSpPr>
          <p:cNvPr id="13" name="Rounded Rectangle 12"/>
          <p:cNvSpPr/>
          <p:nvPr/>
        </p:nvSpPr>
        <p:spPr>
          <a:xfrm>
            <a:off x="8092440" y="3108960"/>
            <a:ext cx="356616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3273552"/>
            <a:ext cx="3566160" cy="731520"/>
          </a:xfrm>
          <a:prstGeom prst="rect">
            <a:avLst/>
          </a:prstGeom>
          <a:noFill/>
        </p:spPr>
        <p:txBody>
          <a:bodyPr wrap="square" lIns="0" tIns="0" rIns="0" bIns="0" anchor="t">
            <a:spAutoFit/>
          </a:bodyPr>
          <a:lstStyle/>
          <a:p>
            <a:pPr algn="ctr">
              <a:lnSpc>
                <a:spcPct val="100000"/>
              </a:lnSpc>
              <a:spcAft>
                <a:spcPts val="600"/>
              </a:spcAft>
            </a:pPr>
            <a:r>
              <a:rPr sz="4400" b="1" i="0">
                <a:solidFill>
                  <a:srgbClr val="3DDC97"/>
                </a:solidFill>
                <a:latin typeface="Cambria"/>
              </a:rPr>
              <a:t>10⁻⁸</a:t>
            </a:r>
          </a:p>
        </p:txBody>
      </p:sp>
      <p:sp>
        <p:nvSpPr>
          <p:cNvPr id="15" name="TextBox 14"/>
          <p:cNvSpPr txBox="1"/>
          <p:nvPr/>
        </p:nvSpPr>
        <p:spPr>
          <a:xfrm>
            <a:off x="8183880" y="4096512"/>
            <a:ext cx="338328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d = 4 — a million times fewer than d = 2... at the SAME transmit power</a:t>
            </a:r>
          </a:p>
        </p:txBody>
      </p:sp>
      <p:pic>
        <p:nvPicPr>
          <p:cNvPr id="16" name="Picture 15" descr="c_20db.png"/>
          <p:cNvPicPr>
            <a:picLocks noChangeAspect="1"/>
          </p:cNvPicPr>
          <p:nvPr/>
        </p:nvPicPr>
        <p:blipFill>
          <a:blip r:embed="rId2"/>
          <a:stretch>
            <a:fillRect/>
          </a:stretch>
        </p:blipFill>
        <p:spPr>
          <a:xfrm>
            <a:off x="3291840" y="4800600"/>
            <a:ext cx="2581960" cy="1783080"/>
          </a:xfrm>
          <a:prstGeom prst="rect">
            <a:avLst/>
          </a:prstGeom>
        </p:spPr>
      </p:pic>
      <p:sp>
        <p:nvSpPr>
          <p:cNvPr id="17" name="TextBox 16"/>
          <p:cNvSpPr txBox="1"/>
          <p:nvPr/>
        </p:nvSpPr>
        <p:spPr>
          <a:xfrm>
            <a:off x="502920" y="5029200"/>
            <a:ext cx="2651760" cy="1188720"/>
          </a:xfrm>
          <a:prstGeom prst="rect">
            <a:avLst/>
          </a:prstGeom>
          <a:noFill/>
        </p:spPr>
        <p:txBody>
          <a:bodyPr wrap="square" lIns="0" tIns="0" rIns="0" bIns="0" anchor="t">
            <a:spAutoFit/>
          </a:bodyPr>
          <a:lstStyle/>
          <a:p>
            <a:pPr algn="l">
              <a:lnSpc>
                <a:spcPct val="100000"/>
              </a:lnSpc>
              <a:spcAft>
                <a:spcPts val="600"/>
              </a:spcAft>
            </a:pPr>
            <a:r>
              <a:rPr sz="1400" b="1" i="0">
                <a:solidFill>
                  <a:srgbClr val="00E4FF"/>
                </a:solidFill>
                <a:latin typeface="Calibri"/>
              </a:rPr>
              <a:t>Free reliability: no extra watts, no extra spectrum — just antennas.</a:t>
            </a:r>
          </a:p>
        </p:txBody>
      </p:sp>
      <p:sp>
        <p:nvSpPr>
          <p:cNvPr id="18" name="TextBox 17"/>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INTERVIEW CLASSIC</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Which Matters More: Gc or d?</a:t>
            </a:r>
          </a:p>
        </p:txBody>
      </p:sp>
      <p:sp>
        <p:nvSpPr>
          <p:cNvPr id="4" name="Rounded Rectangle 3"/>
          <p:cNvSpPr/>
          <p:nvPr/>
        </p:nvSpPr>
        <p:spPr>
          <a:xfrm>
            <a:off x="502920" y="1737360"/>
            <a:ext cx="11155680" cy="13716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11680"/>
            <a:ext cx="10607040" cy="868680"/>
          </a:xfrm>
          <a:prstGeom prst="rect">
            <a:avLst/>
          </a:prstGeom>
          <a:noFill/>
        </p:spPr>
        <p:txBody>
          <a:bodyPr wrap="square" lIns="0" tIns="0" rIns="0" bIns="0" anchor="t">
            <a:spAutoFit/>
          </a:bodyPr>
          <a:lstStyle/>
          <a:p>
            <a:pPr algn="l">
              <a:lnSpc>
                <a:spcPct val="100000"/>
              </a:lnSpc>
              <a:spcAft>
                <a:spcPts val="600"/>
              </a:spcAft>
            </a:pPr>
            <a:r>
              <a:rPr sz="1800" b="1" i="0">
                <a:solidFill>
                  <a:srgbClr val="E8EAF6"/>
                </a:solidFill>
                <a:latin typeface="Calibri"/>
              </a:rPr>
              <a:t>Answer: </a:t>
            </a:r>
            <a:r>
              <a:rPr sz="1800" b="1" i="0">
                <a:solidFill>
                  <a:srgbClr val="3DDC97"/>
                </a:solidFill>
                <a:latin typeface="Calibri"/>
              </a:rPr>
              <a:t>diversity order, every time.</a:t>
            </a:r>
            <a:r>
              <a:rPr sz="1700" b="0" i="0">
                <a:solidFill>
                  <a:srgbClr val="E8EAF6"/>
                </a:solidFill>
                <a:latin typeface="Calibri"/>
              </a:rPr>
              <a:t>  Coding gain adds a constant; diversity changes the exponent.</a:t>
            </a:r>
          </a:p>
        </p:txBody>
      </p:sp>
      <p:sp>
        <p:nvSpPr>
          <p:cNvPr id="6" name="Rounded Rectangle 5"/>
          <p:cNvSpPr/>
          <p:nvPr/>
        </p:nvSpPr>
        <p:spPr>
          <a:xfrm>
            <a:off x="502920" y="3383280"/>
            <a:ext cx="5440680" cy="26517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352958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Analogy: salary vs interest rate</a:t>
            </a:r>
          </a:p>
        </p:txBody>
      </p:sp>
      <p:sp>
        <p:nvSpPr>
          <p:cNvPr id="8" name="TextBox 7"/>
          <p:cNvSpPr txBox="1"/>
          <p:nvPr/>
        </p:nvSpPr>
        <p:spPr>
          <a:xfrm>
            <a:off x="777240" y="3931920"/>
            <a:ext cx="4937760" cy="192024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A bonus (coding gain) is nice once.
A higher compounding rate (diversity) wins inevitably as SNR grows.
At high SNR, any d = 2 scheme beats any d = 1 scheme — no matter the coding gain.</a:t>
            </a:r>
          </a:p>
        </p:txBody>
      </p:sp>
      <p:sp>
        <p:nvSpPr>
          <p:cNvPr id="9" name="Rounded Rectangle 8"/>
          <p:cNvSpPr/>
          <p:nvPr/>
        </p:nvSpPr>
        <p:spPr>
          <a:xfrm>
            <a:off x="6217920" y="3383280"/>
            <a:ext cx="5440680" cy="26517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19088" y="352958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How to answer in a viva</a:t>
            </a:r>
          </a:p>
        </p:txBody>
      </p:sp>
      <p:sp>
        <p:nvSpPr>
          <p:cNvPr id="11" name="TextBox 10"/>
          <p:cNvSpPr txBox="1"/>
          <p:nvPr/>
        </p:nvSpPr>
        <p:spPr>
          <a:xfrm>
            <a:off x="6492240" y="3931920"/>
            <a:ext cx="4937760" cy="1920240"/>
          </a:xfrm>
          <a:prstGeom prst="rect">
            <a:avLst/>
          </a:prstGeom>
          <a:noFill/>
        </p:spPr>
        <p:txBody>
          <a:bodyPr wrap="square" lIns="0" tIns="0" rIns="0" bIns="0" anchor="t">
            <a:spAutoFit/>
          </a:bodyPr>
          <a:lstStyle/>
          <a:p>
            <a:pPr algn="l">
              <a:lnSpc>
                <a:spcPct val="105000"/>
              </a:lnSpc>
              <a:spcAft>
                <a:spcPts val="800"/>
              </a:spcAft>
            </a:pPr>
            <a:r>
              <a:rPr sz="1500" b="1" i="0">
                <a:solidFill>
                  <a:srgbClr val="7C5CFF"/>
                </a:solidFill>
                <a:latin typeface="Calibri"/>
              </a:rPr>
              <a:t>›  </a:t>
            </a:r>
            <a:r>
              <a:rPr sz="1500" b="0" i="0">
                <a:solidFill>
                  <a:srgbClr val="E8EAF6"/>
                </a:solidFill>
                <a:latin typeface="Calibri"/>
              </a:rPr>
              <a:t>Name the formula Pₑ ≈ Gc / SNRᵈ</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Say: Gc shifts, d tilts</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Add: asymptotically, slope dominates shift</a:t>
            </a:r>
          </a:p>
        </p:txBody>
      </p:sp>
      <p:sp>
        <p:nvSpPr>
          <p:cNvPr id="12" name="TextBox 11"/>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FIELD SKILL</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Read d Straight Off a Measured Plot</a:t>
            </a:r>
          </a:p>
        </p:txBody>
      </p:sp>
      <p:pic>
        <p:nvPicPr>
          <p:cNvPr id="4" name="Picture 3" descr="c_estimate_d.png"/>
          <p:cNvPicPr>
            <a:picLocks noChangeAspect="1"/>
          </p:cNvPicPr>
          <p:nvPr/>
        </p:nvPicPr>
        <p:blipFill>
          <a:blip r:embed="rId2"/>
          <a:stretch>
            <a:fillRect/>
          </a:stretch>
        </p:blipFill>
        <p:spPr>
          <a:xfrm>
            <a:off x="502920" y="1737360"/>
            <a:ext cx="5852160" cy="4041453"/>
          </a:xfrm>
          <a:prstGeom prst="rect">
            <a:avLst/>
          </a:prstGeom>
        </p:spPr>
      </p:pic>
      <p:sp>
        <p:nvSpPr>
          <p:cNvPr id="5" name="TextBox 4"/>
          <p:cNvSpPr txBox="1"/>
          <p:nvPr/>
        </p:nvSpPr>
        <p:spPr>
          <a:xfrm>
            <a:off x="6720840" y="2011680"/>
            <a:ext cx="4937760" cy="3657600"/>
          </a:xfrm>
          <a:prstGeom prst="rect">
            <a:avLst/>
          </a:prstGeom>
          <a:noFill/>
        </p:spPr>
        <p:txBody>
          <a:bodyPr wrap="square" lIns="0" tIns="0" rIns="0" bIns="0" anchor="t">
            <a:spAutoFit/>
          </a:bodyPr>
          <a:lstStyle/>
          <a:p>
            <a:pPr algn="l">
              <a:lnSpc>
                <a:spcPct val="105000"/>
              </a:lnSpc>
              <a:spcAft>
                <a:spcPts val="1300"/>
              </a:spcAft>
            </a:pPr>
            <a:r>
              <a:rPr sz="1550" b="1" i="0">
                <a:solidFill>
                  <a:srgbClr val="7C5CFF"/>
                </a:solidFill>
                <a:latin typeface="Calibri"/>
              </a:rPr>
              <a:t>›  </a:t>
            </a:r>
            <a:r>
              <a:rPr sz="1550" b="0" i="0">
                <a:solidFill>
                  <a:srgbClr val="E8EAF6"/>
                </a:solidFill>
                <a:latin typeface="Calibri"/>
              </a:rPr>
              <a:t>Pick two SNR points 10 dB apart on the straight part of the curve.</a:t>
            </a:r>
          </a:p>
          <a:p>
            <a:pPr algn="l">
              <a:lnSpc>
                <a:spcPct val="105000"/>
              </a:lnSpc>
              <a:spcAft>
                <a:spcPts val="1300"/>
              </a:spcAft>
            </a:pPr>
            <a:r>
              <a:rPr sz="1550" b="1" i="0">
                <a:solidFill>
                  <a:srgbClr val="7C5CFF"/>
                </a:solidFill>
                <a:latin typeface="Calibri"/>
              </a:rPr>
              <a:t>›  </a:t>
            </a:r>
            <a:r>
              <a:rPr sz="1550" b="0" i="0">
                <a:solidFill>
                  <a:srgbClr val="E8EAF6"/>
                </a:solidFill>
                <a:latin typeface="Calibri"/>
              </a:rPr>
              <a:t>Count how many decades the BER drops.</a:t>
            </a:r>
          </a:p>
          <a:p>
            <a:pPr algn="l">
              <a:lnSpc>
                <a:spcPct val="105000"/>
              </a:lnSpc>
              <a:spcAft>
                <a:spcPts val="1300"/>
              </a:spcAft>
            </a:pPr>
            <a:r>
              <a:rPr sz="1550" b="1" i="0">
                <a:solidFill>
                  <a:srgbClr val="7C5CFF"/>
                </a:solidFill>
                <a:latin typeface="Calibri"/>
              </a:rPr>
              <a:t>›  </a:t>
            </a:r>
            <a:r>
              <a:rPr sz="1550" b="1" i="0">
                <a:solidFill>
                  <a:srgbClr val="00E4FF"/>
                </a:solidFill>
                <a:latin typeface="Calibri"/>
              </a:rPr>
              <a:t>That count IS the diversity order.</a:t>
            </a:r>
          </a:p>
          <a:p>
            <a:pPr algn="l">
              <a:lnSpc>
                <a:spcPct val="105000"/>
              </a:lnSpc>
              <a:spcAft>
                <a:spcPts val="1300"/>
              </a:spcAft>
            </a:pPr>
            <a:r>
              <a:rPr sz="1550" b="1" i="0">
                <a:solidFill>
                  <a:srgbClr val="7C5CFF"/>
                </a:solidFill>
                <a:latin typeface="Calibri"/>
              </a:rPr>
              <a:t>›  </a:t>
            </a:r>
            <a:r>
              <a:rPr sz="1550" b="0" i="0">
                <a:solidFill>
                  <a:srgbClr val="E8EAF6"/>
                </a:solidFill>
                <a:latin typeface="Calibri"/>
              </a:rPr>
              <a:t>Here: 10 dB → 100× lower BER → d = 2. The lab will ask you to do this on simulated Alamouti curves.</a:t>
            </a:r>
          </a:p>
        </p:txBody>
      </p:sp>
      <p:sp>
        <p:nvSpPr>
          <p:cNvPr id="6" name="TextBox 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FFB454"/>
                </a:solidFill>
                <a:latin typeface="Calibri"/>
              </a:rPr>
              <a:t>CHECKPOINT QUIZ</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2 — Your Turn</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Q1.  </a:t>
            </a:r>
            <a:r>
              <a:rPr sz="1600" b="1" i="0">
                <a:solidFill>
                  <a:srgbClr val="E8EAF6"/>
                </a:solidFill>
                <a:latin typeface="Calibri"/>
              </a:rPr>
              <a:t>Curves A and B are parallel, B sits 10 dB to the left. B has…</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higher diversity      (b) higher coding gain      (c) more antennas      (d) lower noise figure</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Q2.  </a:t>
            </a:r>
            <a:r>
              <a:rPr sz="1600" b="1" i="0">
                <a:solidFill>
                  <a:srgbClr val="E8EAF6"/>
                </a:solidFill>
                <a:latin typeface="Calibri"/>
              </a:rPr>
              <a:t>Curve C drops 2 decades per 10 dB. Its diversity order is…</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1      (b) 2      (c) 4      (d) cannot tell</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Q3.  </a:t>
            </a:r>
            <a:r>
              <a:rPr sz="1600" b="1" i="0">
                <a:solidFill>
                  <a:srgbClr val="E8EAF6"/>
                </a:solidFill>
                <a:latin typeface="Calibri"/>
              </a:rPr>
              <a:t>True or false: enough coding gain can beat a higher diversity order at any SNR.</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True      (b) False</a:t>
            </a:r>
          </a:p>
        </p:txBody>
      </p:sp>
      <p:sp>
        <p:nvSpPr>
          <p:cNvPr id="13" name="TextBox 12"/>
          <p:cNvSpPr txBox="1"/>
          <p:nvPr/>
        </p:nvSpPr>
        <p:spPr>
          <a:xfrm>
            <a:off x="502920" y="6355080"/>
            <a:ext cx="8229600" cy="274320"/>
          </a:xfrm>
          <a:prstGeom prst="rect">
            <a:avLst/>
          </a:prstGeom>
          <a:noFill/>
        </p:spPr>
        <p:txBody>
          <a:bodyPr wrap="square" lIns="0" tIns="0" rIns="0" bIns="0" anchor="t">
            <a:spAutoFit/>
          </a:bodyPr>
          <a:lstStyle/>
          <a:p>
            <a:pPr algn="l">
              <a:lnSpc>
                <a:spcPct val="100000"/>
              </a:lnSpc>
              <a:spcAft>
                <a:spcPts val="600"/>
              </a:spcAft>
            </a:pPr>
            <a:r>
              <a:rPr sz="1250" b="0" i="0">
                <a:solidFill>
                  <a:srgbClr val="FFB454"/>
                </a:solidFill>
                <a:latin typeface="Calibri"/>
              </a:rPr>
              <a:t>Answers on the next slide — commit before you flip!</a:t>
            </a:r>
          </a:p>
        </p:txBody>
      </p:sp>
      <p:sp>
        <p:nvSpPr>
          <p:cNvPr id="14" name="TextBox 13"/>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ANSWERS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2 — Answers</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A1.  (b) higher coding gain</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Parallel curves = same slope = same d. A pure shift is Gc.</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A2.  (b) 2</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Decades per 10 dB = d. Two decades → d = 2.</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A3.  (b) False</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Eventually SNRᵈ dominates any constant. The steeper curve always crosses below.</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LADDER · RUNG 1</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SISO: One Path, One Chance</a:t>
            </a:r>
          </a:p>
        </p:txBody>
      </p:sp>
      <p:sp>
        <p:nvSpPr>
          <p:cNvPr id="4" name="Rounded Rectangle 3"/>
          <p:cNvSpPr/>
          <p:nvPr/>
        </p:nvSpPr>
        <p:spPr>
          <a:xfrm>
            <a:off x="502920" y="1737360"/>
            <a:ext cx="5577840" cy="21031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System: y = h·s + n</a:t>
            </a:r>
          </a:p>
        </p:txBody>
      </p:sp>
      <p:sp>
        <p:nvSpPr>
          <p:cNvPr id="6" name="TextBox 5"/>
          <p:cNvSpPr txBox="1"/>
          <p:nvPr/>
        </p:nvSpPr>
        <p:spPr>
          <a:xfrm>
            <a:off x="777240" y="2286000"/>
            <a:ext cx="5029200" cy="1463040"/>
          </a:xfrm>
          <a:prstGeom prst="rect">
            <a:avLst/>
          </a:prstGeom>
          <a:noFill/>
        </p:spPr>
        <p:txBody>
          <a:bodyPr wrap="square" lIns="0" tIns="0" rIns="0" bIns="0" anchor="t">
            <a:spAutoFit/>
          </a:bodyPr>
          <a:lstStyle/>
          <a:p>
            <a:pPr algn="l">
              <a:lnSpc>
                <a:spcPct val="105000"/>
              </a:lnSpc>
              <a:spcAft>
                <a:spcPts val="800"/>
              </a:spcAft>
            </a:pPr>
            <a:r>
              <a:rPr sz="1500" b="1" i="0">
                <a:solidFill>
                  <a:srgbClr val="7C5CFF"/>
                </a:solidFill>
                <a:latin typeface="Calibri"/>
              </a:rPr>
              <a:t>›  </a:t>
            </a:r>
            <a:r>
              <a:rPr sz="1500" b="0" i="0">
                <a:solidFill>
                  <a:srgbClr val="E8EAF6"/>
                </a:solidFill>
                <a:latin typeface="Calibri"/>
              </a:rPr>
              <a:t>One transmitter, one receiver, ONE fading coefficient h</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Receiver picks the symbol closest to y (ML detection)</a:t>
            </a:r>
          </a:p>
          <a:p>
            <a:pPr algn="l">
              <a:lnSpc>
                <a:spcPct val="105000"/>
              </a:lnSpc>
              <a:spcAft>
                <a:spcPts val="800"/>
              </a:spcAft>
            </a:pPr>
            <a:r>
              <a:rPr sz="1500" b="1" i="0">
                <a:solidFill>
                  <a:srgbClr val="7C5CFF"/>
                </a:solidFill>
                <a:latin typeface="Calibri"/>
              </a:rPr>
              <a:t>›  </a:t>
            </a:r>
            <a:r>
              <a:rPr sz="1500" b="1" i="0">
                <a:solidFill>
                  <a:srgbClr val="FFB454"/>
                </a:solidFill>
                <a:latin typeface="Calibri"/>
              </a:rPr>
              <a:t>Entire link rides on a single random number</a:t>
            </a:r>
          </a:p>
        </p:txBody>
      </p:sp>
      <p:sp>
        <p:nvSpPr>
          <p:cNvPr id="7" name="Rounded Rectangle 6"/>
          <p:cNvSpPr/>
          <p:nvPr/>
        </p:nvSpPr>
        <p:spPr>
          <a:xfrm>
            <a:off x="502920" y="4069080"/>
            <a:ext cx="5577840" cy="2011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421538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Result</a:t>
            </a:r>
          </a:p>
        </p:txBody>
      </p:sp>
      <p:sp>
        <p:nvSpPr>
          <p:cNvPr id="9" name="TextBox 8"/>
          <p:cNvSpPr txBox="1"/>
          <p:nvPr/>
        </p:nvSpPr>
        <p:spPr>
          <a:xfrm>
            <a:off x="777240" y="4617720"/>
            <a:ext cx="5029200" cy="1280160"/>
          </a:xfrm>
          <a:prstGeom prst="rect">
            <a:avLst/>
          </a:prstGeom>
          <a:noFill/>
        </p:spPr>
        <p:txBody>
          <a:bodyPr wrap="square" lIns="0" tIns="0" rIns="0" bIns="0" anchor="t">
            <a:spAutoFit/>
          </a:bodyPr>
          <a:lstStyle/>
          <a:p>
            <a:pPr algn="l">
              <a:lnSpc>
                <a:spcPct val="100000"/>
              </a:lnSpc>
              <a:spcAft>
                <a:spcPts val="800"/>
              </a:spcAft>
            </a:pPr>
            <a:r>
              <a:rPr sz="1700" b="0" i="0">
                <a:solidFill>
                  <a:srgbClr val="E8EAF6"/>
                </a:solidFill>
                <a:latin typeface="Calibri"/>
              </a:rPr>
              <a:t>Diversity order  </a:t>
            </a:r>
            <a:r>
              <a:rPr sz="2600" b="1" i="0">
                <a:solidFill>
                  <a:srgbClr val="FF5C7A"/>
                </a:solidFill>
                <a:latin typeface="Calibri"/>
              </a:rPr>
              <a:t>d = 1</a:t>
            </a:r>
          </a:p>
          <a:p>
            <a:pPr algn="l">
              <a:lnSpc>
                <a:spcPct val="100000"/>
              </a:lnSpc>
              <a:spcAft>
                <a:spcPts val="800"/>
              </a:spcAft>
            </a:pPr>
            <a:r>
              <a:rPr sz="1450" b="0" i="0">
                <a:solidFill>
                  <a:srgbClr val="9AA3C0"/>
                </a:solidFill>
                <a:latin typeface="Calibri"/>
              </a:rPr>
              <a:t>One decade of BER per 10 dB — the lazy red curve from earlier.</a:t>
            </a:r>
          </a:p>
        </p:txBody>
      </p:sp>
      <p:sp>
        <p:nvSpPr>
          <p:cNvPr id="10" name="Rounded Rectangle 9"/>
          <p:cNvSpPr/>
          <p:nvPr/>
        </p:nvSpPr>
        <p:spPr>
          <a:xfrm>
            <a:off x="6400800" y="1737360"/>
            <a:ext cx="5257800" cy="4343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188366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The umbrella picture</a:t>
            </a:r>
          </a:p>
        </p:txBody>
      </p:sp>
      <p:sp>
        <p:nvSpPr>
          <p:cNvPr id="12" name="Pie 11"/>
          <p:cNvSpPr/>
          <p:nvPr/>
        </p:nvSpPr>
        <p:spPr>
          <a:xfrm>
            <a:off x="7955279" y="2651760"/>
            <a:ext cx="2194560" cy="2194560"/>
          </a:xfrm>
          <a:prstGeom prst="pie">
            <a:avLst>
              <a:gd name="adj1" fmla="val 18000000"/>
              <a:gd name="adj2" fmla="val 36000000"/>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015984" y="3703320"/>
            <a:ext cx="64008" cy="1371600"/>
          </a:xfrm>
          <a:prstGeom prst="rect">
            <a:avLst/>
          </a:prstGeom>
          <a:solidFill>
            <a:srgbClr val="9AA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732520" y="2743200"/>
            <a:ext cx="384048" cy="384048"/>
          </a:xfrm>
          <a:prstGeom prst="ellipse">
            <a:avLst/>
          </a:prstGeom>
          <a:solidFill>
            <a:srgbClr val="0B1020"/>
          </a:solidFill>
          <a:ln w="19050">
            <a:solidFill>
              <a:srgbClr val="FF5C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0" y="5212080"/>
            <a:ext cx="4754880" cy="731520"/>
          </a:xfrm>
          <a:prstGeom prst="rect">
            <a:avLst/>
          </a:prstGeom>
          <a:noFill/>
        </p:spPr>
        <p:txBody>
          <a:bodyPr wrap="square" lIns="0" tIns="0" rIns="0" bIns="0" anchor="t">
            <a:spAutoFit/>
          </a:bodyPr>
          <a:lstStyle/>
          <a:p>
            <a:pPr algn="ctr">
              <a:lnSpc>
                <a:spcPct val="100000"/>
              </a:lnSpc>
              <a:spcAft>
                <a:spcPts val="600"/>
              </a:spcAft>
            </a:pPr>
            <a:r>
              <a:rPr sz="1400" b="0" i="0">
                <a:solidFill>
                  <a:srgbClr val="E8EAF6"/>
                </a:solidFill>
                <a:latin typeface="Calibri"/>
              </a:rPr>
              <a:t>One umbrella, one hole. When rain finds the hole — a deep fade — you're soaked. No backup.</a:t>
            </a:r>
          </a:p>
        </p:txBody>
      </p:sp>
      <p:sp>
        <p:nvSpPr>
          <p:cNvPr id="16" name="TextBox 1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LADDER · RUNG 1</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Why a Single Fade Kills You</a:t>
            </a:r>
          </a:p>
        </p:txBody>
      </p:sp>
      <p:pic>
        <p:nvPicPr>
          <p:cNvPr id="4" name="Picture 3" descr="c_deepfade.png"/>
          <p:cNvPicPr>
            <a:picLocks noChangeAspect="1"/>
          </p:cNvPicPr>
          <p:nvPr/>
        </p:nvPicPr>
        <p:blipFill>
          <a:blip r:embed="rId2"/>
          <a:stretch>
            <a:fillRect/>
          </a:stretch>
        </p:blipFill>
        <p:spPr>
          <a:xfrm>
            <a:off x="502920" y="1783080"/>
            <a:ext cx="6400800" cy="3440925"/>
          </a:xfrm>
          <a:prstGeom prst="rect">
            <a:avLst/>
          </a:prstGeom>
        </p:spPr>
      </p:pic>
      <p:sp>
        <p:nvSpPr>
          <p:cNvPr id="5" name="TextBox 4"/>
          <p:cNvSpPr txBox="1"/>
          <p:nvPr/>
        </p:nvSpPr>
        <p:spPr>
          <a:xfrm>
            <a:off x="7269480" y="2011680"/>
            <a:ext cx="4389120" cy="3840480"/>
          </a:xfrm>
          <a:prstGeom prst="rect">
            <a:avLst/>
          </a:prstGeom>
          <a:noFill/>
        </p:spPr>
        <p:txBody>
          <a:bodyPr wrap="square" lIns="0" tIns="0" rIns="0" bIns="0" anchor="t">
            <a:spAutoFit/>
          </a:bodyPr>
          <a:lstStyle/>
          <a:p>
            <a:pPr algn="l">
              <a:lnSpc>
                <a:spcPct val="105000"/>
              </a:lnSpc>
              <a:spcAft>
                <a:spcPts val="1300"/>
              </a:spcAft>
            </a:pPr>
            <a:r>
              <a:rPr sz="1550" b="1" i="0">
                <a:solidFill>
                  <a:srgbClr val="7C5CFF"/>
                </a:solidFill>
                <a:latin typeface="Calibri"/>
              </a:rPr>
              <a:t>›  </a:t>
            </a:r>
            <a:r>
              <a:rPr sz="1550" b="0" i="0">
                <a:solidFill>
                  <a:srgbClr val="E8EAF6"/>
                </a:solidFill>
                <a:latin typeface="Calibri"/>
              </a:rPr>
              <a:t>99% of the time, the SISO link is fine.</a:t>
            </a:r>
          </a:p>
          <a:p>
            <a:pPr algn="l">
              <a:lnSpc>
                <a:spcPct val="105000"/>
              </a:lnSpc>
              <a:spcAft>
                <a:spcPts val="1300"/>
              </a:spcAft>
            </a:pPr>
            <a:r>
              <a:rPr sz="1550" b="1" i="0">
                <a:solidFill>
                  <a:srgbClr val="7C5CFF"/>
                </a:solidFill>
                <a:latin typeface="Calibri"/>
              </a:rPr>
              <a:t>›  </a:t>
            </a:r>
            <a:r>
              <a:rPr sz="1550" b="1" i="0">
                <a:solidFill>
                  <a:srgbClr val="E8EAF6"/>
                </a:solidFill>
                <a:latin typeface="Calibri"/>
              </a:rPr>
              <a:t>The remaining 1% contributes nearly 100% of the errors.</a:t>
            </a:r>
          </a:p>
          <a:p>
            <a:pPr algn="l">
              <a:lnSpc>
                <a:spcPct val="105000"/>
              </a:lnSpc>
              <a:spcAft>
                <a:spcPts val="1300"/>
              </a:spcAft>
            </a:pPr>
            <a:r>
              <a:rPr sz="1550" b="1" i="0">
                <a:solidFill>
                  <a:srgbClr val="7C5CFF"/>
                </a:solidFill>
                <a:latin typeface="Calibri"/>
              </a:rPr>
              <a:t>›  </a:t>
            </a:r>
            <a:r>
              <a:rPr sz="1550" b="0" i="0">
                <a:solidFill>
                  <a:srgbClr val="E8EAF6"/>
                </a:solidFill>
                <a:latin typeface="Calibri"/>
              </a:rPr>
              <a:t>Raising transmit power barely helps — fades are 20–30 dB deep.</a:t>
            </a:r>
          </a:p>
          <a:p>
            <a:pPr algn="l">
              <a:lnSpc>
                <a:spcPct val="105000"/>
              </a:lnSpc>
              <a:spcAft>
                <a:spcPts val="1300"/>
              </a:spcAft>
            </a:pPr>
            <a:r>
              <a:rPr sz="1550" b="1" i="0">
                <a:solidFill>
                  <a:srgbClr val="7C5CFF"/>
                </a:solidFill>
                <a:latin typeface="Calibri"/>
              </a:rPr>
              <a:t>›  </a:t>
            </a:r>
            <a:r>
              <a:rPr sz="1550" b="1" i="0">
                <a:solidFill>
                  <a:srgbClr val="00E4FF"/>
                </a:solidFill>
                <a:latin typeface="Calibri"/>
              </a:rPr>
              <a:t>The fix isn't shouting louder. It's having somewhere else to stand.</a:t>
            </a:r>
          </a:p>
        </p:txBody>
      </p:sp>
      <p:sp>
        <p:nvSpPr>
          <p:cNvPr id="6" name="TextBox 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LADDER · RUNG 2</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SIMO: Multiple Ears Listening</a:t>
            </a:r>
          </a:p>
        </p:txBody>
      </p:sp>
      <p:sp>
        <p:nvSpPr>
          <p:cNvPr id="4" name="Rounded Rectangle 3"/>
          <p:cNvSpPr/>
          <p:nvPr/>
        </p:nvSpPr>
        <p:spPr>
          <a:xfrm>
            <a:off x="502920" y="1737360"/>
            <a:ext cx="5577840" cy="4343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Maximum Ratio Combining (MRC)</a:t>
            </a:r>
          </a:p>
        </p:txBody>
      </p:sp>
      <p:sp>
        <p:nvSpPr>
          <p:cNvPr id="6" name="TextBox 5"/>
          <p:cNvSpPr txBox="1"/>
          <p:nvPr/>
        </p:nvSpPr>
        <p:spPr>
          <a:xfrm>
            <a:off x="777240" y="2286000"/>
            <a:ext cx="5029200" cy="3566160"/>
          </a:xfrm>
          <a:prstGeom prst="rect">
            <a:avLst/>
          </a:prstGeom>
          <a:noFill/>
        </p:spPr>
        <p:txBody>
          <a:bodyPr wrap="square" lIns="0" tIns="0" rIns="0" bIns="0" anchor="t">
            <a:spAutoFit/>
          </a:bodyPr>
          <a:lstStyle/>
          <a:p>
            <a:pPr algn="l">
              <a:lnSpc>
                <a:spcPct val="105000"/>
              </a:lnSpc>
              <a:spcAft>
                <a:spcPts val="1200"/>
              </a:spcAft>
            </a:pPr>
            <a:r>
              <a:rPr sz="1550" b="1" i="0">
                <a:solidFill>
                  <a:srgbClr val="7C5CFF"/>
                </a:solidFill>
                <a:latin typeface="Calibri"/>
              </a:rPr>
              <a:t>›  </a:t>
            </a:r>
            <a:r>
              <a:rPr sz="1550" b="0" i="0">
                <a:solidFill>
                  <a:srgbClr val="E8EAF6"/>
                </a:solidFill>
                <a:latin typeface="Calibri"/>
              </a:rPr>
              <a:t>Nr receive antennas → Nr independent copies of the same symbol</a:t>
            </a:r>
          </a:p>
          <a:p>
            <a:pPr algn="l">
              <a:lnSpc>
                <a:spcPct val="105000"/>
              </a:lnSpc>
              <a:spcAft>
                <a:spcPts val="1200"/>
              </a:spcAft>
            </a:pPr>
            <a:r>
              <a:rPr sz="1550" b="1" i="0">
                <a:solidFill>
                  <a:srgbClr val="7C5CFF"/>
                </a:solidFill>
                <a:latin typeface="Calibri"/>
              </a:rPr>
              <a:t>›  </a:t>
            </a:r>
            <a:r>
              <a:rPr sz="1550" b="0" i="0">
                <a:solidFill>
                  <a:srgbClr val="E8EAF6"/>
                </a:solidFill>
                <a:latin typeface="Calibri"/>
              </a:rPr>
              <a:t>MRC = weighted vote: trust the strong copies more, whisper-weight the faded ones</a:t>
            </a:r>
          </a:p>
          <a:p>
            <a:pPr algn="l">
              <a:lnSpc>
                <a:spcPct val="105000"/>
              </a:lnSpc>
              <a:spcAft>
                <a:spcPts val="1200"/>
              </a:spcAft>
            </a:pPr>
            <a:r>
              <a:rPr sz="1550" b="1" i="0">
                <a:solidFill>
                  <a:srgbClr val="7C5CFF"/>
                </a:solidFill>
                <a:latin typeface="Calibri"/>
              </a:rPr>
              <a:t>›  </a:t>
            </a:r>
            <a:r>
              <a:rPr sz="1550" b="0" i="0">
                <a:solidFill>
                  <a:srgbClr val="E8EAF6"/>
                </a:solidFill>
                <a:latin typeface="Calibri"/>
              </a:rPr>
              <a:t>Combined SNR = SUM of branch SNRs — fades on one branch are papered over by the others</a:t>
            </a:r>
          </a:p>
          <a:p>
            <a:pPr algn="l">
              <a:lnSpc>
                <a:spcPct val="105000"/>
              </a:lnSpc>
              <a:spcAft>
                <a:spcPts val="1200"/>
              </a:spcAft>
            </a:pPr>
            <a:r>
              <a:rPr sz="1550" b="1" i="0">
                <a:solidFill>
                  <a:srgbClr val="7C5CFF"/>
                </a:solidFill>
                <a:latin typeface="Calibri"/>
              </a:rPr>
              <a:t>›  </a:t>
            </a:r>
            <a:r>
              <a:rPr sz="1550" b="1" i="0">
                <a:solidFill>
                  <a:srgbClr val="FFB454"/>
                </a:solidFill>
                <a:latin typeface="Calibri"/>
              </a:rPr>
              <a:t>Link dies only if ALL branches fade together</a:t>
            </a:r>
          </a:p>
        </p:txBody>
      </p:sp>
      <p:sp>
        <p:nvSpPr>
          <p:cNvPr id="7" name="Rounded Rectangle 6"/>
          <p:cNvSpPr/>
          <p:nvPr/>
        </p:nvSpPr>
        <p:spPr>
          <a:xfrm>
            <a:off x="6400800" y="1737360"/>
            <a:ext cx="5257800" cy="4343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88366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One mouth, many ears</a:t>
            </a:r>
          </a:p>
        </p:txBody>
      </p:sp>
      <p:sp>
        <p:nvSpPr>
          <p:cNvPr id="9" name="Rounded Rectangle 8"/>
          <p:cNvSpPr/>
          <p:nvPr/>
        </p:nvSpPr>
        <p:spPr>
          <a:xfrm>
            <a:off x="6858000" y="3383280"/>
            <a:ext cx="868680" cy="86868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3657600"/>
            <a:ext cx="868680" cy="365760"/>
          </a:xfrm>
          <a:prstGeom prst="rect">
            <a:avLst/>
          </a:prstGeom>
          <a:noFill/>
        </p:spPr>
        <p:txBody>
          <a:bodyPr wrap="square" lIns="0" tIns="0" rIns="0" bIns="0" anchor="t">
            <a:spAutoFit/>
          </a:bodyPr>
          <a:lstStyle/>
          <a:p>
            <a:pPr algn="ctr">
              <a:lnSpc>
                <a:spcPct val="100000"/>
              </a:lnSpc>
              <a:spcAft>
                <a:spcPts val="600"/>
              </a:spcAft>
            </a:pPr>
            <a:r>
              <a:rPr sz="1500" b="1" i="0">
                <a:solidFill>
                  <a:srgbClr val="00E4FF"/>
                </a:solidFill>
                <a:latin typeface="Calibri"/>
              </a:rPr>
              <a:t>TX</a:t>
            </a:r>
          </a:p>
        </p:txBody>
      </p:sp>
      <p:sp>
        <p:nvSpPr>
          <p:cNvPr id="11" name="Rounded Rectangle 10"/>
          <p:cNvSpPr/>
          <p:nvPr/>
        </p:nvSpPr>
        <p:spPr>
          <a:xfrm>
            <a:off x="10241280" y="2331720"/>
            <a:ext cx="868680" cy="868680"/>
          </a:xfrm>
          <a:prstGeom prst="roundRect">
            <a:avLst>
              <a:gd name="adj" fmla="val 8000"/>
            </a:avLst>
          </a:prstGeom>
          <a:solidFill>
            <a:srgbClr val="18224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0" y="2606039"/>
            <a:ext cx="868680" cy="365760"/>
          </a:xfrm>
          <a:prstGeom prst="rect">
            <a:avLst/>
          </a:prstGeom>
          <a:noFill/>
        </p:spPr>
        <p:txBody>
          <a:bodyPr wrap="square" lIns="0" tIns="0" rIns="0" bIns="0" anchor="t">
            <a:spAutoFit/>
          </a:bodyPr>
          <a:lstStyle/>
          <a:p>
            <a:pPr algn="ctr">
              <a:lnSpc>
                <a:spcPct val="100000"/>
              </a:lnSpc>
              <a:spcAft>
                <a:spcPts val="600"/>
              </a:spcAft>
            </a:pPr>
            <a:r>
              <a:rPr sz="1400" b="1" i="0">
                <a:solidFill>
                  <a:srgbClr val="3DDC97"/>
                </a:solidFill>
                <a:latin typeface="Calibri"/>
              </a:rPr>
              <a:t>RX1</a:t>
            </a:r>
          </a:p>
        </p:txBody>
      </p:sp>
      <p:cxnSp>
        <p:nvCxnSpPr>
          <p:cNvPr id="13" name="Connector 12"/>
          <p:cNvCxnSpPr/>
          <p:nvPr/>
        </p:nvCxnSpPr>
        <p:spPr>
          <a:xfrm flipV="1">
            <a:off x="7772400" y="2770632"/>
            <a:ext cx="2423160" cy="1051559"/>
          </a:xfrm>
          <a:prstGeom prst="line">
            <a:avLst/>
          </a:prstGeom>
          <a:ln w="2540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241280" y="3383280"/>
            <a:ext cx="868680" cy="868680"/>
          </a:xfrm>
          <a:prstGeom prst="roundRect">
            <a:avLst>
              <a:gd name="adj" fmla="val 8000"/>
            </a:avLst>
          </a:prstGeom>
          <a:solidFill>
            <a:srgbClr val="18224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41280" y="3657600"/>
            <a:ext cx="868680" cy="365760"/>
          </a:xfrm>
          <a:prstGeom prst="rect">
            <a:avLst/>
          </a:prstGeom>
          <a:noFill/>
        </p:spPr>
        <p:txBody>
          <a:bodyPr wrap="square" lIns="0" tIns="0" rIns="0" bIns="0" anchor="t">
            <a:spAutoFit/>
          </a:bodyPr>
          <a:lstStyle/>
          <a:p>
            <a:pPr algn="ctr">
              <a:lnSpc>
                <a:spcPct val="100000"/>
              </a:lnSpc>
              <a:spcAft>
                <a:spcPts val="600"/>
              </a:spcAft>
            </a:pPr>
            <a:r>
              <a:rPr sz="1400" b="1" i="0">
                <a:solidFill>
                  <a:srgbClr val="3DDC97"/>
                </a:solidFill>
                <a:latin typeface="Calibri"/>
              </a:rPr>
              <a:t>RX2</a:t>
            </a:r>
          </a:p>
        </p:txBody>
      </p:sp>
      <p:cxnSp>
        <p:nvCxnSpPr>
          <p:cNvPr id="16" name="Connector 15"/>
          <p:cNvCxnSpPr/>
          <p:nvPr/>
        </p:nvCxnSpPr>
        <p:spPr>
          <a:xfrm>
            <a:off x="7772400" y="3822191"/>
            <a:ext cx="2423160" cy="0"/>
          </a:xfrm>
          <a:prstGeom prst="line">
            <a:avLst/>
          </a:prstGeom>
          <a:ln w="2540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41280" y="4434840"/>
            <a:ext cx="868680" cy="868680"/>
          </a:xfrm>
          <a:prstGeom prst="roundRect">
            <a:avLst>
              <a:gd name="adj" fmla="val 8000"/>
            </a:avLst>
          </a:prstGeom>
          <a:solidFill>
            <a:srgbClr val="18224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0" y="4709159"/>
            <a:ext cx="868680" cy="365760"/>
          </a:xfrm>
          <a:prstGeom prst="rect">
            <a:avLst/>
          </a:prstGeom>
          <a:noFill/>
        </p:spPr>
        <p:txBody>
          <a:bodyPr wrap="square" lIns="0" tIns="0" rIns="0" bIns="0" anchor="t">
            <a:spAutoFit/>
          </a:bodyPr>
          <a:lstStyle/>
          <a:p>
            <a:pPr algn="ctr">
              <a:lnSpc>
                <a:spcPct val="100000"/>
              </a:lnSpc>
              <a:spcAft>
                <a:spcPts val="600"/>
              </a:spcAft>
            </a:pPr>
            <a:r>
              <a:rPr sz="1400" b="1" i="0">
                <a:solidFill>
                  <a:srgbClr val="3DDC97"/>
                </a:solidFill>
                <a:latin typeface="Calibri"/>
              </a:rPr>
              <a:t>RX3</a:t>
            </a:r>
          </a:p>
        </p:txBody>
      </p:sp>
      <p:cxnSp>
        <p:nvCxnSpPr>
          <p:cNvPr id="19" name="Connector 18"/>
          <p:cNvCxnSpPr/>
          <p:nvPr/>
        </p:nvCxnSpPr>
        <p:spPr>
          <a:xfrm>
            <a:off x="7772400" y="3822191"/>
            <a:ext cx="2423160" cy="1051561"/>
          </a:xfrm>
          <a:prstGeom prst="line">
            <a:avLst/>
          </a:prstGeom>
          <a:ln w="2540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675120" y="5486400"/>
            <a:ext cx="4754880" cy="457200"/>
          </a:xfrm>
          <a:prstGeom prst="rect">
            <a:avLst/>
          </a:prstGeom>
          <a:noFill/>
        </p:spPr>
        <p:txBody>
          <a:bodyPr wrap="square" lIns="0" tIns="0" rIns="0" bIns="0" anchor="t">
            <a:spAutoFit/>
          </a:bodyPr>
          <a:lstStyle/>
          <a:p>
            <a:pPr algn="ctr">
              <a:lnSpc>
                <a:spcPct val="100000"/>
              </a:lnSpc>
              <a:spcAft>
                <a:spcPts val="600"/>
              </a:spcAft>
            </a:pPr>
            <a:r>
              <a:rPr sz="1350" b="0" i="0">
                <a:solidFill>
                  <a:srgbClr val="9AA3C0"/>
                </a:solidFill>
                <a:latin typeface="Calibri"/>
              </a:rPr>
              <a:t>Three independent paths — three chances to dodge a fade.</a:t>
            </a:r>
          </a:p>
        </p:txBody>
      </p:sp>
      <p:sp>
        <p:nvSpPr>
          <p:cNvPr id="21" name="TextBox 20"/>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LADDER · RUNG 2</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Key Result: d = Nr</a:t>
            </a:r>
          </a:p>
        </p:txBody>
      </p:sp>
      <p:pic>
        <p:nvPicPr>
          <p:cNvPr id="4" name="Picture 3" descr="c_mrc.png"/>
          <p:cNvPicPr>
            <a:picLocks noChangeAspect="1"/>
          </p:cNvPicPr>
          <p:nvPr/>
        </p:nvPicPr>
        <p:blipFill>
          <a:blip r:embed="rId2"/>
          <a:stretch>
            <a:fillRect/>
          </a:stretch>
        </p:blipFill>
        <p:spPr>
          <a:xfrm>
            <a:off x="502920" y="1737360"/>
            <a:ext cx="5852160" cy="4041453"/>
          </a:xfrm>
          <a:prstGeom prst="rect">
            <a:avLst/>
          </a:prstGeom>
        </p:spPr>
      </p:pic>
      <p:sp>
        <p:nvSpPr>
          <p:cNvPr id="5" name="Rounded Rectangle 4"/>
          <p:cNvSpPr/>
          <p:nvPr/>
        </p:nvSpPr>
        <p:spPr>
          <a:xfrm>
            <a:off x="6720840" y="1828800"/>
            <a:ext cx="4937760" cy="16459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49440" y="2103120"/>
            <a:ext cx="4480560" cy="1188720"/>
          </a:xfrm>
          <a:prstGeom prst="rect">
            <a:avLst/>
          </a:prstGeom>
          <a:noFill/>
        </p:spPr>
        <p:txBody>
          <a:bodyPr wrap="square" lIns="0" tIns="0" rIns="0" bIns="0" anchor="t">
            <a:spAutoFit/>
          </a:bodyPr>
          <a:lstStyle/>
          <a:p>
            <a:pPr algn="l">
              <a:lnSpc>
                <a:spcPct val="100000"/>
              </a:lnSpc>
              <a:spcAft>
                <a:spcPts val="800"/>
              </a:spcAft>
            </a:pPr>
            <a:r>
              <a:rPr sz="3400" b="1" i="0">
                <a:solidFill>
                  <a:srgbClr val="3DDC97"/>
                </a:solidFill>
                <a:latin typeface="Cambria"/>
              </a:rPr>
              <a:t>d = Nr</a:t>
            </a:r>
          </a:p>
          <a:p>
            <a:pPr algn="l">
              <a:lnSpc>
                <a:spcPct val="100000"/>
              </a:lnSpc>
              <a:spcAft>
                <a:spcPts val="800"/>
              </a:spcAft>
            </a:pPr>
            <a:r>
              <a:rPr sz="1450" b="0" i="0">
                <a:solidFill>
                  <a:srgbClr val="9AA3C0"/>
                </a:solidFill>
                <a:latin typeface="Calibri"/>
              </a:rPr>
              <a:t>every extra receive antenna adds one full unit of slope</a:t>
            </a:r>
          </a:p>
        </p:txBody>
      </p:sp>
      <p:sp>
        <p:nvSpPr>
          <p:cNvPr id="7" name="TextBox 6"/>
          <p:cNvSpPr txBox="1"/>
          <p:nvPr/>
        </p:nvSpPr>
        <p:spPr>
          <a:xfrm>
            <a:off x="6720840" y="3749039"/>
            <a:ext cx="4937760" cy="2194560"/>
          </a:xfrm>
          <a:prstGeom prst="rect">
            <a:avLst/>
          </a:prstGeom>
          <a:noFill/>
        </p:spPr>
        <p:txBody>
          <a:bodyPr wrap="square" lIns="0" tIns="0" rIns="0" bIns="0" anchor="t">
            <a:spAutoFit/>
          </a:bodyPr>
          <a:lstStyle/>
          <a:p>
            <a:pPr algn="l">
              <a:lnSpc>
                <a:spcPct val="105000"/>
              </a:lnSpc>
              <a:spcAft>
                <a:spcPts val="1200"/>
              </a:spcAft>
            </a:pPr>
            <a:r>
              <a:rPr sz="1550" b="1" i="0">
                <a:solidFill>
                  <a:srgbClr val="7C5CFF"/>
                </a:solidFill>
                <a:latin typeface="Calibri"/>
              </a:rPr>
              <a:t>›  </a:t>
            </a:r>
            <a:r>
              <a:rPr sz="1550" b="0" i="0">
                <a:solidFill>
                  <a:srgbClr val="E8EAF6"/>
                </a:solidFill>
                <a:latin typeface="Calibri"/>
              </a:rPr>
              <a:t>2 antennas → d = 2 → two decades per 10 dB</a:t>
            </a:r>
          </a:p>
          <a:p>
            <a:pPr algn="l">
              <a:lnSpc>
                <a:spcPct val="105000"/>
              </a:lnSpc>
              <a:spcAft>
                <a:spcPts val="1200"/>
              </a:spcAft>
            </a:pPr>
            <a:r>
              <a:rPr sz="1550" b="1" i="0">
                <a:solidFill>
                  <a:srgbClr val="7C5CFF"/>
                </a:solidFill>
                <a:latin typeface="Calibri"/>
              </a:rPr>
              <a:t>›  </a:t>
            </a:r>
            <a:r>
              <a:rPr sz="1550" b="0" i="0">
                <a:solidFill>
                  <a:srgbClr val="E8EAF6"/>
                </a:solidFill>
                <a:latin typeface="Calibri"/>
              </a:rPr>
              <a:t>4 antennas → d = 4 → cliff-edge BER</a:t>
            </a:r>
          </a:p>
          <a:p>
            <a:pPr algn="l">
              <a:lnSpc>
                <a:spcPct val="105000"/>
              </a:lnSpc>
              <a:spcAft>
                <a:spcPts val="1200"/>
              </a:spcAft>
            </a:pPr>
            <a:r>
              <a:rPr sz="1550" b="1" i="0">
                <a:solidFill>
                  <a:srgbClr val="7C5CFF"/>
                </a:solidFill>
                <a:latin typeface="Calibri"/>
              </a:rPr>
              <a:t>›  </a:t>
            </a:r>
            <a:r>
              <a:rPr sz="1550" b="0" i="0">
                <a:solidFill>
                  <a:srgbClr val="00E4FF"/>
                </a:solidFill>
                <a:latin typeface="Calibri"/>
              </a:rPr>
              <a:t>Intuition: all Nr branches must fade simultaneously — probability multiplies.</a:t>
            </a:r>
          </a:p>
        </p:txBody>
      </p:sp>
      <p:sp>
        <p:nvSpPr>
          <p:cNvPr id="8" name="TextBox 7"/>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7C5CFF"/>
                </a:solidFill>
                <a:latin typeface="Calibri"/>
              </a:rPr>
              <a:t>NUMERICAL 3</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Joint Outage with Independent Branches</a:t>
            </a:r>
          </a:p>
        </p:txBody>
      </p:sp>
      <p:sp>
        <p:nvSpPr>
          <p:cNvPr id="4" name="Rounded Rectangle 3"/>
          <p:cNvSpPr/>
          <p:nvPr/>
        </p:nvSpPr>
        <p:spPr>
          <a:xfrm>
            <a:off x="502920" y="1691640"/>
            <a:ext cx="11155680" cy="11430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Problem</a:t>
            </a:r>
          </a:p>
        </p:txBody>
      </p:sp>
      <p:sp>
        <p:nvSpPr>
          <p:cNvPr id="6" name="TextBox 5"/>
          <p:cNvSpPr txBox="1"/>
          <p:nvPr/>
        </p:nvSpPr>
        <p:spPr>
          <a:xfrm>
            <a:off x="777240" y="2212848"/>
            <a:ext cx="10607040" cy="548640"/>
          </a:xfrm>
          <a:prstGeom prst="rect">
            <a:avLst/>
          </a:prstGeom>
          <a:noFill/>
        </p:spPr>
        <p:txBody>
          <a:bodyPr wrap="square" lIns="0" tIns="0" rIns="0" bIns="0" anchor="t">
            <a:spAutoFit/>
          </a:bodyPr>
          <a:lstStyle/>
          <a:p>
            <a:pPr algn="l">
              <a:lnSpc>
                <a:spcPct val="100000"/>
              </a:lnSpc>
              <a:spcAft>
                <a:spcPts val="600"/>
              </a:spcAft>
            </a:pPr>
            <a:r>
              <a:rPr sz="1600" b="0" i="0">
                <a:solidFill>
                  <a:srgbClr val="E8EAF6"/>
                </a:solidFill>
                <a:latin typeface="Calibri"/>
              </a:rPr>
              <a:t>Each branch independently sits in a deep fade 10% of the time. Find P(link outage) for Nr = 1, 2, 4 with MRC.</a:t>
            </a:r>
          </a:p>
        </p:txBody>
      </p:sp>
      <p:pic>
        <p:nvPicPr>
          <p:cNvPr id="7" name="Picture 6" descr="c_outage.png"/>
          <p:cNvPicPr>
            <a:picLocks noChangeAspect="1"/>
          </p:cNvPicPr>
          <p:nvPr/>
        </p:nvPicPr>
        <p:blipFill>
          <a:blip r:embed="rId2"/>
          <a:stretch>
            <a:fillRect/>
          </a:stretch>
        </p:blipFill>
        <p:spPr>
          <a:xfrm>
            <a:off x="502920" y="3063240"/>
            <a:ext cx="5669280" cy="3796443"/>
          </a:xfrm>
          <a:prstGeom prst="rect">
            <a:avLst/>
          </a:prstGeom>
        </p:spPr>
      </p:pic>
      <p:sp>
        <p:nvSpPr>
          <p:cNvPr id="8" name="Rounded Rectangle 7"/>
          <p:cNvSpPr/>
          <p:nvPr/>
        </p:nvSpPr>
        <p:spPr>
          <a:xfrm>
            <a:off x="6492240" y="3154680"/>
            <a:ext cx="5166360" cy="29260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93408" y="3300984"/>
            <a:ext cx="476402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Solution</a:t>
            </a:r>
          </a:p>
        </p:txBody>
      </p:sp>
      <p:sp>
        <p:nvSpPr>
          <p:cNvPr id="10" name="TextBox 9"/>
          <p:cNvSpPr txBox="1"/>
          <p:nvPr/>
        </p:nvSpPr>
        <p:spPr>
          <a:xfrm>
            <a:off x="6766560" y="3703320"/>
            <a:ext cx="4663440" cy="2286000"/>
          </a:xfrm>
          <a:prstGeom prst="rect">
            <a:avLst/>
          </a:prstGeom>
          <a:noFill/>
        </p:spPr>
        <p:txBody>
          <a:bodyPr wrap="square" lIns="0" tIns="0" rIns="0" bIns="0" anchor="t">
            <a:spAutoFit/>
          </a:bodyPr>
          <a:lstStyle/>
          <a:p>
            <a:pPr algn="l">
              <a:lnSpc>
                <a:spcPct val="100000"/>
              </a:lnSpc>
              <a:spcAft>
                <a:spcPts val="900"/>
              </a:spcAft>
            </a:pPr>
            <a:r>
              <a:rPr sz="1500" b="0" i="0">
                <a:solidFill>
                  <a:srgbClr val="E8EAF6"/>
                </a:solidFill>
                <a:latin typeface="Calibri"/>
              </a:rPr>
              <a:t>Outage needs ALL branches faded:</a:t>
            </a:r>
          </a:p>
          <a:p>
            <a:pPr algn="l">
              <a:lnSpc>
                <a:spcPct val="100000"/>
              </a:lnSpc>
              <a:spcAft>
                <a:spcPts val="900"/>
              </a:spcAft>
            </a:pPr>
            <a:r>
              <a:rPr sz="1600" b="1" i="0">
                <a:solidFill>
                  <a:srgbClr val="FF5C7A"/>
                </a:solidFill>
                <a:latin typeface="Calibri"/>
              </a:rPr>
              <a:t>Nr = 1:  0.1  →  10%</a:t>
            </a:r>
          </a:p>
          <a:p>
            <a:pPr algn="l">
              <a:lnSpc>
                <a:spcPct val="100000"/>
              </a:lnSpc>
              <a:spcAft>
                <a:spcPts val="900"/>
              </a:spcAft>
            </a:pPr>
            <a:r>
              <a:rPr sz="1600" b="1" i="0">
                <a:solidFill>
                  <a:srgbClr val="FFB454"/>
                </a:solidFill>
                <a:latin typeface="Calibri"/>
              </a:rPr>
              <a:t>Nr = 2:  0.1² = 0.01  →  1%</a:t>
            </a:r>
          </a:p>
          <a:p>
            <a:pPr algn="l">
              <a:lnSpc>
                <a:spcPct val="100000"/>
              </a:lnSpc>
              <a:spcAft>
                <a:spcPts val="900"/>
              </a:spcAft>
            </a:pPr>
            <a:r>
              <a:rPr sz="1600" b="1" i="0">
                <a:solidFill>
                  <a:srgbClr val="3DDC97"/>
                </a:solidFill>
                <a:latin typeface="Calibri"/>
              </a:rPr>
              <a:t>Nr = 4:  0.1⁴ = 0.0001  →  0.01%</a:t>
            </a:r>
          </a:p>
          <a:p>
            <a:pPr algn="l">
              <a:lnSpc>
                <a:spcPct val="100000"/>
              </a:lnSpc>
              <a:spcAft>
                <a:spcPts val="900"/>
              </a:spcAft>
            </a:pPr>
            <a:r>
              <a:rPr sz="1400" b="0" i="1">
                <a:solidFill>
                  <a:srgbClr val="9AA3C0"/>
                </a:solidFill>
                <a:latin typeface="Calibri"/>
              </a:rPr>
              <a:t>Probabilities multiply — that's diversity in one line.</a:t>
            </a:r>
          </a:p>
        </p:txBody>
      </p:sp>
      <p:sp>
        <p:nvSpPr>
          <p:cNvPr id="11" name="TextBox 10"/>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LADDER · RUNG 3</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MISO: Multiple Mouths Speaking</a:t>
            </a:r>
          </a:p>
        </p:txBody>
      </p:sp>
      <p:sp>
        <p:nvSpPr>
          <p:cNvPr id="4" name="Rounded Rectangle 3"/>
          <p:cNvSpPr/>
          <p:nvPr/>
        </p:nvSpPr>
        <p:spPr>
          <a:xfrm>
            <a:off x="502920" y="1737360"/>
            <a:ext cx="5577840" cy="4343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Nt transmit antennas, 1 receive</a:t>
            </a:r>
          </a:p>
        </p:txBody>
      </p:sp>
      <p:sp>
        <p:nvSpPr>
          <p:cNvPr id="6" name="TextBox 5"/>
          <p:cNvSpPr txBox="1"/>
          <p:nvPr/>
        </p:nvSpPr>
        <p:spPr>
          <a:xfrm>
            <a:off x="777240" y="2286000"/>
            <a:ext cx="5029200" cy="3566160"/>
          </a:xfrm>
          <a:prstGeom prst="rect">
            <a:avLst/>
          </a:prstGeom>
          <a:noFill/>
        </p:spPr>
        <p:txBody>
          <a:bodyPr wrap="square" lIns="0" tIns="0" rIns="0" bIns="0" anchor="t">
            <a:spAutoFit/>
          </a:bodyPr>
          <a:lstStyle/>
          <a:p>
            <a:pPr algn="l">
              <a:lnSpc>
                <a:spcPct val="105000"/>
              </a:lnSpc>
              <a:spcAft>
                <a:spcPts val="1200"/>
              </a:spcAft>
            </a:pPr>
            <a:r>
              <a:rPr sz="1550" b="1" i="0">
                <a:solidFill>
                  <a:srgbClr val="7C5CFF"/>
                </a:solidFill>
                <a:latin typeface="Calibri"/>
              </a:rPr>
              <a:t>›  </a:t>
            </a:r>
            <a:r>
              <a:rPr sz="1550" b="0" i="0">
                <a:solidFill>
                  <a:srgbClr val="E8EAF6"/>
                </a:solidFill>
                <a:latin typeface="Calibri"/>
              </a:rPr>
              <a:t>Same idea, mirrored: send the symbol over Nt independent paths</a:t>
            </a:r>
          </a:p>
          <a:p>
            <a:pPr algn="l">
              <a:lnSpc>
                <a:spcPct val="105000"/>
              </a:lnSpc>
              <a:spcAft>
                <a:spcPts val="1200"/>
              </a:spcAft>
            </a:pPr>
            <a:r>
              <a:rPr sz="1550" b="1" i="0">
                <a:solidFill>
                  <a:srgbClr val="7C5CFF"/>
                </a:solidFill>
                <a:latin typeface="Calibri"/>
              </a:rPr>
              <a:t>›  </a:t>
            </a:r>
            <a:r>
              <a:rPr sz="1550" b="0" i="0">
                <a:solidFill>
                  <a:srgbClr val="E8EAF6"/>
                </a:solidFill>
                <a:latin typeface="Calibri"/>
              </a:rPr>
              <a:t>If TX knows the channel → MRT (beam the energy where it survives)</a:t>
            </a:r>
          </a:p>
          <a:p>
            <a:pPr algn="l">
              <a:lnSpc>
                <a:spcPct val="105000"/>
              </a:lnSpc>
              <a:spcAft>
                <a:spcPts val="1200"/>
              </a:spcAft>
            </a:pPr>
            <a:r>
              <a:rPr sz="1550" b="1" i="0">
                <a:solidFill>
                  <a:srgbClr val="7C5CFF"/>
                </a:solidFill>
                <a:latin typeface="Calibri"/>
              </a:rPr>
              <a:t>›  </a:t>
            </a:r>
            <a:r>
              <a:rPr sz="1550" b="0" i="0">
                <a:solidFill>
                  <a:srgbClr val="E8EAF6"/>
                </a:solidFill>
                <a:latin typeface="Calibri"/>
              </a:rPr>
              <a:t>If TX is blind → STBC (Alamouti): clever symbol arrangement extracts diversity anyway</a:t>
            </a:r>
          </a:p>
          <a:p>
            <a:pPr algn="l">
              <a:lnSpc>
                <a:spcPct val="105000"/>
              </a:lnSpc>
              <a:spcAft>
                <a:spcPts val="1200"/>
              </a:spcAft>
            </a:pPr>
            <a:r>
              <a:rPr sz="1550" b="1" i="0">
                <a:solidFill>
                  <a:srgbClr val="7C5CFF"/>
                </a:solidFill>
                <a:latin typeface="Calibri"/>
              </a:rPr>
              <a:t>›  </a:t>
            </a:r>
            <a:r>
              <a:rPr sz="1800" b="1" i="0">
                <a:solidFill>
                  <a:srgbClr val="3DDC97"/>
                </a:solidFill>
                <a:latin typeface="Calibri"/>
              </a:rPr>
              <a:t>Result:  d = Nt</a:t>
            </a:r>
          </a:p>
        </p:txBody>
      </p:sp>
      <p:sp>
        <p:nvSpPr>
          <p:cNvPr id="7" name="Rounded Rectangle 6"/>
          <p:cNvSpPr/>
          <p:nvPr/>
        </p:nvSpPr>
        <p:spPr>
          <a:xfrm>
            <a:off x="6400800" y="1737360"/>
            <a:ext cx="5257800" cy="4343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88366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Many mouths, one ear</a:t>
            </a:r>
          </a:p>
        </p:txBody>
      </p:sp>
      <p:sp>
        <p:nvSpPr>
          <p:cNvPr id="9" name="Rounded Rectangle 8"/>
          <p:cNvSpPr/>
          <p:nvPr/>
        </p:nvSpPr>
        <p:spPr>
          <a:xfrm>
            <a:off x="6858000" y="2331720"/>
            <a:ext cx="868680" cy="86868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2606039"/>
            <a:ext cx="868680" cy="365760"/>
          </a:xfrm>
          <a:prstGeom prst="rect">
            <a:avLst/>
          </a:prstGeom>
          <a:noFill/>
        </p:spPr>
        <p:txBody>
          <a:bodyPr wrap="square" lIns="0" tIns="0" rIns="0" bIns="0" anchor="t">
            <a:spAutoFit/>
          </a:bodyPr>
          <a:lstStyle/>
          <a:p>
            <a:pPr algn="ctr">
              <a:lnSpc>
                <a:spcPct val="100000"/>
              </a:lnSpc>
              <a:spcAft>
                <a:spcPts val="600"/>
              </a:spcAft>
            </a:pPr>
            <a:r>
              <a:rPr sz="1400" b="1" i="0">
                <a:solidFill>
                  <a:srgbClr val="00E4FF"/>
                </a:solidFill>
                <a:latin typeface="Calibri"/>
              </a:rPr>
              <a:t>TX1</a:t>
            </a:r>
          </a:p>
        </p:txBody>
      </p:sp>
      <p:cxnSp>
        <p:nvCxnSpPr>
          <p:cNvPr id="11" name="Connector 10"/>
          <p:cNvCxnSpPr/>
          <p:nvPr/>
        </p:nvCxnSpPr>
        <p:spPr>
          <a:xfrm>
            <a:off x="7772400" y="2770632"/>
            <a:ext cx="2423160" cy="1051559"/>
          </a:xfrm>
          <a:prstGeom prst="line">
            <a:avLst/>
          </a:prstGeom>
          <a:ln w="2540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58000" y="3383280"/>
            <a:ext cx="868680" cy="86868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0" y="3657600"/>
            <a:ext cx="868680" cy="365760"/>
          </a:xfrm>
          <a:prstGeom prst="rect">
            <a:avLst/>
          </a:prstGeom>
          <a:noFill/>
        </p:spPr>
        <p:txBody>
          <a:bodyPr wrap="square" lIns="0" tIns="0" rIns="0" bIns="0" anchor="t">
            <a:spAutoFit/>
          </a:bodyPr>
          <a:lstStyle/>
          <a:p>
            <a:pPr algn="ctr">
              <a:lnSpc>
                <a:spcPct val="100000"/>
              </a:lnSpc>
              <a:spcAft>
                <a:spcPts val="600"/>
              </a:spcAft>
            </a:pPr>
            <a:r>
              <a:rPr sz="1400" b="1" i="0">
                <a:solidFill>
                  <a:srgbClr val="00E4FF"/>
                </a:solidFill>
                <a:latin typeface="Calibri"/>
              </a:rPr>
              <a:t>TX2</a:t>
            </a:r>
          </a:p>
        </p:txBody>
      </p:sp>
      <p:cxnSp>
        <p:nvCxnSpPr>
          <p:cNvPr id="14" name="Connector 13"/>
          <p:cNvCxnSpPr/>
          <p:nvPr/>
        </p:nvCxnSpPr>
        <p:spPr>
          <a:xfrm>
            <a:off x="7772400" y="3822191"/>
            <a:ext cx="2423160" cy="0"/>
          </a:xfrm>
          <a:prstGeom prst="line">
            <a:avLst/>
          </a:prstGeom>
          <a:ln w="2540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58000" y="4434840"/>
            <a:ext cx="868680" cy="86868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0" y="4709159"/>
            <a:ext cx="868680" cy="365760"/>
          </a:xfrm>
          <a:prstGeom prst="rect">
            <a:avLst/>
          </a:prstGeom>
          <a:noFill/>
        </p:spPr>
        <p:txBody>
          <a:bodyPr wrap="square" lIns="0" tIns="0" rIns="0" bIns="0" anchor="t">
            <a:spAutoFit/>
          </a:bodyPr>
          <a:lstStyle/>
          <a:p>
            <a:pPr algn="ctr">
              <a:lnSpc>
                <a:spcPct val="100000"/>
              </a:lnSpc>
              <a:spcAft>
                <a:spcPts val="600"/>
              </a:spcAft>
            </a:pPr>
            <a:r>
              <a:rPr sz="1400" b="1" i="0">
                <a:solidFill>
                  <a:srgbClr val="00E4FF"/>
                </a:solidFill>
                <a:latin typeface="Calibri"/>
              </a:rPr>
              <a:t>TX3</a:t>
            </a:r>
          </a:p>
        </p:txBody>
      </p:sp>
      <p:cxnSp>
        <p:nvCxnSpPr>
          <p:cNvPr id="17" name="Connector 16"/>
          <p:cNvCxnSpPr/>
          <p:nvPr/>
        </p:nvCxnSpPr>
        <p:spPr>
          <a:xfrm flipV="1">
            <a:off x="7772400" y="3822191"/>
            <a:ext cx="2423160" cy="1051561"/>
          </a:xfrm>
          <a:prstGeom prst="line">
            <a:avLst/>
          </a:prstGeom>
          <a:ln w="2540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241280" y="3383280"/>
            <a:ext cx="868680" cy="868680"/>
          </a:xfrm>
          <a:prstGeom prst="roundRect">
            <a:avLst>
              <a:gd name="adj" fmla="val 8000"/>
            </a:avLst>
          </a:prstGeom>
          <a:solidFill>
            <a:srgbClr val="18224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0" y="3657600"/>
            <a:ext cx="868680" cy="365760"/>
          </a:xfrm>
          <a:prstGeom prst="rect">
            <a:avLst/>
          </a:prstGeom>
          <a:noFill/>
        </p:spPr>
        <p:txBody>
          <a:bodyPr wrap="square" lIns="0" tIns="0" rIns="0" bIns="0" anchor="t">
            <a:spAutoFit/>
          </a:bodyPr>
          <a:lstStyle/>
          <a:p>
            <a:pPr algn="ctr">
              <a:lnSpc>
                <a:spcPct val="100000"/>
              </a:lnSpc>
              <a:spcAft>
                <a:spcPts val="600"/>
              </a:spcAft>
            </a:pPr>
            <a:r>
              <a:rPr sz="1500" b="1" i="0">
                <a:solidFill>
                  <a:srgbClr val="3DDC97"/>
                </a:solidFill>
                <a:latin typeface="Calibri"/>
              </a:rPr>
              <a:t>RX</a:t>
            </a:r>
          </a:p>
        </p:txBody>
      </p:sp>
      <p:sp>
        <p:nvSpPr>
          <p:cNvPr id="20" name="TextBox 19"/>
          <p:cNvSpPr txBox="1"/>
          <p:nvPr/>
        </p:nvSpPr>
        <p:spPr>
          <a:xfrm>
            <a:off x="6675120" y="5486400"/>
            <a:ext cx="4754880" cy="457200"/>
          </a:xfrm>
          <a:prstGeom prst="rect">
            <a:avLst/>
          </a:prstGeom>
          <a:noFill/>
        </p:spPr>
        <p:txBody>
          <a:bodyPr wrap="square" lIns="0" tIns="0" rIns="0" bIns="0" anchor="t">
            <a:spAutoFit/>
          </a:bodyPr>
          <a:lstStyle/>
          <a:p>
            <a:pPr algn="ctr">
              <a:lnSpc>
                <a:spcPct val="100000"/>
              </a:lnSpc>
              <a:spcAft>
                <a:spcPts val="600"/>
              </a:spcAft>
            </a:pPr>
            <a:r>
              <a:rPr sz="1350" b="0" i="0">
                <a:solidFill>
                  <a:srgbClr val="9AA3C0"/>
                </a:solidFill>
                <a:latin typeface="Calibri"/>
              </a:rPr>
              <a:t>This is your phone's downlink: the tower carries the antennas.</a:t>
            </a:r>
          </a:p>
        </p:txBody>
      </p:sp>
      <p:sp>
        <p:nvSpPr>
          <p:cNvPr id="21" name="TextBox 20"/>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COMPARE</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SIMO vs MISO: Same Order, Different Engineering</a:t>
            </a:r>
          </a:p>
        </p:txBody>
      </p:sp>
      <p:sp>
        <p:nvSpPr>
          <p:cNvPr id="4" name="Rectangle 3"/>
          <p:cNvSpPr/>
          <p:nvPr/>
        </p:nvSpPr>
        <p:spPr>
          <a:xfrm>
            <a:off x="502920" y="1783080"/>
            <a:ext cx="3291840" cy="786384"/>
          </a:xfrm>
          <a:prstGeom prst="rect">
            <a:avLst/>
          </a:prstGeom>
          <a:solidFill>
            <a:srgbClr val="182244"/>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84248"/>
            <a:ext cx="3017520" cy="457200"/>
          </a:xfrm>
          <a:prstGeom prst="rect">
            <a:avLst/>
          </a:prstGeom>
          <a:noFill/>
        </p:spPr>
        <p:txBody>
          <a:bodyPr wrap="square" lIns="0" tIns="0" rIns="0" bIns="0" anchor="t">
            <a:spAutoFit/>
          </a:bodyPr>
          <a:lstStyle/>
          <a:p>
            <a:pPr algn="l">
              <a:lnSpc>
                <a:spcPct val="100000"/>
              </a:lnSpc>
              <a:spcAft>
                <a:spcPts val="600"/>
              </a:spcAft>
            </a:pPr>
            <a:endParaRPr/>
          </a:p>
        </p:txBody>
      </p:sp>
      <p:sp>
        <p:nvSpPr>
          <p:cNvPr id="6" name="Rectangle 5"/>
          <p:cNvSpPr/>
          <p:nvPr/>
        </p:nvSpPr>
        <p:spPr>
          <a:xfrm>
            <a:off x="3794760" y="1783080"/>
            <a:ext cx="3931920" cy="786384"/>
          </a:xfrm>
          <a:prstGeom prst="rect">
            <a:avLst/>
          </a:prstGeom>
          <a:solidFill>
            <a:srgbClr val="182244"/>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0" y="1984248"/>
            <a:ext cx="3657600" cy="457200"/>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SIMO (1 × Nr)</a:t>
            </a:r>
          </a:p>
        </p:txBody>
      </p:sp>
      <p:sp>
        <p:nvSpPr>
          <p:cNvPr id="8" name="Rectangle 7"/>
          <p:cNvSpPr/>
          <p:nvPr/>
        </p:nvSpPr>
        <p:spPr>
          <a:xfrm>
            <a:off x="7726680" y="1783080"/>
            <a:ext cx="3931920" cy="786384"/>
          </a:xfrm>
          <a:prstGeom prst="rect">
            <a:avLst/>
          </a:prstGeom>
          <a:solidFill>
            <a:srgbClr val="182244"/>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0" y="1984248"/>
            <a:ext cx="3657600" cy="457200"/>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MISO (Nt × 1)</a:t>
            </a:r>
          </a:p>
        </p:txBody>
      </p:sp>
      <p:sp>
        <p:nvSpPr>
          <p:cNvPr id="10" name="Rectangle 9"/>
          <p:cNvSpPr/>
          <p:nvPr/>
        </p:nvSpPr>
        <p:spPr>
          <a:xfrm>
            <a:off x="502920" y="2569464"/>
            <a:ext cx="329184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752344"/>
            <a:ext cx="3017520" cy="548640"/>
          </a:xfrm>
          <a:prstGeom prst="rect">
            <a:avLst/>
          </a:prstGeom>
          <a:noFill/>
        </p:spPr>
        <p:txBody>
          <a:bodyPr wrap="square" lIns="0" tIns="0" rIns="0" bIns="0" anchor="t">
            <a:spAutoFit/>
          </a:bodyPr>
          <a:lstStyle/>
          <a:p>
            <a:pPr algn="l">
              <a:lnSpc>
                <a:spcPct val="100000"/>
              </a:lnSpc>
              <a:spcAft>
                <a:spcPts val="600"/>
              </a:spcAft>
            </a:pPr>
            <a:r>
              <a:rPr sz="1350" b="1" i="0">
                <a:solidFill>
                  <a:srgbClr val="9AA3C0"/>
                </a:solidFill>
                <a:latin typeface="Calibri"/>
              </a:rPr>
              <a:t>Diversity order</a:t>
            </a:r>
          </a:p>
        </p:txBody>
      </p:sp>
      <p:sp>
        <p:nvSpPr>
          <p:cNvPr id="12" name="Rectangle 11"/>
          <p:cNvSpPr/>
          <p:nvPr/>
        </p:nvSpPr>
        <p:spPr>
          <a:xfrm>
            <a:off x="3794760" y="2569464"/>
            <a:ext cx="393192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31920" y="2752344"/>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d = Nr</a:t>
            </a:r>
          </a:p>
        </p:txBody>
      </p:sp>
      <p:sp>
        <p:nvSpPr>
          <p:cNvPr id="14" name="Rectangle 13"/>
          <p:cNvSpPr/>
          <p:nvPr/>
        </p:nvSpPr>
        <p:spPr>
          <a:xfrm>
            <a:off x="7726680" y="2569464"/>
            <a:ext cx="393192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0" y="2752344"/>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d = Nt</a:t>
            </a:r>
          </a:p>
        </p:txBody>
      </p:sp>
      <p:sp>
        <p:nvSpPr>
          <p:cNvPr id="16" name="Rectangle 15"/>
          <p:cNvSpPr/>
          <p:nvPr/>
        </p:nvSpPr>
        <p:spPr>
          <a:xfrm>
            <a:off x="502920" y="3355848"/>
            <a:ext cx="3291840" cy="786384"/>
          </a:xfrm>
          <a:prstGeom prst="rect">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538728"/>
            <a:ext cx="3017520" cy="548640"/>
          </a:xfrm>
          <a:prstGeom prst="rect">
            <a:avLst/>
          </a:prstGeom>
          <a:noFill/>
        </p:spPr>
        <p:txBody>
          <a:bodyPr wrap="square" lIns="0" tIns="0" rIns="0" bIns="0" anchor="t">
            <a:spAutoFit/>
          </a:bodyPr>
          <a:lstStyle/>
          <a:p>
            <a:pPr algn="l">
              <a:lnSpc>
                <a:spcPct val="100000"/>
              </a:lnSpc>
              <a:spcAft>
                <a:spcPts val="600"/>
              </a:spcAft>
            </a:pPr>
            <a:r>
              <a:rPr sz="1350" b="1" i="0">
                <a:solidFill>
                  <a:srgbClr val="9AA3C0"/>
                </a:solidFill>
                <a:latin typeface="Calibri"/>
              </a:rPr>
              <a:t>Where the antennas live</a:t>
            </a:r>
          </a:p>
        </p:txBody>
      </p:sp>
      <p:sp>
        <p:nvSpPr>
          <p:cNvPr id="18" name="Rectangle 17"/>
          <p:cNvSpPr/>
          <p:nvPr/>
        </p:nvSpPr>
        <p:spPr>
          <a:xfrm>
            <a:off x="3794760" y="3355848"/>
            <a:ext cx="3931920" cy="786384"/>
          </a:xfrm>
          <a:prstGeom prst="rect">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0" y="3538728"/>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Receiver</a:t>
            </a:r>
          </a:p>
        </p:txBody>
      </p:sp>
      <p:sp>
        <p:nvSpPr>
          <p:cNvPr id="20" name="Rectangle 19"/>
          <p:cNvSpPr/>
          <p:nvPr/>
        </p:nvSpPr>
        <p:spPr>
          <a:xfrm>
            <a:off x="7726680" y="3355848"/>
            <a:ext cx="3931920" cy="786384"/>
          </a:xfrm>
          <a:prstGeom prst="rect">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63840" y="3538728"/>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Transmitter</a:t>
            </a:r>
          </a:p>
        </p:txBody>
      </p:sp>
      <p:sp>
        <p:nvSpPr>
          <p:cNvPr id="22" name="Rectangle 21"/>
          <p:cNvSpPr/>
          <p:nvPr/>
        </p:nvSpPr>
        <p:spPr>
          <a:xfrm>
            <a:off x="502920" y="4142232"/>
            <a:ext cx="329184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4325112"/>
            <a:ext cx="3017520" cy="548640"/>
          </a:xfrm>
          <a:prstGeom prst="rect">
            <a:avLst/>
          </a:prstGeom>
          <a:noFill/>
        </p:spPr>
        <p:txBody>
          <a:bodyPr wrap="square" lIns="0" tIns="0" rIns="0" bIns="0" anchor="t">
            <a:spAutoFit/>
          </a:bodyPr>
          <a:lstStyle/>
          <a:p>
            <a:pPr algn="l">
              <a:lnSpc>
                <a:spcPct val="100000"/>
              </a:lnSpc>
              <a:spcAft>
                <a:spcPts val="600"/>
              </a:spcAft>
            </a:pPr>
            <a:r>
              <a:rPr sz="1350" b="1" i="0">
                <a:solidFill>
                  <a:srgbClr val="9AA3C0"/>
                </a:solidFill>
                <a:latin typeface="Calibri"/>
              </a:rPr>
              <a:t>Channel knowledge needed</a:t>
            </a:r>
          </a:p>
        </p:txBody>
      </p:sp>
      <p:sp>
        <p:nvSpPr>
          <p:cNvPr id="24" name="Rectangle 23"/>
          <p:cNvSpPr/>
          <p:nvPr/>
        </p:nvSpPr>
        <p:spPr>
          <a:xfrm>
            <a:off x="3794760" y="4142232"/>
            <a:ext cx="393192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0" y="4325112"/>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No (MRC works blind at TX)</a:t>
            </a:r>
          </a:p>
        </p:txBody>
      </p:sp>
      <p:sp>
        <p:nvSpPr>
          <p:cNvPr id="26" name="Rectangle 25"/>
          <p:cNvSpPr/>
          <p:nvPr/>
        </p:nvSpPr>
        <p:spPr>
          <a:xfrm>
            <a:off x="7726680" y="4142232"/>
            <a:ext cx="393192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63840" y="4325112"/>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MRT: yes · STBC: no</a:t>
            </a:r>
          </a:p>
        </p:txBody>
      </p:sp>
      <p:sp>
        <p:nvSpPr>
          <p:cNvPr id="28" name="Rectangle 27"/>
          <p:cNvSpPr/>
          <p:nvPr/>
        </p:nvSpPr>
        <p:spPr>
          <a:xfrm>
            <a:off x="502920" y="4928616"/>
            <a:ext cx="3291840" cy="786384"/>
          </a:xfrm>
          <a:prstGeom prst="rect">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5111496"/>
            <a:ext cx="3017520" cy="548640"/>
          </a:xfrm>
          <a:prstGeom prst="rect">
            <a:avLst/>
          </a:prstGeom>
          <a:noFill/>
        </p:spPr>
        <p:txBody>
          <a:bodyPr wrap="square" lIns="0" tIns="0" rIns="0" bIns="0" anchor="t">
            <a:spAutoFit/>
          </a:bodyPr>
          <a:lstStyle/>
          <a:p>
            <a:pPr algn="l">
              <a:lnSpc>
                <a:spcPct val="100000"/>
              </a:lnSpc>
              <a:spcAft>
                <a:spcPts val="600"/>
              </a:spcAft>
            </a:pPr>
            <a:r>
              <a:rPr sz="1350" b="1" i="0">
                <a:solidFill>
                  <a:srgbClr val="9AA3C0"/>
                </a:solidFill>
                <a:latin typeface="Calibri"/>
              </a:rPr>
              <a:t>Power per path</a:t>
            </a:r>
          </a:p>
        </p:txBody>
      </p:sp>
      <p:sp>
        <p:nvSpPr>
          <p:cNvPr id="30" name="Rectangle 29"/>
          <p:cNvSpPr/>
          <p:nvPr/>
        </p:nvSpPr>
        <p:spPr>
          <a:xfrm>
            <a:off x="3794760" y="4928616"/>
            <a:ext cx="3931920" cy="786384"/>
          </a:xfrm>
          <a:prstGeom prst="rect">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931920" y="5111496"/>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Full power received Nr ways</a:t>
            </a:r>
          </a:p>
        </p:txBody>
      </p:sp>
      <p:sp>
        <p:nvSpPr>
          <p:cNvPr id="32" name="Rectangle 31"/>
          <p:cNvSpPr/>
          <p:nvPr/>
        </p:nvSpPr>
        <p:spPr>
          <a:xfrm>
            <a:off x="7726680" y="4928616"/>
            <a:ext cx="3931920" cy="786384"/>
          </a:xfrm>
          <a:prstGeom prst="rect">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63840" y="5111496"/>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Total power SPLIT across Nt</a:t>
            </a:r>
          </a:p>
        </p:txBody>
      </p:sp>
      <p:sp>
        <p:nvSpPr>
          <p:cNvPr id="34" name="Rectangle 33"/>
          <p:cNvSpPr/>
          <p:nvPr/>
        </p:nvSpPr>
        <p:spPr>
          <a:xfrm>
            <a:off x="502920" y="5715000"/>
            <a:ext cx="329184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5897880"/>
            <a:ext cx="3017520" cy="548640"/>
          </a:xfrm>
          <a:prstGeom prst="rect">
            <a:avLst/>
          </a:prstGeom>
          <a:noFill/>
        </p:spPr>
        <p:txBody>
          <a:bodyPr wrap="square" lIns="0" tIns="0" rIns="0" bIns="0" anchor="t">
            <a:spAutoFit/>
          </a:bodyPr>
          <a:lstStyle/>
          <a:p>
            <a:pPr algn="l">
              <a:lnSpc>
                <a:spcPct val="100000"/>
              </a:lnSpc>
              <a:spcAft>
                <a:spcPts val="600"/>
              </a:spcAft>
            </a:pPr>
            <a:r>
              <a:rPr sz="1350" b="1" i="0">
                <a:solidFill>
                  <a:srgbClr val="9AA3C0"/>
                </a:solidFill>
                <a:latin typeface="Calibri"/>
              </a:rPr>
              <a:t>Typical deployment</a:t>
            </a:r>
          </a:p>
        </p:txBody>
      </p:sp>
      <p:sp>
        <p:nvSpPr>
          <p:cNvPr id="36" name="Rectangle 35"/>
          <p:cNvSpPr/>
          <p:nvPr/>
        </p:nvSpPr>
        <p:spPr>
          <a:xfrm>
            <a:off x="3794760" y="5715000"/>
            <a:ext cx="393192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931920" y="5897880"/>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Uplink (tower listens)</a:t>
            </a:r>
          </a:p>
        </p:txBody>
      </p:sp>
      <p:sp>
        <p:nvSpPr>
          <p:cNvPr id="38" name="Rectangle 37"/>
          <p:cNvSpPr/>
          <p:nvPr/>
        </p:nvSpPr>
        <p:spPr>
          <a:xfrm>
            <a:off x="7726680" y="5715000"/>
            <a:ext cx="3931920" cy="786384"/>
          </a:xfrm>
          <a:prstGeom prst="rect">
            <a:avLst/>
          </a:prstGeom>
          <a:solidFill>
            <a:srgbClr val="0B1020"/>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63840" y="5897880"/>
            <a:ext cx="3657600" cy="548640"/>
          </a:xfrm>
          <a:prstGeom prst="rect">
            <a:avLst/>
          </a:prstGeom>
          <a:noFill/>
        </p:spPr>
        <p:txBody>
          <a:bodyPr wrap="square" lIns="0" tIns="0" rIns="0" bIns="0" anchor="t">
            <a:spAutoFit/>
          </a:bodyPr>
          <a:lstStyle/>
          <a:p>
            <a:pPr algn="l">
              <a:lnSpc>
                <a:spcPct val="100000"/>
              </a:lnSpc>
              <a:spcAft>
                <a:spcPts val="600"/>
              </a:spcAft>
            </a:pPr>
            <a:r>
              <a:rPr sz="1350" b="0" i="0">
                <a:solidFill>
                  <a:srgbClr val="E8EAF6"/>
                </a:solidFill>
                <a:latin typeface="Calibri"/>
              </a:rPr>
              <a:t>Downlink (tower speaks)</a:t>
            </a:r>
          </a:p>
        </p:txBody>
      </p:sp>
      <p:sp>
        <p:nvSpPr>
          <p:cNvPr id="40" name="TextBox 3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5G REALITY CHECK</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Why Base Stations Carry the Antennas</a:t>
            </a:r>
          </a:p>
        </p:txBody>
      </p:sp>
      <p:sp>
        <p:nvSpPr>
          <p:cNvPr id="4" name="TextBox 3"/>
          <p:cNvSpPr txBox="1"/>
          <p:nvPr/>
        </p:nvSpPr>
        <p:spPr>
          <a:xfrm>
            <a:off x="502920" y="1828800"/>
            <a:ext cx="5486400" cy="4023360"/>
          </a:xfrm>
          <a:prstGeom prst="rect">
            <a:avLst/>
          </a:prstGeom>
          <a:noFill/>
        </p:spPr>
        <p:txBody>
          <a:bodyPr wrap="square" lIns="0" tIns="0" rIns="0" bIns="0" anchor="t">
            <a:spAutoFit/>
          </a:bodyPr>
          <a:lstStyle/>
          <a:p>
            <a:pPr algn="l">
              <a:lnSpc>
                <a:spcPct val="105000"/>
              </a:lnSpc>
              <a:spcAft>
                <a:spcPts val="1300"/>
              </a:spcAft>
            </a:pPr>
            <a:r>
              <a:rPr sz="1600" b="1" i="0">
                <a:solidFill>
                  <a:srgbClr val="7C5CFF"/>
                </a:solidFill>
                <a:latin typeface="Calibri"/>
              </a:rPr>
              <a:t>›  </a:t>
            </a:r>
            <a:r>
              <a:rPr sz="1600" b="0" i="0">
                <a:solidFill>
                  <a:srgbClr val="E8EAF6"/>
                </a:solidFill>
                <a:latin typeface="Calibri"/>
              </a:rPr>
              <a:t>Your phone: 2–4 antennas max — battery, space, cost.</a:t>
            </a:r>
          </a:p>
          <a:p>
            <a:pPr algn="l">
              <a:lnSpc>
                <a:spcPct val="105000"/>
              </a:lnSpc>
              <a:spcAft>
                <a:spcPts val="1300"/>
              </a:spcAft>
            </a:pPr>
            <a:r>
              <a:rPr sz="1600" b="1" i="0">
                <a:solidFill>
                  <a:srgbClr val="7C5CFF"/>
                </a:solidFill>
                <a:latin typeface="Calibri"/>
              </a:rPr>
              <a:t>›  </a:t>
            </a:r>
            <a:r>
              <a:rPr sz="1600" b="0" i="0">
                <a:solidFill>
                  <a:srgbClr val="E8EAF6"/>
                </a:solidFill>
                <a:latin typeface="Calibri"/>
              </a:rPr>
              <a:t>A 5G gNB panel: 64+ elements, massive MIMO.</a:t>
            </a:r>
          </a:p>
          <a:p>
            <a:pPr algn="l">
              <a:lnSpc>
                <a:spcPct val="105000"/>
              </a:lnSpc>
              <a:spcAft>
                <a:spcPts val="1300"/>
              </a:spcAft>
            </a:pPr>
            <a:r>
              <a:rPr sz="1600" b="1" i="0">
                <a:solidFill>
                  <a:srgbClr val="7C5CFF"/>
                </a:solidFill>
                <a:latin typeface="Calibri"/>
              </a:rPr>
              <a:t>›  </a:t>
            </a:r>
            <a:r>
              <a:rPr sz="1600" b="0" i="0">
                <a:solidFill>
                  <a:srgbClr val="E8EAF6"/>
                </a:solidFill>
                <a:latin typeface="Calibri"/>
              </a:rPr>
              <a:t>Uplink = SIMO-like: tower's many ears rescue your phone's weak voice.</a:t>
            </a:r>
          </a:p>
          <a:p>
            <a:pPr algn="l">
              <a:lnSpc>
                <a:spcPct val="105000"/>
              </a:lnSpc>
              <a:spcAft>
                <a:spcPts val="1300"/>
              </a:spcAft>
            </a:pPr>
            <a:r>
              <a:rPr sz="1600" b="1" i="0">
                <a:solidFill>
                  <a:srgbClr val="7C5CFF"/>
                </a:solidFill>
                <a:latin typeface="Calibri"/>
              </a:rPr>
              <a:t>›  </a:t>
            </a:r>
            <a:r>
              <a:rPr sz="1600" b="0" i="0">
                <a:solidFill>
                  <a:srgbClr val="E8EAF6"/>
                </a:solidFill>
                <a:latin typeface="Calibri"/>
              </a:rPr>
              <a:t>Downlink = MISO/MIMO: tower's many mouths beam and protect.</a:t>
            </a:r>
          </a:p>
          <a:p>
            <a:pPr algn="l">
              <a:lnSpc>
                <a:spcPct val="105000"/>
              </a:lnSpc>
              <a:spcAft>
                <a:spcPts val="1300"/>
              </a:spcAft>
            </a:pPr>
            <a:r>
              <a:rPr sz="1600" b="1" i="0">
                <a:solidFill>
                  <a:srgbClr val="7C5CFF"/>
                </a:solidFill>
                <a:latin typeface="Calibri"/>
              </a:rPr>
              <a:t>›  </a:t>
            </a:r>
            <a:r>
              <a:rPr sz="1600" b="1" i="0">
                <a:solidFill>
                  <a:srgbClr val="00E4FF"/>
                </a:solidFill>
                <a:latin typeface="Calibri"/>
              </a:rPr>
              <a:t>Diversity is bought once at the tower and shared by thousands of users.</a:t>
            </a:r>
          </a:p>
        </p:txBody>
      </p:sp>
      <p:sp>
        <p:nvSpPr>
          <p:cNvPr id="5" name="Rounded Rectangle 4"/>
          <p:cNvSpPr/>
          <p:nvPr/>
        </p:nvSpPr>
        <p:spPr>
          <a:xfrm>
            <a:off x="6400800" y="1783080"/>
            <a:ext cx="525780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01968" y="192938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A 64-element gNB panel</a:t>
            </a:r>
          </a:p>
        </p:txBody>
      </p:sp>
      <p:sp>
        <p:nvSpPr>
          <p:cNvPr id="7" name="Oval 6"/>
          <p:cNvSpPr/>
          <p:nvPr/>
        </p:nvSpPr>
        <p:spPr>
          <a:xfrm>
            <a:off x="6995160" y="2514600"/>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507224" y="251460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019288" y="251460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531352" y="251460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043416" y="251460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555480" y="2514600"/>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067544" y="251460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579608" y="251460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95160" y="3026664"/>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507224" y="3026664"/>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019288" y="3026664"/>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531352" y="3026664"/>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043416" y="3026664"/>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555480" y="3026664"/>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67544" y="3026664"/>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579608" y="3026664"/>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995160" y="353872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507224" y="353872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019288" y="353872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531352" y="3538728"/>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043416" y="353872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555480" y="353872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067544" y="353872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579608" y="353872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995160" y="4050791"/>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507224" y="4050791"/>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019288" y="4050791"/>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531352" y="4050791"/>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43416" y="4050791"/>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555480" y="4050791"/>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067544" y="4050791"/>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579608" y="4050791"/>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995160" y="4562856"/>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507224" y="4562856"/>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019288" y="4562856"/>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531352" y="4562856"/>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9043416" y="4562856"/>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555480" y="4562856"/>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067544" y="4562856"/>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579608" y="4562856"/>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995160" y="5074920"/>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507224" y="507492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019288" y="507492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531352" y="507492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043416" y="507492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555480" y="5074920"/>
            <a:ext cx="310896" cy="310896"/>
          </a:xfrm>
          <a:prstGeom prst="ellipse">
            <a:avLst/>
          </a:prstGeom>
          <a:solidFill>
            <a:srgbClr val="00E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067544" y="507492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0579608" y="5074920"/>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675120" y="5623560"/>
            <a:ext cx="4754880" cy="365760"/>
          </a:xfrm>
          <a:prstGeom prst="rect">
            <a:avLst/>
          </a:prstGeom>
          <a:noFill/>
        </p:spPr>
        <p:txBody>
          <a:bodyPr wrap="square" lIns="0" tIns="0" rIns="0" bIns="0" anchor="t">
            <a:spAutoFit/>
          </a:bodyPr>
          <a:lstStyle/>
          <a:p>
            <a:pPr algn="ctr">
              <a:lnSpc>
                <a:spcPct val="100000"/>
              </a:lnSpc>
              <a:spcAft>
                <a:spcPts val="600"/>
              </a:spcAft>
            </a:pPr>
            <a:r>
              <a:rPr sz="1300" b="0" i="0">
                <a:solidFill>
                  <a:srgbClr val="9AA3C0"/>
                </a:solidFill>
                <a:latin typeface="Calibri"/>
              </a:rPr>
              <a:t>Each dot = an antenna element. Diversity AND beamforming.</a:t>
            </a:r>
          </a:p>
        </p:txBody>
      </p:sp>
      <p:sp>
        <p:nvSpPr>
          <p:cNvPr id="56" name="TextBox 5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7C5CFF"/>
                </a:solidFill>
                <a:latin typeface="Calibri"/>
              </a:rPr>
              <a:t>NUMERICAL 4</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Design for BER ≤ 10⁻⁵ at 12 dB</a:t>
            </a:r>
          </a:p>
        </p:txBody>
      </p:sp>
      <p:sp>
        <p:nvSpPr>
          <p:cNvPr id="4" name="Rounded Rectangle 3"/>
          <p:cNvSpPr/>
          <p:nvPr/>
        </p:nvSpPr>
        <p:spPr>
          <a:xfrm>
            <a:off x="502920" y="1691640"/>
            <a:ext cx="11155680" cy="11430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Problem</a:t>
            </a:r>
          </a:p>
        </p:txBody>
      </p:sp>
      <p:sp>
        <p:nvSpPr>
          <p:cNvPr id="6" name="TextBox 5"/>
          <p:cNvSpPr txBox="1"/>
          <p:nvPr/>
        </p:nvSpPr>
        <p:spPr>
          <a:xfrm>
            <a:off x="777240" y="2212848"/>
            <a:ext cx="10607040" cy="548640"/>
          </a:xfrm>
          <a:prstGeom prst="rect">
            <a:avLst/>
          </a:prstGeom>
          <a:noFill/>
        </p:spPr>
        <p:txBody>
          <a:bodyPr wrap="square" lIns="0" tIns="0" rIns="0" bIns="0" anchor="t">
            <a:spAutoFit/>
          </a:bodyPr>
          <a:lstStyle/>
          <a:p>
            <a:pPr algn="l">
              <a:lnSpc>
                <a:spcPct val="100000"/>
              </a:lnSpc>
              <a:spcAft>
                <a:spcPts val="600"/>
              </a:spcAft>
            </a:pPr>
            <a:r>
              <a:rPr sz="1550" b="0" i="0">
                <a:solidFill>
                  <a:srgbClr val="E8EAF6"/>
                </a:solidFill>
                <a:latin typeface="Calibri"/>
              </a:rPr>
              <a:t>A sensor link has only 12 dB of SNR budget. Using Pₑ ≈ SNR⁻ᵈ as a quick model, how many independent branches d do we need for BER ≤ 10⁻⁵?</a:t>
            </a:r>
          </a:p>
        </p:txBody>
      </p:sp>
      <p:sp>
        <p:nvSpPr>
          <p:cNvPr id="7" name="Rounded Rectangle 6"/>
          <p:cNvSpPr/>
          <p:nvPr/>
        </p:nvSpPr>
        <p:spPr>
          <a:xfrm>
            <a:off x="502920" y="3108960"/>
            <a:ext cx="6766560" cy="29718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255264"/>
            <a:ext cx="636422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Solution sketch</a:t>
            </a:r>
          </a:p>
        </p:txBody>
      </p:sp>
      <p:sp>
        <p:nvSpPr>
          <p:cNvPr id="9" name="TextBox 8"/>
          <p:cNvSpPr txBox="1"/>
          <p:nvPr/>
        </p:nvSpPr>
        <p:spPr>
          <a:xfrm>
            <a:off x="777240" y="3657600"/>
            <a:ext cx="6217920" cy="2286000"/>
          </a:xfrm>
          <a:prstGeom prst="rect">
            <a:avLst/>
          </a:prstGeom>
          <a:noFill/>
        </p:spPr>
        <p:txBody>
          <a:bodyPr wrap="square" lIns="0" tIns="0" rIns="0" bIns="0" anchor="t">
            <a:spAutoFit/>
          </a:bodyPr>
          <a:lstStyle/>
          <a:p>
            <a:pPr algn="l">
              <a:lnSpc>
                <a:spcPct val="100000"/>
              </a:lnSpc>
              <a:spcAft>
                <a:spcPts val="800"/>
              </a:spcAft>
            </a:pPr>
            <a:r>
              <a:rPr sz="1600" b="0" i="0">
                <a:solidFill>
                  <a:srgbClr val="E8EAF6"/>
                </a:solidFill>
                <a:latin typeface="Calibri"/>
              </a:rPr>
              <a:t>12 dB → SNR ≈ 16  (10^1.2)</a:t>
            </a:r>
          </a:p>
          <a:p>
            <a:pPr algn="l">
              <a:lnSpc>
                <a:spcPct val="100000"/>
              </a:lnSpc>
              <a:spcAft>
                <a:spcPts val="800"/>
              </a:spcAft>
            </a:pPr>
            <a:r>
              <a:rPr sz="1600" b="0" i="0">
                <a:solidFill>
                  <a:srgbClr val="FF5C7A"/>
                </a:solidFill>
                <a:latin typeface="Calibri"/>
              </a:rPr>
              <a:t>d = 1:  16⁻¹ ≈ 6 × 10⁻²   ✗</a:t>
            </a:r>
          </a:p>
          <a:p>
            <a:pPr algn="l">
              <a:lnSpc>
                <a:spcPct val="100000"/>
              </a:lnSpc>
              <a:spcAft>
                <a:spcPts val="800"/>
              </a:spcAft>
            </a:pPr>
            <a:r>
              <a:rPr sz="1600" b="0" i="0">
                <a:solidFill>
                  <a:srgbClr val="FF5C7A"/>
                </a:solidFill>
                <a:latin typeface="Calibri"/>
              </a:rPr>
              <a:t>d = 2:  16⁻² ≈ 4 × 10⁻³   ✗</a:t>
            </a:r>
          </a:p>
          <a:p>
            <a:pPr algn="l">
              <a:lnSpc>
                <a:spcPct val="100000"/>
              </a:lnSpc>
              <a:spcAft>
                <a:spcPts val="800"/>
              </a:spcAft>
            </a:pPr>
            <a:r>
              <a:rPr sz="1600" b="0" i="0">
                <a:solidFill>
                  <a:srgbClr val="FFB454"/>
                </a:solidFill>
                <a:latin typeface="Calibri"/>
              </a:rPr>
              <a:t>d = 3:  16⁻³ ≈ 2.4 × 10⁻⁴   ✗ (close)</a:t>
            </a:r>
          </a:p>
          <a:p>
            <a:pPr algn="l">
              <a:lnSpc>
                <a:spcPct val="100000"/>
              </a:lnSpc>
              <a:spcAft>
                <a:spcPts val="800"/>
              </a:spcAft>
            </a:pPr>
            <a:r>
              <a:rPr sz="1600" b="1" i="0">
                <a:solidFill>
                  <a:srgbClr val="3DDC97"/>
                </a:solidFill>
                <a:latin typeface="Calibri"/>
              </a:rPr>
              <a:t>d = 4:  16⁻⁴ ≈ 1.5 × 10⁻⁵   ≈ target → pick d = 4, e.g. 2×2 MIMO</a:t>
            </a:r>
          </a:p>
        </p:txBody>
      </p:sp>
      <p:sp>
        <p:nvSpPr>
          <p:cNvPr id="10" name="Rounded Rectangle 9"/>
          <p:cNvSpPr/>
          <p:nvPr/>
        </p:nvSpPr>
        <p:spPr>
          <a:xfrm>
            <a:off x="7498079" y="3108960"/>
            <a:ext cx="4160520" cy="29718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7" y="3255264"/>
            <a:ext cx="375818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Design takeaway</a:t>
            </a:r>
          </a:p>
        </p:txBody>
      </p:sp>
      <p:sp>
        <p:nvSpPr>
          <p:cNvPr id="12" name="TextBox 11"/>
          <p:cNvSpPr txBox="1"/>
          <p:nvPr/>
        </p:nvSpPr>
        <p:spPr>
          <a:xfrm>
            <a:off x="7772400" y="3657600"/>
            <a:ext cx="3657600" cy="2286000"/>
          </a:xfrm>
          <a:prstGeom prst="rect">
            <a:avLst/>
          </a:prstGeom>
          <a:noFill/>
        </p:spPr>
        <p:txBody>
          <a:bodyPr wrap="square" lIns="0" tIns="0" rIns="0" bIns="0" anchor="t">
            <a:spAutoFit/>
          </a:bodyPr>
          <a:lstStyle/>
          <a:p>
            <a:pPr algn="l">
              <a:lnSpc>
                <a:spcPct val="100000"/>
              </a:lnSpc>
              <a:spcAft>
                <a:spcPts val="600"/>
              </a:spcAft>
            </a:pPr>
            <a:r>
              <a:rPr sz="1450" b="0" i="0" dirty="0">
                <a:solidFill>
                  <a:srgbClr val="E8EAF6"/>
                </a:solidFill>
                <a:latin typeface="Calibri"/>
              </a:rPr>
              <a:t>When the power budget is locked, diversity order is the only dial left.
A 2×2 link (d = 4) meets a target that no amount of realistic coding gain could rescue at d = 1.</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FFB454"/>
                </a:solidFill>
                <a:latin typeface="Calibri"/>
              </a:rPr>
              <a:t>CHECKPOINT QUIZ</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3 — Your Turn</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Q1.  </a:t>
            </a:r>
            <a:r>
              <a:rPr sz="1600" b="1" i="0">
                <a:solidFill>
                  <a:srgbClr val="E8EAF6"/>
                </a:solidFill>
                <a:latin typeface="Calibri"/>
              </a:rPr>
              <a:t>Match: 1×4 MRC receiver. Diversity order = ?</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1      (b) 2      (c) 4      (d) 8</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Q2.  </a:t>
            </a:r>
            <a:r>
              <a:rPr sz="1600" b="1" i="0">
                <a:solidFill>
                  <a:srgbClr val="E8EAF6"/>
                </a:solidFill>
                <a:latin typeface="Calibri"/>
              </a:rPr>
              <a:t>A 3×1 MISO with Alamouti-style STBC (no CSI at TX) achieves…</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d = 0, STBC needs CSI      (b) d = 3      (c) d = 1      (d) d depends on the receiver count only</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Q3.  </a:t>
            </a:r>
            <a:r>
              <a:rPr sz="1600" b="1" i="0">
                <a:solidFill>
                  <a:srgbClr val="E8EAF6"/>
                </a:solidFill>
                <a:latin typeface="Calibri"/>
              </a:rPr>
              <a:t>Trap: MISO with NO channel knowledge and NO space-time code, same symbol on all antennas, gives…</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full d = Nt      (b) beams may cancel — no guaranteed diversity      (c) d = Nt²      (d) lower noise</a:t>
            </a:r>
          </a:p>
        </p:txBody>
      </p:sp>
      <p:sp>
        <p:nvSpPr>
          <p:cNvPr id="13" name="TextBox 12"/>
          <p:cNvSpPr txBox="1"/>
          <p:nvPr/>
        </p:nvSpPr>
        <p:spPr>
          <a:xfrm>
            <a:off x="502920" y="6355080"/>
            <a:ext cx="8229600" cy="274320"/>
          </a:xfrm>
          <a:prstGeom prst="rect">
            <a:avLst/>
          </a:prstGeom>
          <a:noFill/>
        </p:spPr>
        <p:txBody>
          <a:bodyPr wrap="square" lIns="0" tIns="0" rIns="0" bIns="0" anchor="t">
            <a:spAutoFit/>
          </a:bodyPr>
          <a:lstStyle/>
          <a:p>
            <a:pPr algn="l">
              <a:lnSpc>
                <a:spcPct val="100000"/>
              </a:lnSpc>
              <a:spcAft>
                <a:spcPts val="600"/>
              </a:spcAft>
            </a:pPr>
            <a:r>
              <a:rPr sz="1250" b="0" i="0">
                <a:solidFill>
                  <a:srgbClr val="FFB454"/>
                </a:solidFill>
                <a:latin typeface="Calibri"/>
              </a:rPr>
              <a:t>Answers on the next slide — commit before you flip!</a:t>
            </a:r>
          </a:p>
        </p:txBody>
      </p:sp>
      <p:sp>
        <p:nvSpPr>
          <p:cNvPr id="14" name="TextBox 13"/>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ANSWERS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3 — Answers</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A1.  (c) 4</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SIMO with MRC: d = Nr = 4. Count the independent ears.</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A2.  (b) d = 3</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That's the magic of STBC: full transmit diversity without the transmitter knowing h.</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A3.  (b) no guaranteed diversity</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Identical signals can add destructively — naive repetition across space is NOT diversity. Structure (STBC) is required.</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CHECKPOINT</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The Antenna Ladder So Far</a:t>
            </a:r>
          </a:p>
        </p:txBody>
      </p:sp>
      <p:sp>
        <p:nvSpPr>
          <p:cNvPr id="4" name="Rounded Rectangle 3"/>
          <p:cNvSpPr/>
          <p:nvPr/>
        </p:nvSpPr>
        <p:spPr>
          <a:xfrm>
            <a:off x="640080" y="4846320"/>
            <a:ext cx="260604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956048"/>
            <a:ext cx="2606040" cy="411480"/>
          </a:xfrm>
          <a:prstGeom prst="rect">
            <a:avLst/>
          </a:prstGeom>
          <a:noFill/>
        </p:spPr>
        <p:txBody>
          <a:bodyPr wrap="square" lIns="0" tIns="0" rIns="0" bIns="0" anchor="t">
            <a:spAutoFit/>
          </a:bodyPr>
          <a:lstStyle/>
          <a:p>
            <a:pPr algn="ctr">
              <a:lnSpc>
                <a:spcPct val="100000"/>
              </a:lnSpc>
              <a:spcAft>
                <a:spcPts val="600"/>
              </a:spcAft>
            </a:pPr>
            <a:r>
              <a:rPr sz="2200" b="1" i="0">
                <a:solidFill>
                  <a:srgbClr val="FF5C7A"/>
                </a:solidFill>
                <a:latin typeface="Cambria"/>
              </a:rPr>
              <a:t>SISO</a:t>
            </a:r>
          </a:p>
        </p:txBody>
      </p:sp>
      <p:sp>
        <p:nvSpPr>
          <p:cNvPr id="6" name="TextBox 5"/>
          <p:cNvSpPr txBox="1"/>
          <p:nvPr/>
        </p:nvSpPr>
        <p:spPr>
          <a:xfrm>
            <a:off x="640080" y="5413248"/>
            <a:ext cx="2606040" cy="320040"/>
          </a:xfrm>
          <a:prstGeom prst="rect">
            <a:avLst/>
          </a:prstGeom>
          <a:noFill/>
        </p:spPr>
        <p:txBody>
          <a:bodyPr wrap="square" lIns="0" tIns="0" rIns="0" bIns="0" anchor="t">
            <a:spAutoFit/>
          </a:bodyPr>
          <a:lstStyle/>
          <a:p>
            <a:pPr algn="ctr">
              <a:lnSpc>
                <a:spcPct val="100000"/>
              </a:lnSpc>
              <a:spcAft>
                <a:spcPts val="600"/>
              </a:spcAft>
            </a:pPr>
            <a:r>
              <a:rPr sz="1400" b="0" i="0">
                <a:solidFill>
                  <a:srgbClr val="9AA3C0"/>
                </a:solidFill>
                <a:latin typeface="Calibri"/>
              </a:rPr>
              <a:t>1 × 1</a:t>
            </a:r>
          </a:p>
        </p:txBody>
      </p:sp>
      <p:sp>
        <p:nvSpPr>
          <p:cNvPr id="7" name="TextBox 6"/>
          <p:cNvSpPr txBox="1"/>
          <p:nvPr/>
        </p:nvSpPr>
        <p:spPr>
          <a:xfrm>
            <a:off x="640080" y="5742432"/>
            <a:ext cx="2606040" cy="411480"/>
          </a:xfrm>
          <a:prstGeom prst="rect">
            <a:avLst/>
          </a:prstGeom>
          <a:noFill/>
        </p:spPr>
        <p:txBody>
          <a:bodyPr wrap="square" lIns="0" tIns="0" rIns="0" bIns="0" anchor="t">
            <a:spAutoFit/>
          </a:bodyPr>
          <a:lstStyle/>
          <a:p>
            <a:pPr algn="ctr">
              <a:lnSpc>
                <a:spcPct val="100000"/>
              </a:lnSpc>
              <a:spcAft>
                <a:spcPts val="600"/>
              </a:spcAft>
            </a:pPr>
            <a:r>
              <a:rPr sz="1900" b="1" i="0">
                <a:solidFill>
                  <a:srgbClr val="E8EAF6"/>
                </a:solidFill>
                <a:latin typeface="Calibri"/>
              </a:rPr>
              <a:t>d = 1</a:t>
            </a:r>
          </a:p>
        </p:txBody>
      </p:sp>
      <p:cxnSp>
        <p:nvCxnSpPr>
          <p:cNvPr id="8" name="Connector 7"/>
          <p:cNvCxnSpPr/>
          <p:nvPr/>
        </p:nvCxnSpPr>
        <p:spPr>
          <a:xfrm flipV="1">
            <a:off x="3291840" y="4572000"/>
            <a:ext cx="411480" cy="731520"/>
          </a:xfrm>
          <a:prstGeom prst="line">
            <a:avLst/>
          </a:prstGeom>
          <a:ln w="3048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20439" y="3931920"/>
            <a:ext cx="260604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20439" y="4041648"/>
            <a:ext cx="2606040" cy="411480"/>
          </a:xfrm>
          <a:prstGeom prst="rect">
            <a:avLst/>
          </a:prstGeom>
          <a:noFill/>
        </p:spPr>
        <p:txBody>
          <a:bodyPr wrap="square" lIns="0" tIns="0" rIns="0" bIns="0" anchor="t">
            <a:spAutoFit/>
          </a:bodyPr>
          <a:lstStyle/>
          <a:p>
            <a:pPr algn="ctr">
              <a:lnSpc>
                <a:spcPct val="100000"/>
              </a:lnSpc>
              <a:spcAft>
                <a:spcPts val="600"/>
              </a:spcAft>
            </a:pPr>
            <a:r>
              <a:rPr sz="2200" b="1" i="0">
                <a:solidFill>
                  <a:srgbClr val="FFB454"/>
                </a:solidFill>
                <a:latin typeface="Cambria"/>
              </a:rPr>
              <a:t>SIMO</a:t>
            </a:r>
          </a:p>
        </p:txBody>
      </p:sp>
      <p:sp>
        <p:nvSpPr>
          <p:cNvPr id="11" name="TextBox 10"/>
          <p:cNvSpPr txBox="1"/>
          <p:nvPr/>
        </p:nvSpPr>
        <p:spPr>
          <a:xfrm>
            <a:off x="3520439" y="4498848"/>
            <a:ext cx="2606040" cy="320040"/>
          </a:xfrm>
          <a:prstGeom prst="rect">
            <a:avLst/>
          </a:prstGeom>
          <a:noFill/>
        </p:spPr>
        <p:txBody>
          <a:bodyPr wrap="square" lIns="0" tIns="0" rIns="0" bIns="0" anchor="t">
            <a:spAutoFit/>
          </a:bodyPr>
          <a:lstStyle/>
          <a:p>
            <a:pPr algn="ctr">
              <a:lnSpc>
                <a:spcPct val="100000"/>
              </a:lnSpc>
              <a:spcAft>
                <a:spcPts val="600"/>
              </a:spcAft>
            </a:pPr>
            <a:r>
              <a:rPr sz="1400" b="0" i="0">
                <a:solidFill>
                  <a:srgbClr val="9AA3C0"/>
                </a:solidFill>
                <a:latin typeface="Calibri"/>
              </a:rPr>
              <a:t>1 × Nr</a:t>
            </a:r>
          </a:p>
        </p:txBody>
      </p:sp>
      <p:sp>
        <p:nvSpPr>
          <p:cNvPr id="12" name="TextBox 11"/>
          <p:cNvSpPr txBox="1"/>
          <p:nvPr/>
        </p:nvSpPr>
        <p:spPr>
          <a:xfrm>
            <a:off x="3520439" y="4828032"/>
            <a:ext cx="2606040" cy="411480"/>
          </a:xfrm>
          <a:prstGeom prst="rect">
            <a:avLst/>
          </a:prstGeom>
          <a:noFill/>
        </p:spPr>
        <p:txBody>
          <a:bodyPr wrap="square" lIns="0" tIns="0" rIns="0" bIns="0" anchor="t">
            <a:spAutoFit/>
          </a:bodyPr>
          <a:lstStyle/>
          <a:p>
            <a:pPr algn="ctr">
              <a:lnSpc>
                <a:spcPct val="100000"/>
              </a:lnSpc>
              <a:spcAft>
                <a:spcPts val="600"/>
              </a:spcAft>
            </a:pPr>
            <a:r>
              <a:rPr sz="1900" b="1" i="0">
                <a:solidFill>
                  <a:srgbClr val="E8EAF6"/>
                </a:solidFill>
                <a:latin typeface="Calibri"/>
              </a:rPr>
              <a:t>d = Nr</a:t>
            </a:r>
          </a:p>
        </p:txBody>
      </p:sp>
      <p:cxnSp>
        <p:nvCxnSpPr>
          <p:cNvPr id="13" name="Connector 12"/>
          <p:cNvCxnSpPr/>
          <p:nvPr/>
        </p:nvCxnSpPr>
        <p:spPr>
          <a:xfrm flipV="1">
            <a:off x="6172199" y="3657600"/>
            <a:ext cx="411480" cy="731520"/>
          </a:xfrm>
          <a:prstGeom prst="line">
            <a:avLst/>
          </a:prstGeom>
          <a:ln w="3048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0" y="3017520"/>
            <a:ext cx="260604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3127248"/>
            <a:ext cx="2606040" cy="411480"/>
          </a:xfrm>
          <a:prstGeom prst="rect">
            <a:avLst/>
          </a:prstGeom>
          <a:noFill/>
        </p:spPr>
        <p:txBody>
          <a:bodyPr wrap="square" lIns="0" tIns="0" rIns="0" bIns="0" anchor="t">
            <a:spAutoFit/>
          </a:bodyPr>
          <a:lstStyle/>
          <a:p>
            <a:pPr algn="ctr">
              <a:lnSpc>
                <a:spcPct val="100000"/>
              </a:lnSpc>
              <a:spcAft>
                <a:spcPts val="600"/>
              </a:spcAft>
            </a:pPr>
            <a:r>
              <a:rPr sz="2200" b="1" i="0">
                <a:solidFill>
                  <a:srgbClr val="00E4FF"/>
                </a:solidFill>
                <a:latin typeface="Cambria"/>
              </a:rPr>
              <a:t>MISO</a:t>
            </a:r>
          </a:p>
        </p:txBody>
      </p:sp>
      <p:sp>
        <p:nvSpPr>
          <p:cNvPr id="16" name="TextBox 15"/>
          <p:cNvSpPr txBox="1"/>
          <p:nvPr/>
        </p:nvSpPr>
        <p:spPr>
          <a:xfrm>
            <a:off x="6400800" y="3584448"/>
            <a:ext cx="2606040" cy="320040"/>
          </a:xfrm>
          <a:prstGeom prst="rect">
            <a:avLst/>
          </a:prstGeom>
          <a:noFill/>
        </p:spPr>
        <p:txBody>
          <a:bodyPr wrap="square" lIns="0" tIns="0" rIns="0" bIns="0" anchor="t">
            <a:spAutoFit/>
          </a:bodyPr>
          <a:lstStyle/>
          <a:p>
            <a:pPr algn="ctr">
              <a:lnSpc>
                <a:spcPct val="100000"/>
              </a:lnSpc>
              <a:spcAft>
                <a:spcPts val="600"/>
              </a:spcAft>
            </a:pPr>
            <a:r>
              <a:rPr sz="1400" b="0" i="0">
                <a:solidFill>
                  <a:srgbClr val="9AA3C0"/>
                </a:solidFill>
                <a:latin typeface="Calibri"/>
              </a:rPr>
              <a:t>Nt × 1</a:t>
            </a:r>
          </a:p>
        </p:txBody>
      </p:sp>
      <p:sp>
        <p:nvSpPr>
          <p:cNvPr id="17" name="TextBox 16"/>
          <p:cNvSpPr txBox="1"/>
          <p:nvPr/>
        </p:nvSpPr>
        <p:spPr>
          <a:xfrm>
            <a:off x="6400800" y="3913632"/>
            <a:ext cx="2606040" cy="411480"/>
          </a:xfrm>
          <a:prstGeom prst="rect">
            <a:avLst/>
          </a:prstGeom>
          <a:noFill/>
        </p:spPr>
        <p:txBody>
          <a:bodyPr wrap="square" lIns="0" tIns="0" rIns="0" bIns="0" anchor="t">
            <a:spAutoFit/>
          </a:bodyPr>
          <a:lstStyle/>
          <a:p>
            <a:pPr algn="ctr">
              <a:lnSpc>
                <a:spcPct val="100000"/>
              </a:lnSpc>
              <a:spcAft>
                <a:spcPts val="600"/>
              </a:spcAft>
            </a:pPr>
            <a:r>
              <a:rPr sz="1900" b="1" i="0">
                <a:solidFill>
                  <a:srgbClr val="E8EAF6"/>
                </a:solidFill>
                <a:latin typeface="Calibri"/>
              </a:rPr>
              <a:t>d = Nt</a:t>
            </a:r>
          </a:p>
        </p:txBody>
      </p:sp>
      <p:cxnSp>
        <p:nvCxnSpPr>
          <p:cNvPr id="18" name="Connector 17"/>
          <p:cNvCxnSpPr/>
          <p:nvPr/>
        </p:nvCxnSpPr>
        <p:spPr>
          <a:xfrm flipV="1">
            <a:off x="9052560" y="2743200"/>
            <a:ext cx="411480" cy="731520"/>
          </a:xfrm>
          <a:prstGeom prst="line">
            <a:avLst/>
          </a:prstGeom>
          <a:ln w="3048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281159" y="2103120"/>
            <a:ext cx="260604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81159" y="2212848"/>
            <a:ext cx="2606040" cy="411480"/>
          </a:xfrm>
          <a:prstGeom prst="rect">
            <a:avLst/>
          </a:prstGeom>
          <a:noFill/>
        </p:spPr>
        <p:txBody>
          <a:bodyPr wrap="square" lIns="0" tIns="0" rIns="0" bIns="0" anchor="t">
            <a:spAutoFit/>
          </a:bodyPr>
          <a:lstStyle/>
          <a:p>
            <a:pPr algn="ctr">
              <a:lnSpc>
                <a:spcPct val="100000"/>
              </a:lnSpc>
              <a:spcAft>
                <a:spcPts val="600"/>
              </a:spcAft>
            </a:pPr>
            <a:r>
              <a:rPr sz="2200" b="1" i="0">
                <a:solidFill>
                  <a:srgbClr val="3DDC97"/>
                </a:solidFill>
                <a:latin typeface="Cambria"/>
              </a:rPr>
              <a:t>MIMO</a:t>
            </a:r>
          </a:p>
        </p:txBody>
      </p:sp>
      <p:sp>
        <p:nvSpPr>
          <p:cNvPr id="21" name="TextBox 20"/>
          <p:cNvSpPr txBox="1"/>
          <p:nvPr/>
        </p:nvSpPr>
        <p:spPr>
          <a:xfrm>
            <a:off x="9281159" y="2670048"/>
            <a:ext cx="2606040" cy="320040"/>
          </a:xfrm>
          <a:prstGeom prst="rect">
            <a:avLst/>
          </a:prstGeom>
          <a:noFill/>
        </p:spPr>
        <p:txBody>
          <a:bodyPr wrap="square" lIns="0" tIns="0" rIns="0" bIns="0" anchor="t">
            <a:spAutoFit/>
          </a:bodyPr>
          <a:lstStyle/>
          <a:p>
            <a:pPr algn="ctr">
              <a:lnSpc>
                <a:spcPct val="100000"/>
              </a:lnSpc>
              <a:spcAft>
                <a:spcPts val="600"/>
              </a:spcAft>
            </a:pPr>
            <a:r>
              <a:rPr sz="1400" b="0" i="0">
                <a:solidFill>
                  <a:srgbClr val="9AA3C0"/>
                </a:solidFill>
                <a:latin typeface="Calibri"/>
              </a:rPr>
              <a:t>Nt × Nr</a:t>
            </a:r>
          </a:p>
        </p:txBody>
      </p:sp>
      <p:sp>
        <p:nvSpPr>
          <p:cNvPr id="22" name="TextBox 21"/>
          <p:cNvSpPr txBox="1"/>
          <p:nvPr/>
        </p:nvSpPr>
        <p:spPr>
          <a:xfrm>
            <a:off x="9281159" y="2999232"/>
            <a:ext cx="2606040" cy="411480"/>
          </a:xfrm>
          <a:prstGeom prst="rect">
            <a:avLst/>
          </a:prstGeom>
          <a:noFill/>
        </p:spPr>
        <p:txBody>
          <a:bodyPr wrap="square" lIns="0" tIns="0" rIns="0" bIns="0" anchor="t">
            <a:spAutoFit/>
          </a:bodyPr>
          <a:lstStyle/>
          <a:p>
            <a:pPr algn="ctr">
              <a:lnSpc>
                <a:spcPct val="100000"/>
              </a:lnSpc>
              <a:spcAft>
                <a:spcPts val="600"/>
              </a:spcAft>
            </a:pPr>
            <a:r>
              <a:rPr sz="1900" b="1" i="0">
                <a:solidFill>
                  <a:srgbClr val="E8EAF6"/>
                </a:solidFill>
                <a:latin typeface="Calibri"/>
              </a:rPr>
              <a:t>d = ?</a:t>
            </a:r>
          </a:p>
        </p:txBody>
      </p:sp>
      <p:sp>
        <p:nvSpPr>
          <p:cNvPr id="23" name="TextBox 22"/>
          <p:cNvSpPr txBox="1"/>
          <p:nvPr/>
        </p:nvSpPr>
        <p:spPr>
          <a:xfrm>
            <a:off x="640080" y="6035040"/>
            <a:ext cx="10972800" cy="457200"/>
          </a:xfrm>
          <a:prstGeom prst="rect">
            <a:avLst/>
          </a:prstGeom>
          <a:noFill/>
        </p:spPr>
        <p:txBody>
          <a:bodyPr wrap="square" lIns="0" tIns="0" rIns="0" bIns="0" anchor="t">
            <a:spAutoFit/>
          </a:bodyPr>
          <a:lstStyle/>
          <a:p>
            <a:pPr algn="ctr">
              <a:lnSpc>
                <a:spcPct val="100000"/>
              </a:lnSpc>
              <a:spcAft>
                <a:spcPts val="600"/>
              </a:spcAft>
            </a:pPr>
            <a:r>
              <a:rPr sz="1600" b="1" i="0">
                <a:solidFill>
                  <a:srgbClr val="FFB454"/>
                </a:solidFill>
                <a:latin typeface="Calibri"/>
              </a:rPr>
              <a:t>Next: the top rung. Spoiler — it's not d = Nt + Nr…</a:t>
            </a:r>
          </a:p>
        </p:txBody>
      </p:sp>
      <p:sp>
        <p:nvSpPr>
          <p:cNvPr id="24" name="TextBox 23"/>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MIMO · NEW LANGUAGE</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From Symbols to Matrices</a:t>
            </a:r>
          </a:p>
        </p:txBody>
      </p:sp>
      <p:sp>
        <p:nvSpPr>
          <p:cNvPr id="4" name="TextBox 3"/>
          <p:cNvSpPr txBox="1"/>
          <p:nvPr/>
        </p:nvSpPr>
        <p:spPr>
          <a:xfrm>
            <a:off x="502920" y="1828800"/>
            <a:ext cx="5486400" cy="3931920"/>
          </a:xfrm>
          <a:prstGeom prst="rect">
            <a:avLst/>
          </a:prstGeom>
          <a:noFill/>
        </p:spPr>
        <p:txBody>
          <a:bodyPr wrap="square" lIns="0" tIns="0" rIns="0" bIns="0" anchor="t">
            <a:spAutoFit/>
          </a:bodyPr>
          <a:lstStyle/>
          <a:p>
            <a:pPr algn="l">
              <a:lnSpc>
                <a:spcPct val="105000"/>
              </a:lnSpc>
              <a:spcAft>
                <a:spcPts val="1300"/>
              </a:spcAft>
            </a:pPr>
            <a:r>
              <a:rPr sz="1550" b="1" i="0">
                <a:solidFill>
                  <a:srgbClr val="7C5CFF"/>
                </a:solidFill>
                <a:latin typeface="Calibri"/>
              </a:rPr>
              <a:t>›  </a:t>
            </a:r>
            <a:r>
              <a:rPr sz="1550" b="0" i="0">
                <a:solidFill>
                  <a:srgbClr val="E8EAF6"/>
                </a:solidFill>
                <a:latin typeface="Calibri"/>
              </a:rPr>
              <a:t>With Nt antennas and T time slots, one 'codeword' is an Nt × T MATRIX X.</a:t>
            </a:r>
          </a:p>
          <a:p>
            <a:pPr algn="l">
              <a:lnSpc>
                <a:spcPct val="105000"/>
              </a:lnSpc>
              <a:spcAft>
                <a:spcPts val="1300"/>
              </a:spcAft>
            </a:pPr>
            <a:r>
              <a:rPr sz="1550" b="1" i="0">
                <a:solidFill>
                  <a:srgbClr val="7C5CFF"/>
                </a:solidFill>
                <a:latin typeface="Calibri"/>
              </a:rPr>
              <a:t>›  </a:t>
            </a:r>
            <a:r>
              <a:rPr sz="1550" b="0" i="0">
                <a:solidFill>
                  <a:srgbClr val="E8EAF6"/>
                </a:solidFill>
                <a:latin typeface="Calibri"/>
              </a:rPr>
              <a:t>Rows = antennas, columns = time slots.</a:t>
            </a:r>
          </a:p>
          <a:p>
            <a:pPr algn="l">
              <a:lnSpc>
                <a:spcPct val="105000"/>
              </a:lnSpc>
              <a:spcAft>
                <a:spcPts val="1300"/>
              </a:spcAft>
            </a:pPr>
            <a:r>
              <a:rPr sz="1550" b="1" i="0">
                <a:solidFill>
                  <a:srgbClr val="7C5CFF"/>
                </a:solidFill>
                <a:latin typeface="Calibri"/>
              </a:rPr>
              <a:t>›  </a:t>
            </a:r>
            <a:r>
              <a:rPr sz="1550" b="0" i="0">
                <a:solidFill>
                  <a:srgbClr val="E8EAF6"/>
                </a:solidFill>
                <a:latin typeface="Calibri"/>
              </a:rPr>
              <a:t>The constellation is now a set of matrices — a matrix constellation.</a:t>
            </a:r>
          </a:p>
          <a:p>
            <a:pPr algn="l">
              <a:lnSpc>
                <a:spcPct val="105000"/>
              </a:lnSpc>
              <a:spcAft>
                <a:spcPts val="1300"/>
              </a:spcAft>
            </a:pPr>
            <a:r>
              <a:rPr sz="1550" b="1" i="0">
                <a:solidFill>
                  <a:srgbClr val="7C5CFF"/>
                </a:solidFill>
                <a:latin typeface="Calibri"/>
              </a:rPr>
              <a:t>›  </a:t>
            </a:r>
            <a:r>
              <a:rPr sz="1550" b="0" i="0">
                <a:solidFill>
                  <a:srgbClr val="00E4FF"/>
                </a:solidFill>
                <a:latin typeface="Calibri"/>
              </a:rPr>
              <a:t>Alamouti: 2 antennas × 2 slots carrying 2 symbols and their conjugate twists.</a:t>
            </a:r>
          </a:p>
        </p:txBody>
      </p:sp>
      <p:sp>
        <p:nvSpPr>
          <p:cNvPr id="5" name="Rounded Rectangle 4"/>
          <p:cNvSpPr/>
          <p:nvPr/>
        </p:nvSpPr>
        <p:spPr>
          <a:xfrm>
            <a:off x="6400800" y="1783080"/>
            <a:ext cx="525780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01968" y="192938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Alamouti codeword X (2 × 2)</a:t>
            </a:r>
          </a:p>
        </p:txBody>
      </p:sp>
      <p:sp>
        <p:nvSpPr>
          <p:cNvPr id="7" name="TextBox 6"/>
          <p:cNvSpPr txBox="1"/>
          <p:nvPr/>
        </p:nvSpPr>
        <p:spPr>
          <a:xfrm>
            <a:off x="6720840" y="2788920"/>
            <a:ext cx="868680" cy="365760"/>
          </a:xfrm>
          <a:prstGeom prst="rect">
            <a:avLst/>
          </a:prstGeom>
          <a:noFill/>
        </p:spPr>
        <p:txBody>
          <a:bodyPr wrap="square" lIns="0" tIns="0" rIns="0" bIns="0" anchor="t">
            <a:spAutoFit/>
          </a:bodyPr>
          <a:lstStyle/>
          <a:p>
            <a:pPr algn="l">
              <a:lnSpc>
                <a:spcPct val="100000"/>
              </a:lnSpc>
              <a:spcAft>
                <a:spcPts val="600"/>
              </a:spcAft>
            </a:pPr>
            <a:r>
              <a:rPr sz="1300" b="0" i="0">
                <a:solidFill>
                  <a:srgbClr val="9AA3C0"/>
                </a:solidFill>
                <a:latin typeface="Calibri"/>
              </a:rPr>
              <a:t>ant 1</a:t>
            </a:r>
          </a:p>
        </p:txBody>
      </p:sp>
      <p:sp>
        <p:nvSpPr>
          <p:cNvPr id="8" name="Rounded Rectangle 7"/>
          <p:cNvSpPr/>
          <p:nvPr/>
        </p:nvSpPr>
        <p:spPr>
          <a:xfrm>
            <a:off x="7772400" y="2560320"/>
            <a:ext cx="1463040" cy="91440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0" y="2807208"/>
            <a:ext cx="1463040" cy="457200"/>
          </a:xfrm>
          <a:prstGeom prst="rect">
            <a:avLst/>
          </a:prstGeom>
          <a:noFill/>
        </p:spPr>
        <p:txBody>
          <a:bodyPr wrap="square" lIns="0" tIns="0" rIns="0" bIns="0" anchor="t">
            <a:spAutoFit/>
          </a:bodyPr>
          <a:lstStyle/>
          <a:p>
            <a:pPr algn="ctr">
              <a:lnSpc>
                <a:spcPct val="100000"/>
              </a:lnSpc>
              <a:spcAft>
                <a:spcPts val="600"/>
              </a:spcAft>
            </a:pPr>
            <a:r>
              <a:rPr sz="2200" b="1" i="0">
                <a:solidFill>
                  <a:srgbClr val="E8EAF6"/>
                </a:solidFill>
                <a:latin typeface="Cambria"/>
              </a:rPr>
              <a:t>s₁</a:t>
            </a:r>
          </a:p>
        </p:txBody>
      </p:sp>
      <p:sp>
        <p:nvSpPr>
          <p:cNvPr id="10" name="Rounded Rectangle 9"/>
          <p:cNvSpPr/>
          <p:nvPr/>
        </p:nvSpPr>
        <p:spPr>
          <a:xfrm>
            <a:off x="9464040" y="2560320"/>
            <a:ext cx="1463040" cy="91440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64040" y="2807208"/>
            <a:ext cx="1463040" cy="457200"/>
          </a:xfrm>
          <a:prstGeom prst="rect">
            <a:avLst/>
          </a:prstGeom>
          <a:noFill/>
        </p:spPr>
        <p:txBody>
          <a:bodyPr wrap="square" lIns="0" tIns="0" rIns="0" bIns="0" anchor="t">
            <a:spAutoFit/>
          </a:bodyPr>
          <a:lstStyle/>
          <a:p>
            <a:pPr algn="ctr">
              <a:lnSpc>
                <a:spcPct val="100000"/>
              </a:lnSpc>
              <a:spcAft>
                <a:spcPts val="600"/>
              </a:spcAft>
            </a:pPr>
            <a:r>
              <a:rPr sz="2200" b="1" i="0">
                <a:solidFill>
                  <a:srgbClr val="E8EAF6"/>
                </a:solidFill>
                <a:latin typeface="Cambria"/>
              </a:rPr>
              <a:t>−s₂*</a:t>
            </a:r>
          </a:p>
        </p:txBody>
      </p:sp>
      <p:sp>
        <p:nvSpPr>
          <p:cNvPr id="12" name="TextBox 11"/>
          <p:cNvSpPr txBox="1"/>
          <p:nvPr/>
        </p:nvSpPr>
        <p:spPr>
          <a:xfrm>
            <a:off x="6720840" y="3931920"/>
            <a:ext cx="868680" cy="365760"/>
          </a:xfrm>
          <a:prstGeom prst="rect">
            <a:avLst/>
          </a:prstGeom>
          <a:noFill/>
        </p:spPr>
        <p:txBody>
          <a:bodyPr wrap="square" lIns="0" tIns="0" rIns="0" bIns="0" anchor="t">
            <a:spAutoFit/>
          </a:bodyPr>
          <a:lstStyle/>
          <a:p>
            <a:pPr algn="l">
              <a:lnSpc>
                <a:spcPct val="100000"/>
              </a:lnSpc>
              <a:spcAft>
                <a:spcPts val="600"/>
              </a:spcAft>
            </a:pPr>
            <a:r>
              <a:rPr sz="1300" b="0" i="0">
                <a:solidFill>
                  <a:srgbClr val="9AA3C0"/>
                </a:solidFill>
                <a:latin typeface="Calibri"/>
              </a:rPr>
              <a:t>ant 2</a:t>
            </a:r>
          </a:p>
        </p:txBody>
      </p:sp>
      <p:sp>
        <p:nvSpPr>
          <p:cNvPr id="13" name="Rounded Rectangle 12"/>
          <p:cNvSpPr/>
          <p:nvPr/>
        </p:nvSpPr>
        <p:spPr>
          <a:xfrm>
            <a:off x="7772400" y="3703320"/>
            <a:ext cx="1463040" cy="91440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3950208"/>
            <a:ext cx="1463040" cy="457200"/>
          </a:xfrm>
          <a:prstGeom prst="rect">
            <a:avLst/>
          </a:prstGeom>
          <a:noFill/>
        </p:spPr>
        <p:txBody>
          <a:bodyPr wrap="square" lIns="0" tIns="0" rIns="0" bIns="0" anchor="t">
            <a:spAutoFit/>
          </a:bodyPr>
          <a:lstStyle/>
          <a:p>
            <a:pPr algn="ctr">
              <a:lnSpc>
                <a:spcPct val="100000"/>
              </a:lnSpc>
              <a:spcAft>
                <a:spcPts val="600"/>
              </a:spcAft>
            </a:pPr>
            <a:r>
              <a:rPr sz="2200" b="1" i="0">
                <a:solidFill>
                  <a:srgbClr val="E8EAF6"/>
                </a:solidFill>
                <a:latin typeface="Cambria"/>
              </a:rPr>
              <a:t>s₂</a:t>
            </a:r>
          </a:p>
        </p:txBody>
      </p:sp>
      <p:sp>
        <p:nvSpPr>
          <p:cNvPr id="15" name="Rounded Rectangle 14"/>
          <p:cNvSpPr/>
          <p:nvPr/>
        </p:nvSpPr>
        <p:spPr>
          <a:xfrm>
            <a:off x="9464040" y="3703320"/>
            <a:ext cx="1463040" cy="914400"/>
          </a:xfrm>
          <a:prstGeom prst="roundRect">
            <a:avLst>
              <a:gd name="adj" fmla="val 8000"/>
            </a:avLst>
          </a:prstGeom>
          <a:solidFill>
            <a:srgbClr val="182244"/>
          </a:solidFill>
          <a:ln w="12700">
            <a:solidFill>
              <a:srgbClr val="00E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40" y="3950208"/>
            <a:ext cx="1463040" cy="457200"/>
          </a:xfrm>
          <a:prstGeom prst="rect">
            <a:avLst/>
          </a:prstGeom>
          <a:noFill/>
        </p:spPr>
        <p:txBody>
          <a:bodyPr wrap="square" lIns="0" tIns="0" rIns="0" bIns="0" anchor="t">
            <a:spAutoFit/>
          </a:bodyPr>
          <a:lstStyle/>
          <a:p>
            <a:pPr algn="ctr">
              <a:lnSpc>
                <a:spcPct val="100000"/>
              </a:lnSpc>
              <a:spcAft>
                <a:spcPts val="600"/>
              </a:spcAft>
            </a:pPr>
            <a:r>
              <a:rPr sz="2200" b="1" i="0">
                <a:solidFill>
                  <a:srgbClr val="E8EAF6"/>
                </a:solidFill>
                <a:latin typeface="Cambria"/>
              </a:rPr>
              <a:t>s₁*</a:t>
            </a:r>
          </a:p>
        </p:txBody>
      </p:sp>
      <p:sp>
        <p:nvSpPr>
          <p:cNvPr id="17" name="TextBox 16"/>
          <p:cNvSpPr txBox="1"/>
          <p:nvPr/>
        </p:nvSpPr>
        <p:spPr>
          <a:xfrm>
            <a:off x="7772400" y="2194560"/>
            <a:ext cx="1463040" cy="320040"/>
          </a:xfrm>
          <a:prstGeom prst="rect">
            <a:avLst/>
          </a:prstGeom>
          <a:noFill/>
        </p:spPr>
        <p:txBody>
          <a:bodyPr wrap="square" lIns="0" tIns="0" rIns="0" bIns="0" anchor="t">
            <a:spAutoFit/>
          </a:bodyPr>
          <a:lstStyle/>
          <a:p>
            <a:pPr algn="ctr">
              <a:lnSpc>
                <a:spcPct val="100000"/>
              </a:lnSpc>
              <a:spcAft>
                <a:spcPts val="600"/>
              </a:spcAft>
            </a:pPr>
            <a:r>
              <a:rPr sz="1300" b="0" i="0">
                <a:solidFill>
                  <a:srgbClr val="9AA3C0"/>
                </a:solidFill>
                <a:latin typeface="Calibri"/>
              </a:rPr>
              <a:t>slot 1</a:t>
            </a:r>
          </a:p>
        </p:txBody>
      </p:sp>
      <p:sp>
        <p:nvSpPr>
          <p:cNvPr id="18" name="TextBox 17"/>
          <p:cNvSpPr txBox="1"/>
          <p:nvPr/>
        </p:nvSpPr>
        <p:spPr>
          <a:xfrm>
            <a:off x="9464040" y="2194560"/>
            <a:ext cx="1463040" cy="320040"/>
          </a:xfrm>
          <a:prstGeom prst="rect">
            <a:avLst/>
          </a:prstGeom>
          <a:noFill/>
        </p:spPr>
        <p:txBody>
          <a:bodyPr wrap="square" lIns="0" tIns="0" rIns="0" bIns="0" anchor="t">
            <a:spAutoFit/>
          </a:bodyPr>
          <a:lstStyle/>
          <a:p>
            <a:pPr algn="ctr">
              <a:lnSpc>
                <a:spcPct val="100000"/>
              </a:lnSpc>
              <a:spcAft>
                <a:spcPts val="600"/>
              </a:spcAft>
            </a:pPr>
            <a:r>
              <a:rPr sz="1300" b="0" i="0">
                <a:solidFill>
                  <a:srgbClr val="9AA3C0"/>
                </a:solidFill>
                <a:latin typeface="Calibri"/>
              </a:rPr>
              <a:t>slot 2</a:t>
            </a:r>
          </a:p>
        </p:txBody>
      </p:sp>
      <p:sp>
        <p:nvSpPr>
          <p:cNvPr id="19" name="TextBox 18"/>
          <p:cNvSpPr txBox="1"/>
          <p:nvPr/>
        </p:nvSpPr>
        <p:spPr>
          <a:xfrm>
            <a:off x="6675120" y="5074920"/>
            <a:ext cx="4754880" cy="822960"/>
          </a:xfrm>
          <a:prstGeom prst="rect">
            <a:avLst/>
          </a:prstGeom>
          <a:noFill/>
        </p:spPr>
        <p:txBody>
          <a:bodyPr wrap="square" lIns="0" tIns="0" rIns="0" bIns="0" anchor="t">
            <a:spAutoFit/>
          </a:bodyPr>
          <a:lstStyle/>
          <a:p>
            <a:pPr algn="l">
              <a:lnSpc>
                <a:spcPct val="100000"/>
              </a:lnSpc>
              <a:spcAft>
                <a:spcPts val="600"/>
              </a:spcAft>
            </a:pPr>
            <a:r>
              <a:rPr sz="1350" b="0" i="0">
                <a:solidFill>
                  <a:srgbClr val="9AA3C0"/>
                </a:solidFill>
                <a:latin typeface="Calibri"/>
              </a:rPr>
              <a:t>Each codeword pair stays maximally 'far apart' no matter how the channel rotates it — that's the property we'll now quantify.</a:t>
            </a:r>
          </a:p>
        </p:txBody>
      </p:sp>
      <p:sp>
        <p:nvSpPr>
          <p:cNvPr id="20" name="TextBox 1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PEP</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Total BER Is Hard — Compare Two at a Time</a:t>
            </a:r>
          </a:p>
        </p:txBody>
      </p:sp>
      <p:sp>
        <p:nvSpPr>
          <p:cNvPr id="4" name="Rounded Rectangle 3"/>
          <p:cNvSpPr/>
          <p:nvPr/>
        </p:nvSpPr>
        <p:spPr>
          <a:xfrm>
            <a:off x="502920" y="1737360"/>
            <a:ext cx="557784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Pairwise Error Probability</a:t>
            </a:r>
          </a:p>
        </p:txBody>
      </p:sp>
      <p:sp>
        <p:nvSpPr>
          <p:cNvPr id="6" name="TextBox 5"/>
          <p:cNvSpPr txBox="1"/>
          <p:nvPr/>
        </p:nvSpPr>
        <p:spPr>
          <a:xfrm>
            <a:off x="777240" y="2286000"/>
            <a:ext cx="5029200" cy="3474720"/>
          </a:xfrm>
          <a:prstGeom prst="rect">
            <a:avLst/>
          </a:prstGeom>
          <a:noFill/>
        </p:spPr>
        <p:txBody>
          <a:bodyPr wrap="square" lIns="0" tIns="0" rIns="0" bIns="0" anchor="t">
            <a:spAutoFit/>
          </a:bodyPr>
          <a:lstStyle/>
          <a:p>
            <a:pPr algn="l">
              <a:lnSpc>
                <a:spcPct val="105000"/>
              </a:lnSpc>
              <a:spcAft>
                <a:spcPts val="1100"/>
              </a:spcAft>
            </a:pPr>
            <a:r>
              <a:rPr sz="1500" b="1" i="0">
                <a:solidFill>
                  <a:srgbClr val="7C5CFF"/>
                </a:solidFill>
                <a:latin typeface="Calibri"/>
              </a:rPr>
              <a:t>›  </a:t>
            </a:r>
            <a:r>
              <a:rPr sz="1500" b="1" i="0">
                <a:solidFill>
                  <a:srgbClr val="E8EAF6"/>
                </a:solidFill>
                <a:latin typeface="Calibri"/>
              </a:rPr>
              <a:t>PEP = P(X → X̂):  sent X, decoder picked X̂</a:t>
            </a:r>
          </a:p>
          <a:p>
            <a:pPr algn="l">
              <a:lnSpc>
                <a:spcPct val="105000"/>
              </a:lnSpc>
              <a:spcAft>
                <a:spcPts val="1100"/>
              </a:spcAft>
            </a:pPr>
            <a:r>
              <a:rPr sz="1500" b="1" i="0">
                <a:solidFill>
                  <a:srgbClr val="7C5CFF"/>
                </a:solidFill>
                <a:latin typeface="Calibri"/>
              </a:rPr>
              <a:t>›  </a:t>
            </a:r>
            <a:r>
              <a:rPr sz="1500" b="0" i="0">
                <a:solidFill>
                  <a:srgbClr val="E8EAF6"/>
                </a:solidFill>
                <a:latin typeface="Calibri"/>
              </a:rPr>
              <a:t>Exact BER over all codewords: intractable</a:t>
            </a:r>
          </a:p>
          <a:p>
            <a:pPr algn="l">
              <a:lnSpc>
                <a:spcPct val="105000"/>
              </a:lnSpc>
              <a:spcAft>
                <a:spcPts val="1100"/>
              </a:spcAft>
            </a:pPr>
            <a:r>
              <a:rPr sz="1500" b="1" i="0">
                <a:solidFill>
                  <a:srgbClr val="7C5CFF"/>
                </a:solidFill>
                <a:latin typeface="Calibri"/>
              </a:rPr>
              <a:t>›  </a:t>
            </a:r>
            <a:r>
              <a:rPr sz="1500" b="0" i="0">
                <a:solidFill>
                  <a:srgbClr val="E8EAF6"/>
                </a:solidFill>
                <a:latin typeface="Calibri"/>
              </a:rPr>
              <a:t>PEP of one pair: tractable</a:t>
            </a:r>
          </a:p>
          <a:p>
            <a:pPr algn="l">
              <a:lnSpc>
                <a:spcPct val="105000"/>
              </a:lnSpc>
              <a:spcAft>
                <a:spcPts val="1100"/>
              </a:spcAft>
            </a:pPr>
            <a:r>
              <a:rPr sz="1500" b="1" i="0">
                <a:solidFill>
                  <a:srgbClr val="7C5CFF"/>
                </a:solidFill>
                <a:latin typeface="Calibri"/>
              </a:rPr>
              <a:t>›  </a:t>
            </a:r>
            <a:r>
              <a:rPr sz="1500" b="0" i="0">
                <a:solidFill>
                  <a:srgbClr val="E8EAF6"/>
                </a:solidFill>
                <a:latin typeface="Calibri"/>
              </a:rPr>
              <a:t>Union bound: total error ≤ sum of pairwise errors</a:t>
            </a:r>
          </a:p>
          <a:p>
            <a:pPr algn="l">
              <a:lnSpc>
                <a:spcPct val="105000"/>
              </a:lnSpc>
              <a:spcAft>
                <a:spcPts val="1100"/>
              </a:spcAft>
            </a:pPr>
            <a:r>
              <a:rPr sz="1500" b="1" i="0">
                <a:solidFill>
                  <a:srgbClr val="7C5CFF"/>
                </a:solidFill>
                <a:latin typeface="Calibri"/>
              </a:rPr>
              <a:t>›  </a:t>
            </a:r>
            <a:r>
              <a:rPr sz="1500" b="1" i="0">
                <a:solidFill>
                  <a:srgbClr val="FFB454"/>
                </a:solidFill>
                <a:latin typeface="Calibri"/>
              </a:rPr>
              <a:t>Worst pair dominates at high SNR — find it, fix it</a:t>
            </a:r>
          </a:p>
        </p:txBody>
      </p:sp>
      <p:sp>
        <p:nvSpPr>
          <p:cNvPr id="7" name="Rounded Rectangle 6"/>
          <p:cNvSpPr/>
          <p:nvPr/>
        </p:nvSpPr>
        <p:spPr>
          <a:xfrm>
            <a:off x="6400800" y="1737360"/>
            <a:ext cx="525780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88366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The tournament analogy</a:t>
            </a:r>
          </a:p>
        </p:txBody>
      </p:sp>
      <p:sp>
        <p:nvSpPr>
          <p:cNvPr id="9" name="TextBox 8"/>
          <p:cNvSpPr txBox="1"/>
          <p:nvPr/>
        </p:nvSpPr>
        <p:spPr>
          <a:xfrm>
            <a:off x="6675120" y="2286000"/>
            <a:ext cx="4754880" cy="347472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Judging a whole league at once is hopeless.
Instead, run head-to-head matches: how often does codeword X̂ 'beat' the true X at the decoder?
The championship is decided by the closest matchup — the most confusable pair of codewords sets your error floor.</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PEP</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Only the DIFFERENCE Matters</a:t>
            </a:r>
          </a:p>
        </p:txBody>
      </p:sp>
      <p:sp>
        <p:nvSpPr>
          <p:cNvPr id="4" name="Rounded Rectangle 3"/>
          <p:cNvSpPr/>
          <p:nvPr/>
        </p:nvSpPr>
        <p:spPr>
          <a:xfrm>
            <a:off x="502920" y="1783080"/>
            <a:ext cx="11155680" cy="14630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57400"/>
            <a:ext cx="10607040" cy="1005840"/>
          </a:xfrm>
          <a:prstGeom prst="rect">
            <a:avLst/>
          </a:prstGeom>
          <a:noFill/>
        </p:spPr>
        <p:txBody>
          <a:bodyPr wrap="square" lIns="0" tIns="0" rIns="0" bIns="0" anchor="t">
            <a:spAutoFit/>
          </a:bodyPr>
          <a:lstStyle/>
          <a:p>
            <a:pPr algn="l">
              <a:lnSpc>
                <a:spcPct val="100000"/>
              </a:lnSpc>
              <a:spcAft>
                <a:spcPts val="600"/>
              </a:spcAft>
            </a:pPr>
            <a:r>
              <a:rPr sz="2000" b="0" i="0" dirty="0">
                <a:solidFill>
                  <a:srgbClr val="E8EAF6"/>
                </a:solidFill>
                <a:latin typeface="Calibri"/>
              </a:rPr>
              <a:t>Define   </a:t>
            </a:r>
            <a:r>
              <a:rPr sz="2800" b="1" i="0" dirty="0">
                <a:solidFill>
                  <a:srgbClr val="00E4FF"/>
                </a:solidFill>
                <a:latin typeface="Cambria"/>
              </a:rPr>
              <a:t>ΔX = X − X̂</a:t>
            </a:r>
            <a:r>
              <a:rPr sz="1700" b="0" i="0" dirty="0">
                <a:solidFill>
                  <a:srgbClr val="E8EAF6"/>
                </a:solidFill>
                <a:latin typeface="Calibri"/>
              </a:rPr>
              <a:t>    — PEP depends only on ΔX and the channel, never on X alone.</a:t>
            </a:r>
          </a:p>
        </p:txBody>
      </p:sp>
      <p:sp>
        <p:nvSpPr>
          <p:cNvPr id="6" name="Rounded Rectangle 5"/>
          <p:cNvSpPr/>
          <p:nvPr/>
        </p:nvSpPr>
        <p:spPr>
          <a:xfrm>
            <a:off x="502920" y="3520440"/>
            <a:ext cx="5440680" cy="2560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366674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Why this simplifies everything</a:t>
            </a:r>
          </a:p>
        </p:txBody>
      </p:sp>
      <p:sp>
        <p:nvSpPr>
          <p:cNvPr id="8" name="TextBox 7"/>
          <p:cNvSpPr txBox="1"/>
          <p:nvPr/>
        </p:nvSpPr>
        <p:spPr>
          <a:xfrm>
            <a:off x="777240" y="4069080"/>
            <a:ext cx="4937760" cy="1828800"/>
          </a:xfrm>
          <a:prstGeom prst="rect">
            <a:avLst/>
          </a:prstGeom>
          <a:noFill/>
        </p:spPr>
        <p:txBody>
          <a:bodyPr wrap="square" lIns="0" tIns="0" rIns="0" bIns="0" anchor="t">
            <a:spAutoFit/>
          </a:bodyPr>
          <a:lstStyle/>
          <a:p>
            <a:pPr algn="l">
              <a:lnSpc>
                <a:spcPct val="105000"/>
              </a:lnSpc>
              <a:spcAft>
                <a:spcPts val="800"/>
              </a:spcAft>
            </a:pPr>
            <a:r>
              <a:rPr sz="1500" b="1" i="0">
                <a:solidFill>
                  <a:srgbClr val="7C5CFF"/>
                </a:solidFill>
                <a:latin typeface="Calibri"/>
              </a:rPr>
              <a:t>›  </a:t>
            </a:r>
            <a:r>
              <a:rPr sz="1500" b="0" i="0">
                <a:solidFill>
                  <a:srgbClr val="E8EAF6"/>
                </a:solidFill>
                <a:latin typeface="Calibri"/>
              </a:rPr>
              <a:t>Don't study codewords — study their gaps</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Good code design = keep every ΔX 'big' in every direction</a:t>
            </a:r>
          </a:p>
          <a:p>
            <a:pPr algn="l">
              <a:lnSpc>
                <a:spcPct val="105000"/>
              </a:lnSpc>
              <a:spcAft>
                <a:spcPts val="800"/>
              </a:spcAft>
            </a:pPr>
            <a:r>
              <a:rPr sz="1500" b="1" i="0">
                <a:solidFill>
                  <a:srgbClr val="7C5CFF"/>
                </a:solidFill>
                <a:latin typeface="Calibri"/>
              </a:rPr>
              <a:t>›  </a:t>
            </a:r>
            <a:r>
              <a:rPr sz="1500" b="0" i="0">
                <a:solidFill>
                  <a:srgbClr val="E8EAF6"/>
                </a:solidFill>
                <a:latin typeface="Calibri"/>
              </a:rPr>
              <a:t>Shifting the whole constellation changes nothing</a:t>
            </a:r>
          </a:p>
        </p:txBody>
      </p:sp>
      <p:sp>
        <p:nvSpPr>
          <p:cNvPr id="9" name="Rounded Rectangle 8"/>
          <p:cNvSpPr/>
          <p:nvPr/>
        </p:nvSpPr>
        <p:spPr>
          <a:xfrm>
            <a:off x="6217920" y="3520440"/>
            <a:ext cx="5440680" cy="2560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19088" y="366674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Everyday analogy</a:t>
            </a:r>
          </a:p>
        </p:txBody>
      </p:sp>
      <p:sp>
        <p:nvSpPr>
          <p:cNvPr id="11" name="TextBox 10"/>
          <p:cNvSpPr txBox="1"/>
          <p:nvPr/>
        </p:nvSpPr>
        <p:spPr>
          <a:xfrm>
            <a:off x="6492240" y="4069080"/>
            <a:ext cx="4937760" cy="1828800"/>
          </a:xfrm>
          <a:prstGeom prst="rect">
            <a:avLst/>
          </a:prstGeom>
          <a:noFill/>
        </p:spPr>
        <p:txBody>
          <a:bodyPr wrap="square" lIns="0" tIns="0" rIns="0" bIns="0" anchor="t">
            <a:spAutoFit/>
          </a:bodyPr>
          <a:lstStyle/>
          <a:p>
            <a:pPr algn="l">
              <a:lnSpc>
                <a:spcPct val="100000"/>
              </a:lnSpc>
              <a:spcAft>
                <a:spcPts val="600"/>
              </a:spcAft>
            </a:pPr>
            <a:r>
              <a:rPr sz="1500" b="0" i="0" dirty="0">
                <a:solidFill>
                  <a:srgbClr val="E8EAF6"/>
                </a:solidFill>
                <a:latin typeface="Calibri"/>
              </a:rPr>
              <a:t>You confuse twins because their DIFFERENCE is small — not because of what either looks like alone.
Codewords are twins; ΔX measures how identical they are.</a:t>
            </a:r>
          </a:p>
        </p:txBody>
      </p:sp>
      <p:sp>
        <p:nvSpPr>
          <p:cNvPr id="12" name="TextBox 11"/>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PEP</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Eigenvalues: 'Far Apart' From Every Direction</a:t>
            </a:r>
          </a:p>
        </p:txBody>
      </p:sp>
      <p:sp>
        <p:nvSpPr>
          <p:cNvPr id="4" name="Rounded Rectangle 3"/>
          <p:cNvSpPr/>
          <p:nvPr/>
        </p:nvSpPr>
        <p:spPr>
          <a:xfrm>
            <a:off x="502920" y="1737360"/>
            <a:ext cx="557784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Product distance</a:t>
            </a:r>
          </a:p>
        </p:txBody>
      </p:sp>
      <p:sp>
        <p:nvSpPr>
          <p:cNvPr id="6" name="TextBox 5"/>
          <p:cNvSpPr txBox="1"/>
          <p:nvPr/>
        </p:nvSpPr>
        <p:spPr>
          <a:xfrm>
            <a:off x="777240" y="2286000"/>
            <a:ext cx="5029200" cy="3474720"/>
          </a:xfrm>
          <a:prstGeom prst="rect">
            <a:avLst/>
          </a:prstGeom>
          <a:noFill/>
        </p:spPr>
        <p:txBody>
          <a:bodyPr wrap="square" lIns="0" tIns="0" rIns="0" bIns="0" anchor="t">
            <a:spAutoFit/>
          </a:bodyPr>
          <a:lstStyle/>
          <a:p>
            <a:pPr algn="l">
              <a:lnSpc>
                <a:spcPct val="105000"/>
              </a:lnSpc>
              <a:spcAft>
                <a:spcPts val="1100"/>
              </a:spcAft>
            </a:pPr>
            <a:r>
              <a:rPr sz="1500" b="1" i="0">
                <a:solidFill>
                  <a:srgbClr val="7C5CFF"/>
                </a:solidFill>
                <a:latin typeface="Calibri"/>
              </a:rPr>
              <a:t>›  </a:t>
            </a:r>
            <a:r>
              <a:rPr sz="1500" b="0" i="0">
                <a:solidFill>
                  <a:srgbClr val="E8EAF6"/>
                </a:solidFill>
                <a:latin typeface="Calibri"/>
              </a:rPr>
              <a:t>Form ΔXᴴΔX — eigenvalues λ₁, λ₂, …</a:t>
            </a:r>
          </a:p>
          <a:p>
            <a:pPr algn="l">
              <a:lnSpc>
                <a:spcPct val="105000"/>
              </a:lnSpc>
              <a:spcAft>
                <a:spcPts val="1100"/>
              </a:spcAft>
            </a:pPr>
            <a:r>
              <a:rPr sz="1500" b="1" i="0">
                <a:solidFill>
                  <a:srgbClr val="7C5CFF"/>
                </a:solidFill>
                <a:latin typeface="Calibri"/>
              </a:rPr>
              <a:t>›  </a:t>
            </a:r>
            <a:r>
              <a:rPr sz="1500" b="0" i="0">
                <a:solidFill>
                  <a:srgbClr val="E8EAF6"/>
                </a:solidFill>
                <a:latin typeface="Calibri"/>
              </a:rPr>
              <a:t>Each λᵢ = separation of the pair along one spatial direction</a:t>
            </a:r>
          </a:p>
          <a:p>
            <a:pPr algn="l">
              <a:lnSpc>
                <a:spcPct val="105000"/>
              </a:lnSpc>
              <a:spcAft>
                <a:spcPts val="1100"/>
              </a:spcAft>
            </a:pPr>
            <a:r>
              <a:rPr sz="1500" b="1" i="0">
                <a:solidFill>
                  <a:srgbClr val="7C5CFF"/>
                </a:solidFill>
                <a:latin typeface="Calibri"/>
              </a:rPr>
              <a:t>›  </a:t>
            </a:r>
            <a:r>
              <a:rPr sz="1500" b="1" i="0">
                <a:solidFill>
                  <a:srgbClr val="00E4FF"/>
                </a:solidFill>
                <a:latin typeface="Calibri"/>
              </a:rPr>
              <a:t>PEP ∝ 1 / ∏λᵢ  — the PRODUCT distance</a:t>
            </a:r>
          </a:p>
          <a:p>
            <a:pPr algn="l">
              <a:lnSpc>
                <a:spcPct val="105000"/>
              </a:lnSpc>
              <a:spcAft>
                <a:spcPts val="1100"/>
              </a:spcAft>
            </a:pPr>
            <a:r>
              <a:rPr sz="1500" b="1" i="0">
                <a:solidFill>
                  <a:srgbClr val="7C5CFF"/>
                </a:solidFill>
                <a:latin typeface="Calibri"/>
              </a:rPr>
              <a:t>›  </a:t>
            </a:r>
            <a:r>
              <a:rPr sz="1500" b="0" i="0">
                <a:solidFill>
                  <a:srgbClr val="FFB454"/>
                </a:solidFill>
                <a:latin typeface="Calibri"/>
              </a:rPr>
              <a:t>One tiny λ ruins the whole product — like one flat tyre</a:t>
            </a:r>
          </a:p>
        </p:txBody>
      </p:sp>
      <p:sp>
        <p:nvSpPr>
          <p:cNvPr id="7" name="Rounded Rectangle 6"/>
          <p:cNvSpPr/>
          <p:nvPr/>
        </p:nvSpPr>
        <p:spPr>
          <a:xfrm>
            <a:off x="6400800" y="1737360"/>
            <a:ext cx="525780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88366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7C5CFF"/>
                </a:solidFill>
                <a:latin typeface="Calibri"/>
              </a:rPr>
              <a:t>Volume picture</a:t>
            </a:r>
          </a:p>
        </p:txBody>
      </p:sp>
      <p:sp>
        <p:nvSpPr>
          <p:cNvPr id="9" name="Oval 8"/>
          <p:cNvSpPr/>
          <p:nvPr/>
        </p:nvSpPr>
        <p:spPr>
          <a:xfrm>
            <a:off x="6949440" y="2651760"/>
            <a:ext cx="1920240" cy="1737360"/>
          </a:xfrm>
          <a:prstGeom prst="ellipse">
            <a:avLst/>
          </a:prstGeom>
          <a:solidFill>
            <a:srgbClr val="182244"/>
          </a:solidFill>
          <a:ln w="279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0" y="4526280"/>
            <a:ext cx="2103120" cy="640080"/>
          </a:xfrm>
          <a:prstGeom prst="rect">
            <a:avLst/>
          </a:prstGeom>
          <a:noFill/>
        </p:spPr>
        <p:txBody>
          <a:bodyPr wrap="square" lIns="0" tIns="0" rIns="0" bIns="0" anchor="t">
            <a:spAutoFit/>
          </a:bodyPr>
          <a:lstStyle/>
          <a:p>
            <a:pPr algn="ctr">
              <a:lnSpc>
                <a:spcPct val="100000"/>
              </a:lnSpc>
              <a:spcAft>
                <a:spcPts val="600"/>
              </a:spcAft>
            </a:pPr>
            <a:r>
              <a:rPr sz="1250" b="0" i="0">
                <a:solidFill>
                  <a:srgbClr val="3DDC97"/>
                </a:solidFill>
                <a:latin typeface="Calibri"/>
              </a:rPr>
              <a:t>healthy: both λ large → big volume → robust</a:t>
            </a:r>
          </a:p>
        </p:txBody>
      </p:sp>
      <p:sp>
        <p:nvSpPr>
          <p:cNvPr id="11" name="Oval 10"/>
          <p:cNvSpPr/>
          <p:nvPr/>
        </p:nvSpPr>
        <p:spPr>
          <a:xfrm>
            <a:off x="9509760" y="3337560"/>
            <a:ext cx="1920240" cy="365760"/>
          </a:xfrm>
          <a:prstGeom prst="ellipse">
            <a:avLst/>
          </a:prstGeom>
          <a:solidFill>
            <a:srgbClr val="182244"/>
          </a:solidFill>
          <a:ln w="27940">
            <a:solidFill>
              <a:srgbClr val="FF5C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18320" y="4526280"/>
            <a:ext cx="2103120" cy="640080"/>
          </a:xfrm>
          <a:prstGeom prst="rect">
            <a:avLst/>
          </a:prstGeom>
          <a:noFill/>
        </p:spPr>
        <p:txBody>
          <a:bodyPr wrap="square" lIns="0" tIns="0" rIns="0" bIns="0" anchor="t">
            <a:spAutoFit/>
          </a:bodyPr>
          <a:lstStyle/>
          <a:p>
            <a:pPr algn="ctr">
              <a:lnSpc>
                <a:spcPct val="100000"/>
              </a:lnSpc>
              <a:spcAft>
                <a:spcPts val="600"/>
              </a:spcAft>
            </a:pPr>
            <a:r>
              <a:rPr sz="1250" b="0" i="0">
                <a:solidFill>
                  <a:srgbClr val="FF5C7A"/>
                </a:solidFill>
                <a:latin typeface="Calibri"/>
              </a:rPr>
              <a:t>squashed: one λ ≈ 0 → flat → confusable</a:t>
            </a:r>
          </a:p>
        </p:txBody>
      </p:sp>
      <p:sp>
        <p:nvSpPr>
          <p:cNvPr id="13" name="TextBox 12"/>
          <p:cNvSpPr txBox="1"/>
          <p:nvPr/>
        </p:nvSpPr>
        <p:spPr>
          <a:xfrm>
            <a:off x="6675120" y="5349240"/>
            <a:ext cx="4754880" cy="640080"/>
          </a:xfrm>
          <a:prstGeom prst="rect">
            <a:avLst/>
          </a:prstGeom>
          <a:noFill/>
        </p:spPr>
        <p:txBody>
          <a:bodyPr wrap="square" lIns="0" tIns="0" rIns="0" bIns="0" anchor="t">
            <a:spAutoFit/>
          </a:bodyPr>
          <a:lstStyle/>
          <a:p>
            <a:pPr algn="l">
              <a:lnSpc>
                <a:spcPct val="100000"/>
              </a:lnSpc>
              <a:spcAft>
                <a:spcPts val="600"/>
              </a:spcAft>
            </a:pPr>
            <a:r>
              <a:rPr sz="1350" b="0" i="0">
                <a:solidFill>
                  <a:srgbClr val="9AA3C0"/>
                </a:solidFill>
                <a:latin typeface="Calibri"/>
              </a:rPr>
              <a:t>The decoder confuses codewords along the squashed direction.</a:t>
            </a:r>
          </a:p>
        </p:txBody>
      </p:sp>
      <p:sp>
        <p:nvSpPr>
          <p:cNvPr id="14" name="TextBox 13"/>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CONCEPT</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Observability: Different In → Different Out</a:t>
            </a:r>
          </a:p>
        </p:txBody>
      </p:sp>
      <p:sp>
        <p:nvSpPr>
          <p:cNvPr id="4" name="Rounded Rectangle 3"/>
          <p:cNvSpPr/>
          <p:nvPr/>
        </p:nvSpPr>
        <p:spPr>
          <a:xfrm>
            <a:off x="502920" y="1737360"/>
            <a:ext cx="557784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Two pillars</a:t>
            </a:r>
          </a:p>
        </p:txBody>
      </p:sp>
      <p:sp>
        <p:nvSpPr>
          <p:cNvPr id="6" name="TextBox 5"/>
          <p:cNvSpPr txBox="1"/>
          <p:nvPr/>
        </p:nvSpPr>
        <p:spPr>
          <a:xfrm>
            <a:off x="777240" y="2286000"/>
            <a:ext cx="5029200" cy="3474720"/>
          </a:xfrm>
          <a:prstGeom prst="rect">
            <a:avLst/>
          </a:prstGeom>
          <a:noFill/>
        </p:spPr>
        <p:txBody>
          <a:bodyPr wrap="square" lIns="0" tIns="0" rIns="0" bIns="0" anchor="t">
            <a:spAutoFit/>
          </a:bodyPr>
          <a:lstStyle/>
          <a:p>
            <a:pPr algn="l">
              <a:lnSpc>
                <a:spcPct val="105000"/>
              </a:lnSpc>
              <a:spcAft>
                <a:spcPts val="1100"/>
              </a:spcAft>
            </a:pPr>
            <a:r>
              <a:rPr sz="1500" b="1" i="0">
                <a:solidFill>
                  <a:srgbClr val="7C5CFF"/>
                </a:solidFill>
                <a:latin typeface="Calibri"/>
              </a:rPr>
              <a:t>›  </a:t>
            </a:r>
            <a:r>
              <a:rPr sz="1500" b="0" i="0">
                <a:solidFill>
                  <a:srgbClr val="E8EAF6"/>
                </a:solidFill>
                <a:latin typeface="Calibri"/>
              </a:rPr>
              <a:t>DIVERSITY: many independent looks at the same data → reliability</a:t>
            </a:r>
          </a:p>
          <a:p>
            <a:pPr algn="l">
              <a:lnSpc>
                <a:spcPct val="105000"/>
              </a:lnSpc>
              <a:spcAft>
                <a:spcPts val="1100"/>
              </a:spcAft>
            </a:pPr>
            <a:r>
              <a:rPr sz="1500" b="1" i="0">
                <a:solidFill>
                  <a:srgbClr val="7C5CFF"/>
                </a:solidFill>
                <a:latin typeface="Calibri"/>
              </a:rPr>
              <a:t>›  </a:t>
            </a:r>
            <a:r>
              <a:rPr sz="1500" b="0" i="0">
                <a:solidFill>
                  <a:srgbClr val="E8EAF6"/>
                </a:solidFill>
                <a:latin typeface="Calibri"/>
              </a:rPr>
              <a:t>OBSERVABILITY: distinct codewords must stay distinct at the receiver</a:t>
            </a:r>
          </a:p>
          <a:p>
            <a:pPr algn="l">
              <a:lnSpc>
                <a:spcPct val="105000"/>
              </a:lnSpc>
              <a:spcAft>
                <a:spcPts val="1100"/>
              </a:spcAft>
            </a:pPr>
            <a:r>
              <a:rPr sz="1500" b="1" i="0">
                <a:solidFill>
                  <a:srgbClr val="7C5CFF"/>
                </a:solidFill>
                <a:latin typeface="Calibri"/>
              </a:rPr>
              <a:t>›  </a:t>
            </a:r>
            <a:r>
              <a:rPr sz="1500" b="1" i="0">
                <a:solidFill>
                  <a:srgbClr val="FF5C7A"/>
                </a:solidFill>
                <a:latin typeface="Calibri"/>
              </a:rPr>
              <a:t>If two inputs can produce the same output, no SNR can save you</a:t>
            </a:r>
          </a:p>
          <a:p>
            <a:pPr algn="l">
              <a:lnSpc>
                <a:spcPct val="105000"/>
              </a:lnSpc>
              <a:spcAft>
                <a:spcPts val="1100"/>
              </a:spcAft>
            </a:pPr>
            <a:r>
              <a:rPr sz="1500" b="1" i="0">
                <a:solidFill>
                  <a:srgbClr val="7C5CFF"/>
                </a:solidFill>
                <a:latin typeface="Calibri"/>
              </a:rPr>
              <a:t>›  </a:t>
            </a:r>
            <a:r>
              <a:rPr sz="1500" b="0" i="0">
                <a:solidFill>
                  <a:srgbClr val="E8EAF6"/>
                </a:solidFill>
                <a:latin typeface="Calibri"/>
              </a:rPr>
              <a:t>Mapping must be one-to-one through every channel realisation</a:t>
            </a:r>
          </a:p>
        </p:txBody>
      </p:sp>
      <p:sp>
        <p:nvSpPr>
          <p:cNvPr id="7" name="Rounded Rectangle 6"/>
          <p:cNvSpPr/>
          <p:nvPr/>
        </p:nvSpPr>
        <p:spPr>
          <a:xfrm>
            <a:off x="6400800" y="1737360"/>
            <a:ext cx="525780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88366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Lock and key</a:t>
            </a:r>
          </a:p>
        </p:txBody>
      </p:sp>
      <p:sp>
        <p:nvSpPr>
          <p:cNvPr id="9" name="Rounded Rectangle 8"/>
          <p:cNvSpPr/>
          <p:nvPr/>
        </p:nvSpPr>
        <p:spPr>
          <a:xfrm>
            <a:off x="6720840" y="2377440"/>
            <a:ext cx="4617720" cy="914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0" y="2651760"/>
            <a:ext cx="42062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key A → lock A  ✓</a:t>
            </a:r>
          </a:p>
        </p:txBody>
      </p:sp>
      <p:sp>
        <p:nvSpPr>
          <p:cNvPr id="11" name="Rounded Rectangle 10"/>
          <p:cNvSpPr/>
          <p:nvPr/>
        </p:nvSpPr>
        <p:spPr>
          <a:xfrm>
            <a:off x="6720840" y="3520440"/>
            <a:ext cx="4617720" cy="914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3794760"/>
            <a:ext cx="42062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key B → lock B  ✓</a:t>
            </a:r>
          </a:p>
        </p:txBody>
      </p:sp>
      <p:sp>
        <p:nvSpPr>
          <p:cNvPr id="13" name="Rounded Rectangle 12"/>
          <p:cNvSpPr/>
          <p:nvPr/>
        </p:nvSpPr>
        <p:spPr>
          <a:xfrm>
            <a:off x="6720840" y="4663440"/>
            <a:ext cx="4617720" cy="914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0" y="4937760"/>
            <a:ext cx="42062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FF5C7A"/>
                </a:solidFill>
                <a:latin typeface="Calibri"/>
              </a:rPr>
              <a:t>key A &amp; B → SAME lock  ✗</a:t>
            </a:r>
          </a:p>
        </p:txBody>
      </p:sp>
      <p:sp>
        <p:nvSpPr>
          <p:cNvPr id="15" name="TextBox 14"/>
          <p:cNvSpPr txBox="1"/>
          <p:nvPr/>
        </p:nvSpPr>
        <p:spPr>
          <a:xfrm>
            <a:off x="6675120" y="5715000"/>
            <a:ext cx="4754880" cy="365760"/>
          </a:xfrm>
          <a:prstGeom prst="rect">
            <a:avLst/>
          </a:prstGeom>
          <a:noFill/>
        </p:spPr>
        <p:txBody>
          <a:bodyPr wrap="square" lIns="0" tIns="0" rIns="0" bIns="0" anchor="t">
            <a:spAutoFit/>
          </a:bodyPr>
          <a:lstStyle/>
          <a:p>
            <a:pPr algn="l">
              <a:lnSpc>
                <a:spcPct val="100000"/>
              </a:lnSpc>
              <a:spcAft>
                <a:spcPts val="600"/>
              </a:spcAft>
            </a:pPr>
            <a:r>
              <a:rPr sz="1300" b="0" i="0">
                <a:solidFill>
                  <a:srgbClr val="9AA3C0"/>
                </a:solidFill>
                <a:latin typeface="Calibri"/>
              </a:rPr>
              <a:t>A code that 'loses' a direction has duplicate keys.</a:t>
            </a:r>
          </a:p>
        </p:txBody>
      </p:sp>
      <p:sp>
        <p:nvSpPr>
          <p:cNvPr id="16" name="TextBox 15"/>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THE HEART OF STBC</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The Rank Criterion</a:t>
            </a:r>
          </a:p>
        </p:txBody>
      </p:sp>
      <p:sp>
        <p:nvSpPr>
          <p:cNvPr id="4" name="Rounded Rectangle 3"/>
          <p:cNvSpPr/>
          <p:nvPr/>
        </p:nvSpPr>
        <p:spPr>
          <a:xfrm>
            <a:off x="502920" y="1783080"/>
            <a:ext cx="11155680" cy="18288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57400"/>
            <a:ext cx="10607040" cy="1371600"/>
          </a:xfrm>
          <a:prstGeom prst="rect">
            <a:avLst/>
          </a:prstGeom>
          <a:noFill/>
        </p:spPr>
        <p:txBody>
          <a:bodyPr wrap="square" lIns="0" tIns="0" rIns="0" bIns="0" anchor="t">
            <a:spAutoFit/>
          </a:bodyPr>
          <a:lstStyle/>
          <a:p>
            <a:pPr algn="l">
              <a:lnSpc>
                <a:spcPct val="100000"/>
              </a:lnSpc>
              <a:spcAft>
                <a:spcPts val="1000"/>
              </a:spcAft>
            </a:pPr>
            <a:r>
              <a:rPr sz="2500" b="1" i="0">
                <a:solidFill>
                  <a:srgbClr val="3DDC97"/>
                </a:solidFill>
                <a:latin typeface="Cambria"/>
              </a:rPr>
              <a:t>Full diversity   ⇔   rank(ΔX) = Nt   for EVERY codeword pair</a:t>
            </a:r>
          </a:p>
          <a:p>
            <a:pPr algn="l">
              <a:lnSpc>
                <a:spcPct val="100000"/>
              </a:lnSpc>
              <a:spcAft>
                <a:spcPts val="1000"/>
              </a:spcAft>
            </a:pPr>
            <a:r>
              <a:rPr sz="1550" b="0" i="0">
                <a:solidFill>
                  <a:srgbClr val="9AA3C0"/>
                </a:solidFill>
                <a:latin typeface="Calibri"/>
              </a:rPr>
              <a:t>Every difference matrix must be full rank — no squashed directions, ever.</a:t>
            </a:r>
          </a:p>
        </p:txBody>
      </p:sp>
      <p:sp>
        <p:nvSpPr>
          <p:cNvPr id="6" name="Rounded Rectangle 5"/>
          <p:cNvSpPr/>
          <p:nvPr/>
        </p:nvSpPr>
        <p:spPr>
          <a:xfrm>
            <a:off x="502920" y="3886200"/>
            <a:ext cx="5440680" cy="21945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403250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Reading it</a:t>
            </a:r>
          </a:p>
        </p:txBody>
      </p:sp>
      <p:sp>
        <p:nvSpPr>
          <p:cNvPr id="8" name="TextBox 7"/>
          <p:cNvSpPr txBox="1"/>
          <p:nvPr/>
        </p:nvSpPr>
        <p:spPr>
          <a:xfrm>
            <a:off x="777240" y="4434840"/>
            <a:ext cx="4937760" cy="1554480"/>
          </a:xfrm>
          <a:prstGeom prst="rect">
            <a:avLst/>
          </a:prstGeom>
          <a:noFill/>
        </p:spPr>
        <p:txBody>
          <a:bodyPr wrap="square" lIns="0" tIns="0" rIns="0" bIns="0" anchor="t">
            <a:spAutoFit/>
          </a:bodyPr>
          <a:lstStyle/>
          <a:p>
            <a:pPr algn="l">
              <a:lnSpc>
                <a:spcPct val="105000"/>
              </a:lnSpc>
              <a:spcAft>
                <a:spcPts val="800"/>
              </a:spcAft>
            </a:pPr>
            <a:r>
              <a:rPr sz="1450" b="1" i="0">
                <a:solidFill>
                  <a:srgbClr val="7C5CFF"/>
                </a:solidFill>
                <a:latin typeface="Calibri"/>
              </a:rPr>
              <a:t>›  </a:t>
            </a:r>
            <a:r>
              <a:rPr sz="1450" b="0" i="0">
                <a:solidFill>
                  <a:srgbClr val="E8EAF6"/>
                </a:solidFill>
                <a:latin typeface="Calibri"/>
              </a:rPr>
              <a:t>Full rank → all Nt antennas contribute independent protection</a:t>
            </a:r>
          </a:p>
          <a:p>
            <a:pPr algn="l">
              <a:lnSpc>
                <a:spcPct val="105000"/>
              </a:lnSpc>
              <a:spcAft>
                <a:spcPts val="800"/>
              </a:spcAft>
            </a:pPr>
            <a:r>
              <a:rPr sz="1450" b="1" i="0">
                <a:solidFill>
                  <a:srgbClr val="7C5CFF"/>
                </a:solidFill>
                <a:latin typeface="Calibri"/>
              </a:rPr>
              <a:t>›  </a:t>
            </a:r>
            <a:r>
              <a:rPr sz="1450" b="0" i="0">
                <a:solidFill>
                  <a:srgbClr val="E8EAF6"/>
                </a:solidFill>
                <a:latin typeface="Calibri"/>
              </a:rPr>
              <a:t>Rank-deficient pair → some antennas wasted for that pair</a:t>
            </a:r>
          </a:p>
        </p:txBody>
      </p:sp>
      <p:sp>
        <p:nvSpPr>
          <p:cNvPr id="9" name="Rounded Rectangle 8"/>
          <p:cNvSpPr/>
          <p:nvPr/>
        </p:nvSpPr>
        <p:spPr>
          <a:xfrm>
            <a:off x="6217920" y="3886200"/>
            <a:ext cx="5440680" cy="21945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19088" y="403250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The equivalence chain</a:t>
            </a:r>
          </a:p>
        </p:txBody>
      </p:sp>
      <p:sp>
        <p:nvSpPr>
          <p:cNvPr id="11" name="TextBox 10"/>
          <p:cNvSpPr txBox="1"/>
          <p:nvPr/>
        </p:nvSpPr>
        <p:spPr>
          <a:xfrm>
            <a:off x="6492240" y="4480560"/>
            <a:ext cx="4937760" cy="1463040"/>
          </a:xfrm>
          <a:prstGeom prst="rect">
            <a:avLst/>
          </a:prstGeom>
          <a:noFill/>
        </p:spPr>
        <p:txBody>
          <a:bodyPr wrap="square" lIns="0" tIns="0" rIns="0" bIns="0" anchor="t">
            <a:spAutoFit/>
          </a:bodyPr>
          <a:lstStyle/>
          <a:p>
            <a:pPr algn="l">
              <a:lnSpc>
                <a:spcPct val="100000"/>
              </a:lnSpc>
              <a:spcAft>
                <a:spcPts val="800"/>
              </a:spcAft>
            </a:pPr>
            <a:r>
              <a:rPr sz="1800" b="1" i="0">
                <a:solidFill>
                  <a:srgbClr val="E8EAF6"/>
                </a:solidFill>
                <a:latin typeface="Calibri"/>
              </a:rPr>
              <a:t>Observable  ⇔  Full Rank  ⇔  Full Diversity</a:t>
            </a:r>
          </a:p>
          <a:p>
            <a:pPr algn="l">
              <a:lnSpc>
                <a:spcPct val="100000"/>
              </a:lnSpc>
              <a:spcAft>
                <a:spcPts val="800"/>
              </a:spcAft>
            </a:pPr>
            <a:r>
              <a:rPr sz="1400" b="0" i="0">
                <a:solidFill>
                  <a:srgbClr val="9AA3C0"/>
                </a:solidFill>
                <a:latin typeface="Calibri"/>
              </a:rPr>
              <a:t>Three views of one property.</a:t>
            </a:r>
          </a:p>
        </p:txBody>
      </p:sp>
      <p:sp>
        <p:nvSpPr>
          <p:cNvPr id="12" name="TextBox 11"/>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CASE STUDY</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Why Alamouti Always Wins</a:t>
            </a:r>
          </a:p>
        </p:txBody>
      </p:sp>
      <p:sp>
        <p:nvSpPr>
          <p:cNvPr id="4" name="Rounded Rectangle 3"/>
          <p:cNvSpPr/>
          <p:nvPr/>
        </p:nvSpPr>
        <p:spPr>
          <a:xfrm>
            <a:off x="502920" y="1737360"/>
            <a:ext cx="576072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35838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Check one concrete pair (BPSK)</a:t>
            </a:r>
          </a:p>
        </p:txBody>
      </p:sp>
      <p:sp>
        <p:nvSpPr>
          <p:cNvPr id="6" name="TextBox 5"/>
          <p:cNvSpPr txBox="1"/>
          <p:nvPr/>
        </p:nvSpPr>
        <p:spPr>
          <a:xfrm>
            <a:off x="777240" y="2331720"/>
            <a:ext cx="5212080" cy="3566160"/>
          </a:xfrm>
          <a:prstGeom prst="rect">
            <a:avLst/>
          </a:prstGeom>
          <a:noFill/>
        </p:spPr>
        <p:txBody>
          <a:bodyPr wrap="square" lIns="0" tIns="0" rIns="0" bIns="0" anchor="t">
            <a:spAutoFit/>
          </a:bodyPr>
          <a:lstStyle/>
          <a:p>
            <a:pPr algn="l">
              <a:lnSpc>
                <a:spcPct val="100000"/>
              </a:lnSpc>
              <a:spcAft>
                <a:spcPts val="1000"/>
              </a:spcAft>
            </a:pPr>
            <a:r>
              <a:rPr sz="1500" b="0" i="0" dirty="0">
                <a:solidFill>
                  <a:srgbClr val="E8EAF6"/>
                </a:solidFill>
                <a:latin typeface="Calibri"/>
              </a:rPr>
              <a:t>X for (</a:t>
            </a:r>
            <a:r>
              <a:rPr sz="1500" b="0" i="0" dirty="0" err="1">
                <a:solidFill>
                  <a:srgbClr val="E8EAF6"/>
                </a:solidFill>
                <a:latin typeface="Calibri"/>
              </a:rPr>
              <a:t>s₁,s</a:t>
            </a:r>
            <a:r>
              <a:rPr sz="1500" b="0" i="0" dirty="0">
                <a:solidFill>
                  <a:srgbClr val="E8EAF6"/>
                </a:solidFill>
                <a:latin typeface="Calibri"/>
              </a:rPr>
              <a:t>₂)=(+1,+1),  X̂ for (+1,−1):</a:t>
            </a:r>
          </a:p>
          <a:p>
            <a:pPr algn="l">
              <a:lnSpc>
                <a:spcPct val="100000"/>
              </a:lnSpc>
              <a:spcAft>
                <a:spcPts val="1000"/>
              </a:spcAft>
            </a:pPr>
            <a:r>
              <a:rPr sz="1800" b="1" i="0" dirty="0">
                <a:solidFill>
                  <a:srgbClr val="E8EAF6"/>
                </a:solidFill>
                <a:latin typeface="Cambria"/>
              </a:rPr>
              <a:t>ΔX = X − X̂ = [ 0   2 ;  2   0 ]</a:t>
            </a:r>
          </a:p>
          <a:p>
            <a:pPr algn="l">
              <a:lnSpc>
                <a:spcPct val="100000"/>
              </a:lnSpc>
              <a:spcAft>
                <a:spcPts val="1000"/>
              </a:spcAft>
            </a:pPr>
            <a:r>
              <a:rPr sz="1700" b="1" i="0" dirty="0">
                <a:solidFill>
                  <a:srgbClr val="3DDC97"/>
                </a:solidFill>
                <a:latin typeface="Calibri"/>
              </a:rPr>
              <a:t>det(ΔX) = 0·0 − 2·2 = −4 ≠ 0</a:t>
            </a:r>
          </a:p>
          <a:p>
            <a:pPr algn="l">
              <a:lnSpc>
                <a:spcPct val="100000"/>
              </a:lnSpc>
              <a:spcAft>
                <a:spcPts val="1000"/>
              </a:spcAft>
            </a:pPr>
            <a:r>
              <a:rPr sz="1600" b="0" i="0" dirty="0">
                <a:solidFill>
                  <a:srgbClr val="3DDC97"/>
                </a:solidFill>
                <a:latin typeface="Calibri"/>
              </a:rPr>
              <a:t>→ rank 2 = Nt.  Full rank. ✓</a:t>
            </a:r>
          </a:p>
          <a:p>
            <a:pPr algn="l">
              <a:lnSpc>
                <a:spcPct val="100000"/>
              </a:lnSpc>
              <a:spcAft>
                <a:spcPts val="1000"/>
              </a:spcAft>
            </a:pPr>
            <a:r>
              <a:rPr sz="1400" b="0" i="0" dirty="0" err="1">
                <a:solidFill>
                  <a:srgbClr val="9AA3C0"/>
                </a:solidFill>
                <a:latin typeface="Calibri"/>
              </a:rPr>
              <a:t>Alamouti's</a:t>
            </a:r>
            <a:r>
              <a:rPr sz="1400" b="0" i="0" dirty="0">
                <a:solidFill>
                  <a:srgbClr val="9AA3C0"/>
                </a:solidFill>
                <a:latin typeface="Calibri"/>
              </a:rPr>
              <a:t> structure guarantees det(ΔX) ≠ 0 for ALL pairs — orthogonality at work.</a:t>
            </a:r>
          </a:p>
        </p:txBody>
      </p:sp>
      <p:sp>
        <p:nvSpPr>
          <p:cNvPr id="7" name="Rounded Rectangle 6"/>
          <p:cNvSpPr/>
          <p:nvPr/>
        </p:nvSpPr>
        <p:spPr>
          <a:xfrm>
            <a:off x="6583680" y="1737360"/>
            <a:ext cx="5074920" cy="42976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84848" y="1883664"/>
            <a:ext cx="467258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Consequence</a:t>
            </a:r>
          </a:p>
        </p:txBody>
      </p:sp>
      <p:sp>
        <p:nvSpPr>
          <p:cNvPr id="9" name="TextBox 8"/>
          <p:cNvSpPr txBox="1"/>
          <p:nvPr/>
        </p:nvSpPr>
        <p:spPr>
          <a:xfrm>
            <a:off x="6858000" y="2331720"/>
            <a:ext cx="4572000" cy="1828800"/>
          </a:xfrm>
          <a:prstGeom prst="rect">
            <a:avLst/>
          </a:prstGeom>
          <a:noFill/>
        </p:spPr>
        <p:txBody>
          <a:bodyPr wrap="square" lIns="0" tIns="0" rIns="0" bIns="0" anchor="t">
            <a:spAutoFit/>
          </a:bodyPr>
          <a:lstStyle/>
          <a:p>
            <a:pPr algn="l">
              <a:lnSpc>
                <a:spcPct val="100000"/>
              </a:lnSpc>
              <a:spcAft>
                <a:spcPts val="600"/>
              </a:spcAft>
            </a:pPr>
            <a:r>
              <a:rPr sz="1550" b="0" i="0">
                <a:solidFill>
                  <a:srgbClr val="E8EAF6"/>
                </a:solidFill>
                <a:latin typeface="Calibri"/>
              </a:rPr>
              <a:t>With 1 receive antenna:
d = 2 — full transmit diversity, no CSI at TX, simple linear decoding.</a:t>
            </a:r>
          </a:p>
        </p:txBody>
      </p:sp>
      <p:sp>
        <p:nvSpPr>
          <p:cNvPr id="10" name="Rounded Rectangle 9"/>
          <p:cNvSpPr/>
          <p:nvPr/>
        </p:nvSpPr>
        <p:spPr>
          <a:xfrm>
            <a:off x="6858000" y="4206240"/>
            <a:ext cx="4526280" cy="14630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0" y="4370832"/>
            <a:ext cx="4526280" cy="731520"/>
          </a:xfrm>
          <a:prstGeom prst="rect">
            <a:avLst/>
          </a:prstGeom>
          <a:noFill/>
        </p:spPr>
        <p:txBody>
          <a:bodyPr wrap="square" lIns="0" tIns="0" rIns="0" bIns="0" anchor="t">
            <a:spAutoFit/>
          </a:bodyPr>
          <a:lstStyle/>
          <a:p>
            <a:pPr algn="ctr">
              <a:lnSpc>
                <a:spcPct val="100000"/>
              </a:lnSpc>
              <a:spcAft>
                <a:spcPts val="600"/>
              </a:spcAft>
            </a:pPr>
            <a:r>
              <a:rPr sz="3200" b="1" i="0">
                <a:solidFill>
                  <a:srgbClr val="00E4FF"/>
                </a:solidFill>
                <a:latin typeface="Cambria"/>
              </a:rPr>
              <a:t>d = 2·Nr</a:t>
            </a:r>
          </a:p>
        </p:txBody>
      </p:sp>
      <p:sp>
        <p:nvSpPr>
          <p:cNvPr id="12" name="TextBox 11"/>
          <p:cNvSpPr txBox="1"/>
          <p:nvPr/>
        </p:nvSpPr>
        <p:spPr>
          <a:xfrm>
            <a:off x="6949440" y="5102352"/>
            <a:ext cx="434340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Alamouti scales with every receive antenna you add</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7C5CFF"/>
                </a:solidFill>
                <a:latin typeface="Calibri"/>
              </a:rPr>
              <a:t>NUMERICAL 5</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Rank → Diversity, By Hand</a:t>
            </a:r>
          </a:p>
        </p:txBody>
      </p:sp>
      <p:sp>
        <p:nvSpPr>
          <p:cNvPr id="4" name="Rounded Rectangle 3"/>
          <p:cNvSpPr/>
          <p:nvPr/>
        </p:nvSpPr>
        <p:spPr>
          <a:xfrm>
            <a:off x="502920" y="1691640"/>
            <a:ext cx="11155680" cy="10972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Problem</a:t>
            </a:r>
          </a:p>
        </p:txBody>
      </p:sp>
      <p:sp>
        <p:nvSpPr>
          <p:cNvPr id="6" name="TextBox 5"/>
          <p:cNvSpPr txBox="1"/>
          <p:nvPr/>
        </p:nvSpPr>
        <p:spPr>
          <a:xfrm>
            <a:off x="777240" y="2194560"/>
            <a:ext cx="10607040" cy="502920"/>
          </a:xfrm>
          <a:prstGeom prst="rect">
            <a:avLst/>
          </a:prstGeom>
          <a:noFill/>
        </p:spPr>
        <p:txBody>
          <a:bodyPr wrap="square" lIns="0" tIns="0" rIns="0" bIns="0" anchor="t">
            <a:spAutoFit/>
          </a:bodyPr>
          <a:lstStyle/>
          <a:p>
            <a:pPr algn="l">
              <a:lnSpc>
                <a:spcPct val="100000"/>
              </a:lnSpc>
              <a:spcAft>
                <a:spcPts val="600"/>
              </a:spcAft>
            </a:pPr>
            <a:r>
              <a:rPr sz="1550" b="0" i="0">
                <a:solidFill>
                  <a:srgbClr val="E8EAF6"/>
                </a:solidFill>
                <a:latin typeface="Calibri"/>
              </a:rPr>
              <a:t>For a 2-antenna code, two pairs produce these difference matrices. Predict the diversity each pair supports (Nr = 2).</a:t>
            </a:r>
          </a:p>
        </p:txBody>
      </p:sp>
      <p:sp>
        <p:nvSpPr>
          <p:cNvPr id="7" name="Rounded Rectangle 6"/>
          <p:cNvSpPr/>
          <p:nvPr/>
        </p:nvSpPr>
        <p:spPr>
          <a:xfrm>
            <a:off x="502920" y="3017520"/>
            <a:ext cx="5440680" cy="3063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16382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ΔX₁ = [ 2  0 ; 0  2 ]</a:t>
            </a:r>
          </a:p>
        </p:txBody>
      </p:sp>
      <p:sp>
        <p:nvSpPr>
          <p:cNvPr id="9" name="TextBox 8"/>
          <p:cNvSpPr txBox="1"/>
          <p:nvPr/>
        </p:nvSpPr>
        <p:spPr>
          <a:xfrm>
            <a:off x="777240" y="3611880"/>
            <a:ext cx="4937760" cy="2286000"/>
          </a:xfrm>
          <a:prstGeom prst="rect">
            <a:avLst/>
          </a:prstGeom>
          <a:noFill/>
        </p:spPr>
        <p:txBody>
          <a:bodyPr wrap="square" lIns="0" tIns="0" rIns="0" bIns="0" anchor="t">
            <a:spAutoFit/>
          </a:bodyPr>
          <a:lstStyle/>
          <a:p>
            <a:pPr algn="l">
              <a:lnSpc>
                <a:spcPct val="100000"/>
              </a:lnSpc>
              <a:spcAft>
                <a:spcPts val="1000"/>
              </a:spcAft>
            </a:pPr>
            <a:r>
              <a:rPr sz="1700" b="1" i="0">
                <a:solidFill>
                  <a:srgbClr val="3DDC97"/>
                </a:solidFill>
                <a:latin typeface="Calibri"/>
              </a:rPr>
              <a:t>det = 4 ≠ 0  →  rank r = 2</a:t>
            </a:r>
          </a:p>
          <a:p>
            <a:pPr algn="l">
              <a:lnSpc>
                <a:spcPct val="100000"/>
              </a:lnSpc>
              <a:spcAft>
                <a:spcPts val="1000"/>
              </a:spcAft>
            </a:pPr>
            <a:r>
              <a:rPr sz="2000" b="1" i="0">
                <a:solidFill>
                  <a:srgbClr val="3DDC97"/>
                </a:solidFill>
                <a:latin typeface="Calibri"/>
              </a:rPr>
              <a:t>d = r·Nr = 2 × 2 = 4</a:t>
            </a:r>
          </a:p>
          <a:p>
            <a:pPr algn="l">
              <a:lnSpc>
                <a:spcPct val="100000"/>
              </a:lnSpc>
              <a:spcAft>
                <a:spcPts val="1000"/>
              </a:spcAft>
            </a:pPr>
            <a:r>
              <a:rPr sz="1400" b="0" i="0">
                <a:solidFill>
                  <a:srgbClr val="9AA3C0"/>
                </a:solidFill>
                <a:latin typeface="Calibri"/>
              </a:rPr>
              <a:t>Full diversity pair — protected in every direction.</a:t>
            </a:r>
          </a:p>
        </p:txBody>
      </p:sp>
      <p:sp>
        <p:nvSpPr>
          <p:cNvPr id="10" name="Rounded Rectangle 9"/>
          <p:cNvSpPr/>
          <p:nvPr/>
        </p:nvSpPr>
        <p:spPr>
          <a:xfrm>
            <a:off x="6217920" y="3017520"/>
            <a:ext cx="5440680" cy="3063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316382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ΔX₂ = [ 2  2 ; 1  1 ]</a:t>
            </a:r>
          </a:p>
        </p:txBody>
      </p:sp>
      <p:sp>
        <p:nvSpPr>
          <p:cNvPr id="12" name="TextBox 11"/>
          <p:cNvSpPr txBox="1"/>
          <p:nvPr/>
        </p:nvSpPr>
        <p:spPr>
          <a:xfrm>
            <a:off x="6492240" y="3611880"/>
            <a:ext cx="4937760" cy="2286000"/>
          </a:xfrm>
          <a:prstGeom prst="rect">
            <a:avLst/>
          </a:prstGeom>
          <a:noFill/>
        </p:spPr>
        <p:txBody>
          <a:bodyPr wrap="square" lIns="0" tIns="0" rIns="0" bIns="0" anchor="t">
            <a:spAutoFit/>
          </a:bodyPr>
          <a:lstStyle/>
          <a:p>
            <a:pPr algn="l">
              <a:lnSpc>
                <a:spcPct val="100000"/>
              </a:lnSpc>
              <a:spcAft>
                <a:spcPts val="1000"/>
              </a:spcAft>
            </a:pPr>
            <a:r>
              <a:rPr sz="1700" b="1" i="0">
                <a:solidFill>
                  <a:srgbClr val="FF5C7A"/>
                </a:solidFill>
                <a:latin typeface="Calibri"/>
              </a:rPr>
              <a:t>det = 2·1 − 2·1 = 0  →  rank r = 1</a:t>
            </a:r>
          </a:p>
          <a:p>
            <a:pPr algn="l">
              <a:lnSpc>
                <a:spcPct val="100000"/>
              </a:lnSpc>
              <a:spcAft>
                <a:spcPts val="1000"/>
              </a:spcAft>
            </a:pPr>
            <a:r>
              <a:rPr sz="2000" b="1" i="0">
                <a:solidFill>
                  <a:srgbClr val="FF5C7A"/>
                </a:solidFill>
                <a:latin typeface="Calibri"/>
              </a:rPr>
              <a:t>d = r·Nr = 1 × 2 = 2</a:t>
            </a:r>
          </a:p>
          <a:p>
            <a:pPr algn="l">
              <a:lnSpc>
                <a:spcPct val="100000"/>
              </a:lnSpc>
              <a:spcAft>
                <a:spcPts val="1000"/>
              </a:spcAft>
            </a:pPr>
            <a:r>
              <a:rPr sz="1400" b="0" i="0">
                <a:solidFill>
                  <a:srgbClr val="9AA3C0"/>
                </a:solidFill>
                <a:latin typeface="Calibri"/>
              </a:rPr>
              <a:t>Rows are parallel: one spatial direction is invisible. This pair sets the code's error floor.</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FFB454"/>
                </a:solidFill>
                <a:latin typeface="Calibri"/>
              </a:rPr>
              <a:t>CHECKPOINT QUIZ</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4 — Your Turn</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Q1.  </a:t>
            </a:r>
            <a:r>
              <a:rPr sz="1600" b="1" i="0">
                <a:solidFill>
                  <a:srgbClr val="E8EAF6"/>
                </a:solidFill>
                <a:latin typeface="Calibri"/>
              </a:rPr>
              <a:t>A 2-antenna code has one pair with rank(ΔX) = 1, all others rank 2. The CODE's diversity is…</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2 (best pair)      (b) 1 (worst pair) × Nr      (c) average of pairs      (d) undefined</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Q2.  </a:t>
            </a:r>
            <a:r>
              <a:rPr sz="1600" b="1" i="0">
                <a:solidFill>
                  <a:srgbClr val="E8EAF6"/>
                </a:solidFill>
                <a:latin typeface="Calibri"/>
              </a:rPr>
              <a:t>rank(ΔX) for ΔX = [3 6; 1 2] is…</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0      (b) 1      (c) 2      (d) 3</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dirty="0">
                <a:solidFill>
                  <a:srgbClr val="FFB454"/>
                </a:solidFill>
                <a:latin typeface="Calibri"/>
              </a:rPr>
              <a:t>Q3.  </a:t>
            </a:r>
            <a:r>
              <a:rPr sz="1600" b="1" i="0" dirty="0">
                <a:solidFill>
                  <a:srgbClr val="E8EAF6"/>
                </a:solidFill>
                <a:latin typeface="Calibri"/>
              </a:rPr>
              <a:t>Full diversity for an </a:t>
            </a:r>
            <a:r>
              <a:rPr sz="1600" b="1" i="0" dirty="0" err="1">
                <a:solidFill>
                  <a:srgbClr val="E8EAF6"/>
                </a:solidFill>
                <a:latin typeface="Calibri"/>
              </a:rPr>
              <a:t>Nt</a:t>
            </a:r>
            <a:r>
              <a:rPr sz="1600" b="1" i="0" dirty="0">
                <a:solidFill>
                  <a:srgbClr val="E8EAF6"/>
                </a:solidFill>
                <a:latin typeface="Calibri"/>
              </a:rPr>
              <a:t>-antenna code requires…</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(a) one pair full rank      (b) most pairs full rank      (c) EVERY pair full rank      (d) full-rank channel H</a:t>
            </a:r>
          </a:p>
        </p:txBody>
      </p:sp>
      <p:sp>
        <p:nvSpPr>
          <p:cNvPr id="13" name="TextBox 12"/>
          <p:cNvSpPr txBox="1"/>
          <p:nvPr/>
        </p:nvSpPr>
        <p:spPr>
          <a:xfrm>
            <a:off x="502920" y="6355080"/>
            <a:ext cx="8229600" cy="274320"/>
          </a:xfrm>
          <a:prstGeom prst="rect">
            <a:avLst/>
          </a:prstGeom>
          <a:noFill/>
        </p:spPr>
        <p:txBody>
          <a:bodyPr wrap="square" lIns="0" tIns="0" rIns="0" bIns="0" anchor="t">
            <a:spAutoFit/>
          </a:bodyPr>
          <a:lstStyle/>
          <a:p>
            <a:pPr algn="l">
              <a:lnSpc>
                <a:spcPct val="100000"/>
              </a:lnSpc>
              <a:spcAft>
                <a:spcPts val="600"/>
              </a:spcAft>
            </a:pPr>
            <a:r>
              <a:rPr sz="1250" b="0" i="0">
                <a:solidFill>
                  <a:srgbClr val="FFB454"/>
                </a:solidFill>
                <a:latin typeface="Calibri"/>
              </a:rPr>
              <a:t>Answers on the next slide — commit before you flip!</a:t>
            </a:r>
          </a:p>
        </p:txBody>
      </p:sp>
      <p:sp>
        <p:nvSpPr>
          <p:cNvPr id="14" name="TextBox 13"/>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ANSWERS</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Quiz 4 — Answers</a:t>
            </a:r>
          </a:p>
        </p:txBody>
      </p:sp>
      <p:sp>
        <p:nvSpPr>
          <p:cNvPr id="4" name="Rounded Rectangle 3"/>
          <p:cNvSpPr/>
          <p:nvPr/>
        </p:nvSpPr>
        <p:spPr>
          <a:xfrm>
            <a:off x="502920" y="160020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28216"/>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A1.  (b) worst pair rules</a:t>
            </a:r>
          </a:p>
        </p:txBody>
      </p:sp>
      <p:sp>
        <p:nvSpPr>
          <p:cNvPr id="6" name="TextBox 5"/>
          <p:cNvSpPr txBox="1"/>
          <p:nvPr/>
        </p:nvSpPr>
        <p:spPr>
          <a:xfrm>
            <a:off x="731520" y="2167128"/>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The weakest matchup dominates the union bound — diversity is a worst-case guarantee.</a:t>
            </a:r>
          </a:p>
        </p:txBody>
      </p:sp>
      <p:sp>
        <p:nvSpPr>
          <p:cNvPr id="7" name="Rounded Rectangle 6"/>
          <p:cNvSpPr/>
          <p:nvPr/>
        </p:nvSpPr>
        <p:spPr>
          <a:xfrm>
            <a:off x="502920" y="3218688"/>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46704"/>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A2.  (b) 1</a:t>
            </a:r>
          </a:p>
        </p:txBody>
      </p:sp>
      <p:sp>
        <p:nvSpPr>
          <p:cNvPr id="9" name="TextBox 8"/>
          <p:cNvSpPr txBox="1"/>
          <p:nvPr/>
        </p:nvSpPr>
        <p:spPr>
          <a:xfrm>
            <a:off x="731520" y="3785616"/>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Second row = first row ÷ 3: rows are dependent, det = 0.</a:t>
            </a:r>
          </a:p>
        </p:txBody>
      </p:sp>
      <p:sp>
        <p:nvSpPr>
          <p:cNvPr id="10" name="Rounded Rectangle 9"/>
          <p:cNvSpPr/>
          <p:nvPr/>
        </p:nvSpPr>
        <p:spPr>
          <a:xfrm>
            <a:off x="502920" y="4837176"/>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965192"/>
            <a:ext cx="10698480" cy="365760"/>
          </a:xfrm>
          <a:prstGeom prst="rect">
            <a:avLst/>
          </a:prstGeom>
          <a:noFill/>
        </p:spPr>
        <p:txBody>
          <a:bodyPr wrap="square" lIns="0" tIns="0" rIns="0" bIns="0" anchor="t">
            <a:spAutoFit/>
          </a:bodyPr>
          <a:lstStyle/>
          <a:p>
            <a:pPr algn="l">
              <a:lnSpc>
                <a:spcPct val="100000"/>
              </a:lnSpc>
              <a:spcAft>
                <a:spcPts val="600"/>
              </a:spcAft>
            </a:pPr>
            <a:r>
              <a:rPr sz="1600" b="1" i="0">
                <a:solidFill>
                  <a:srgbClr val="3DDC97"/>
                </a:solidFill>
                <a:latin typeface="Calibri"/>
              </a:rPr>
              <a:t>A3.  (c) every pair</a:t>
            </a:r>
          </a:p>
        </p:txBody>
      </p:sp>
      <p:sp>
        <p:nvSpPr>
          <p:cNvPr id="12" name="TextBox 11"/>
          <p:cNvSpPr txBox="1"/>
          <p:nvPr/>
        </p:nvSpPr>
        <p:spPr>
          <a:xfrm>
            <a:off x="731520" y="5404104"/>
            <a:ext cx="10698480" cy="77724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One bad pair caps the slope of the entire BER curve. Code design = policing all pairs.</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THE GRAND RESULT</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The Diversity Multiplication Law</a:t>
            </a:r>
          </a:p>
        </p:txBody>
      </p:sp>
      <p:sp>
        <p:nvSpPr>
          <p:cNvPr id="4" name="Rounded Rectangle 3"/>
          <p:cNvSpPr/>
          <p:nvPr/>
        </p:nvSpPr>
        <p:spPr>
          <a:xfrm>
            <a:off x="502920" y="1783080"/>
            <a:ext cx="11155680" cy="21031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11680"/>
            <a:ext cx="10607040" cy="1645920"/>
          </a:xfrm>
          <a:prstGeom prst="rect">
            <a:avLst/>
          </a:prstGeom>
          <a:noFill/>
        </p:spPr>
        <p:txBody>
          <a:bodyPr wrap="square" lIns="0" tIns="0" rIns="0" bIns="0" anchor="t">
            <a:spAutoFit/>
          </a:bodyPr>
          <a:lstStyle/>
          <a:p>
            <a:pPr algn="l">
              <a:lnSpc>
                <a:spcPct val="100000"/>
              </a:lnSpc>
              <a:spcAft>
                <a:spcPts val="1400"/>
              </a:spcAft>
            </a:pPr>
            <a:r>
              <a:rPr sz="4600" b="1" i="0">
                <a:solidFill>
                  <a:srgbClr val="00E4FF"/>
                </a:solidFill>
                <a:latin typeface="Cambria"/>
              </a:rPr>
              <a:t>d = r · Nr</a:t>
            </a:r>
            <a:r>
              <a:rPr sz="2000" b="0" i="0">
                <a:solidFill>
                  <a:srgbClr val="9AA3C0"/>
                </a:solidFill>
                <a:latin typeface="Calibri"/>
              </a:rPr>
              <a:t>        and        </a:t>
            </a:r>
            <a:r>
              <a:rPr sz="4600" b="1" i="0">
                <a:solidFill>
                  <a:srgbClr val="3DDC97"/>
                </a:solidFill>
                <a:latin typeface="Cambria"/>
              </a:rPr>
              <a:t>d_max = Nt · Nr</a:t>
            </a:r>
          </a:p>
          <a:p>
            <a:pPr algn="l">
              <a:lnSpc>
                <a:spcPct val="100000"/>
              </a:lnSpc>
              <a:spcAft>
                <a:spcPts val="1400"/>
              </a:spcAft>
            </a:pPr>
            <a:r>
              <a:rPr sz="1600" b="0" i="0">
                <a:solidFill>
                  <a:srgbClr val="E8EAF6"/>
                </a:solidFill>
                <a:latin typeface="Calibri"/>
              </a:rPr>
              <a:t>r = rank of the worst-case ΔX.  When r = Nt, antennas MULTIPLY — they don't add.</a:t>
            </a:r>
          </a:p>
        </p:txBody>
      </p:sp>
      <p:sp>
        <p:nvSpPr>
          <p:cNvPr id="6" name="Rounded Rectangle 5"/>
          <p:cNvSpPr/>
          <p:nvPr/>
        </p:nvSpPr>
        <p:spPr>
          <a:xfrm>
            <a:off x="502920" y="4206240"/>
            <a:ext cx="356616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4370832"/>
            <a:ext cx="3566160" cy="731520"/>
          </a:xfrm>
          <a:prstGeom prst="rect">
            <a:avLst/>
          </a:prstGeom>
          <a:noFill/>
        </p:spPr>
        <p:txBody>
          <a:bodyPr wrap="square" lIns="0" tIns="0" rIns="0" bIns="0" anchor="t">
            <a:spAutoFit/>
          </a:bodyPr>
          <a:lstStyle/>
          <a:p>
            <a:pPr algn="ctr">
              <a:lnSpc>
                <a:spcPct val="100000"/>
              </a:lnSpc>
              <a:spcAft>
                <a:spcPts val="600"/>
              </a:spcAft>
            </a:pPr>
            <a:r>
              <a:rPr sz="4400" b="1" i="0">
                <a:solidFill>
                  <a:srgbClr val="00E4FF"/>
                </a:solidFill>
                <a:latin typeface="Cambria"/>
              </a:rPr>
              <a:t>2 × 2 → 4</a:t>
            </a:r>
          </a:p>
        </p:txBody>
      </p:sp>
      <p:sp>
        <p:nvSpPr>
          <p:cNvPr id="8" name="TextBox 7"/>
          <p:cNvSpPr txBox="1"/>
          <p:nvPr/>
        </p:nvSpPr>
        <p:spPr>
          <a:xfrm>
            <a:off x="594360" y="5193792"/>
            <a:ext cx="338328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not 2 + 2</a:t>
            </a:r>
          </a:p>
        </p:txBody>
      </p:sp>
      <p:sp>
        <p:nvSpPr>
          <p:cNvPr id="9" name="Rounded Rectangle 8"/>
          <p:cNvSpPr/>
          <p:nvPr/>
        </p:nvSpPr>
        <p:spPr>
          <a:xfrm>
            <a:off x="4297680" y="4206240"/>
            <a:ext cx="356616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80" y="4370832"/>
            <a:ext cx="3566160" cy="731520"/>
          </a:xfrm>
          <a:prstGeom prst="rect">
            <a:avLst/>
          </a:prstGeom>
          <a:noFill/>
        </p:spPr>
        <p:txBody>
          <a:bodyPr wrap="square" lIns="0" tIns="0" rIns="0" bIns="0" anchor="t">
            <a:spAutoFit/>
          </a:bodyPr>
          <a:lstStyle/>
          <a:p>
            <a:pPr algn="ctr">
              <a:lnSpc>
                <a:spcPct val="100000"/>
              </a:lnSpc>
              <a:spcAft>
                <a:spcPts val="600"/>
              </a:spcAft>
            </a:pPr>
            <a:r>
              <a:rPr sz="4400" b="1" i="0">
                <a:solidFill>
                  <a:srgbClr val="7C5CFF"/>
                </a:solidFill>
                <a:latin typeface="Cambria"/>
              </a:rPr>
              <a:t>4 × 4 → 16</a:t>
            </a:r>
          </a:p>
        </p:txBody>
      </p:sp>
      <p:sp>
        <p:nvSpPr>
          <p:cNvPr id="11" name="TextBox 10"/>
          <p:cNvSpPr txBox="1"/>
          <p:nvPr/>
        </p:nvSpPr>
        <p:spPr>
          <a:xfrm>
            <a:off x="4389120" y="5193792"/>
            <a:ext cx="338328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sixteen independent escape routes</a:t>
            </a:r>
          </a:p>
        </p:txBody>
      </p:sp>
      <p:sp>
        <p:nvSpPr>
          <p:cNvPr id="12" name="Rounded Rectangle 11"/>
          <p:cNvSpPr/>
          <p:nvPr/>
        </p:nvSpPr>
        <p:spPr>
          <a:xfrm>
            <a:off x="8092440" y="4206240"/>
            <a:ext cx="356616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92440" y="4370832"/>
            <a:ext cx="3566160" cy="731520"/>
          </a:xfrm>
          <a:prstGeom prst="rect">
            <a:avLst/>
          </a:prstGeom>
          <a:noFill/>
        </p:spPr>
        <p:txBody>
          <a:bodyPr wrap="square" lIns="0" tIns="0" rIns="0" bIns="0" anchor="t">
            <a:spAutoFit/>
          </a:bodyPr>
          <a:lstStyle/>
          <a:p>
            <a:pPr algn="ctr">
              <a:lnSpc>
                <a:spcPct val="100000"/>
              </a:lnSpc>
              <a:spcAft>
                <a:spcPts val="600"/>
              </a:spcAft>
            </a:pPr>
            <a:r>
              <a:rPr sz="4400" b="1" i="0">
                <a:solidFill>
                  <a:srgbClr val="3DDC97"/>
                </a:solidFill>
                <a:latin typeface="Cambria"/>
              </a:rPr>
              <a:t>8 × 4 → 32</a:t>
            </a:r>
          </a:p>
        </p:txBody>
      </p:sp>
      <p:sp>
        <p:nvSpPr>
          <p:cNvPr id="14" name="TextBox 13"/>
          <p:cNvSpPr txBox="1"/>
          <p:nvPr/>
        </p:nvSpPr>
        <p:spPr>
          <a:xfrm>
            <a:off x="8183880" y="5193792"/>
            <a:ext cx="3383280" cy="50292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massive-MIMO territory</a:t>
            </a:r>
          </a:p>
        </p:txBody>
      </p:sp>
      <p:sp>
        <p:nvSpPr>
          <p:cNvPr id="15" name="TextBox 14"/>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7C5CFF"/>
                </a:solidFill>
                <a:latin typeface="Calibri"/>
              </a:rPr>
              <a:t>NUMERICAL 6</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Massive-MIMO Panel, Dropped Rank</a:t>
            </a:r>
          </a:p>
        </p:txBody>
      </p:sp>
      <p:sp>
        <p:nvSpPr>
          <p:cNvPr id="4" name="Rounded Rectangle 3"/>
          <p:cNvSpPr/>
          <p:nvPr/>
        </p:nvSpPr>
        <p:spPr>
          <a:xfrm>
            <a:off x="502920" y="1691640"/>
            <a:ext cx="11155680" cy="10972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Problem</a:t>
            </a:r>
          </a:p>
        </p:txBody>
      </p:sp>
      <p:sp>
        <p:nvSpPr>
          <p:cNvPr id="6" name="TextBox 5"/>
          <p:cNvSpPr txBox="1"/>
          <p:nvPr/>
        </p:nvSpPr>
        <p:spPr>
          <a:xfrm>
            <a:off x="777240" y="2194560"/>
            <a:ext cx="10607040" cy="50292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A 4×4 link uses a code with full-rank ΔX. (a) Max diversity? (b) A cheaper code has one pair with rank 2 — new diversity? (c) BER impact at 20 dB, Pₑ ≈ SNR⁻ᵈ.</a:t>
            </a:r>
          </a:p>
        </p:txBody>
      </p:sp>
      <p:sp>
        <p:nvSpPr>
          <p:cNvPr id="7" name="Rounded Rectangle 6"/>
          <p:cNvSpPr/>
          <p:nvPr/>
        </p:nvSpPr>
        <p:spPr>
          <a:xfrm>
            <a:off x="502920" y="3017520"/>
            <a:ext cx="5440680" cy="3063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16382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Solution</a:t>
            </a:r>
          </a:p>
        </p:txBody>
      </p:sp>
      <p:sp>
        <p:nvSpPr>
          <p:cNvPr id="9" name="TextBox 8"/>
          <p:cNvSpPr txBox="1"/>
          <p:nvPr/>
        </p:nvSpPr>
        <p:spPr>
          <a:xfrm>
            <a:off x="777240" y="3566160"/>
            <a:ext cx="4937760" cy="2377440"/>
          </a:xfrm>
          <a:prstGeom prst="rect">
            <a:avLst/>
          </a:prstGeom>
          <a:noFill/>
        </p:spPr>
        <p:txBody>
          <a:bodyPr wrap="square" lIns="0" tIns="0" rIns="0" bIns="0" anchor="t">
            <a:spAutoFit/>
          </a:bodyPr>
          <a:lstStyle/>
          <a:p>
            <a:pPr algn="l">
              <a:lnSpc>
                <a:spcPct val="100000"/>
              </a:lnSpc>
              <a:spcAft>
                <a:spcPts val="900"/>
              </a:spcAft>
            </a:pPr>
            <a:r>
              <a:rPr sz="1700" b="1" i="0" dirty="0">
                <a:solidFill>
                  <a:srgbClr val="3DDC97"/>
                </a:solidFill>
                <a:latin typeface="Calibri"/>
              </a:rPr>
              <a:t>(a)  d = </a:t>
            </a:r>
            <a:r>
              <a:rPr sz="1700" b="1" i="0" dirty="0" err="1">
                <a:solidFill>
                  <a:srgbClr val="3DDC97"/>
                </a:solidFill>
                <a:latin typeface="Calibri"/>
              </a:rPr>
              <a:t>Nt·Nr</a:t>
            </a:r>
            <a:r>
              <a:rPr sz="1700" b="1" i="0" dirty="0">
                <a:solidFill>
                  <a:srgbClr val="3DDC97"/>
                </a:solidFill>
                <a:latin typeface="Calibri"/>
              </a:rPr>
              <a:t> = 4 × 4 = 16</a:t>
            </a:r>
          </a:p>
          <a:p>
            <a:pPr algn="l">
              <a:lnSpc>
                <a:spcPct val="100000"/>
              </a:lnSpc>
              <a:spcAft>
                <a:spcPts val="900"/>
              </a:spcAft>
            </a:pPr>
            <a:r>
              <a:rPr sz="1700" b="1" i="0" dirty="0">
                <a:solidFill>
                  <a:srgbClr val="FFB454"/>
                </a:solidFill>
                <a:latin typeface="Calibri"/>
              </a:rPr>
              <a:t>(b)  d = </a:t>
            </a:r>
            <a:r>
              <a:rPr sz="1700" b="1" i="0" dirty="0" err="1">
                <a:solidFill>
                  <a:srgbClr val="FFB454"/>
                </a:solidFill>
                <a:latin typeface="Calibri"/>
              </a:rPr>
              <a:t>r·Nr</a:t>
            </a:r>
            <a:r>
              <a:rPr sz="1700" b="1" i="0" dirty="0">
                <a:solidFill>
                  <a:srgbClr val="FFB454"/>
                </a:solidFill>
                <a:latin typeface="Calibri"/>
              </a:rPr>
              <a:t> = 2 × 4 = 8</a:t>
            </a:r>
          </a:p>
          <a:p>
            <a:pPr algn="l">
              <a:lnSpc>
                <a:spcPct val="100000"/>
              </a:lnSpc>
              <a:spcAft>
                <a:spcPts val="900"/>
              </a:spcAft>
            </a:pPr>
            <a:r>
              <a:rPr sz="1500" b="0" i="0" dirty="0">
                <a:solidFill>
                  <a:srgbClr val="E8EAF6"/>
                </a:solidFill>
                <a:latin typeface="Calibri"/>
              </a:rPr>
              <a:t>(c)  at SNR = 100:</a:t>
            </a:r>
          </a:p>
          <a:p>
            <a:pPr algn="l">
              <a:lnSpc>
                <a:spcPct val="100000"/>
              </a:lnSpc>
              <a:spcAft>
                <a:spcPts val="900"/>
              </a:spcAft>
            </a:pPr>
            <a:r>
              <a:rPr sz="1500" b="0" i="0" dirty="0">
                <a:solidFill>
                  <a:srgbClr val="FF5C7A"/>
                </a:solidFill>
                <a:latin typeface="Calibri"/>
              </a:rPr>
              <a:t>      10⁻³² vs 10⁻¹⁶ — sixteen orders of magnitude surrendered to save code complexity</a:t>
            </a:r>
          </a:p>
        </p:txBody>
      </p:sp>
      <p:sp>
        <p:nvSpPr>
          <p:cNvPr id="10" name="Rounded Rectangle 9"/>
          <p:cNvSpPr/>
          <p:nvPr/>
        </p:nvSpPr>
        <p:spPr>
          <a:xfrm>
            <a:off x="6217920" y="3017520"/>
            <a:ext cx="5440680" cy="3063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316382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Engineering read</a:t>
            </a:r>
          </a:p>
        </p:txBody>
      </p:sp>
      <p:sp>
        <p:nvSpPr>
          <p:cNvPr id="12" name="TextBox 11"/>
          <p:cNvSpPr txBox="1"/>
          <p:nvPr/>
        </p:nvSpPr>
        <p:spPr>
          <a:xfrm>
            <a:off x="6492240" y="3566160"/>
            <a:ext cx="4937760" cy="2377440"/>
          </a:xfrm>
          <a:prstGeom prst="rect">
            <a:avLst/>
          </a:prstGeom>
          <a:noFill/>
        </p:spPr>
        <p:txBody>
          <a:bodyPr wrap="square" lIns="0" tIns="0" rIns="0" bIns="0" anchor="t">
            <a:spAutoFit/>
          </a:bodyPr>
          <a:lstStyle/>
          <a:p>
            <a:pPr algn="l">
              <a:lnSpc>
                <a:spcPct val="100000"/>
              </a:lnSpc>
              <a:spcAft>
                <a:spcPts val="600"/>
              </a:spcAft>
            </a:pPr>
            <a:r>
              <a:rPr sz="1450" b="0" i="0" dirty="0">
                <a:solidFill>
                  <a:srgbClr val="E8EAF6"/>
                </a:solidFill>
                <a:latin typeface="Calibri"/>
              </a:rPr>
              <a:t>In practice both are 'error-free' — which is exactly why real systems trade some diversity for RATE (spatial multiplexing).
The theorem tells you how much reliability headroom you're spending. That trade is the diversity–multiplexing story of the next session.</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DESIGN PROBLEM 1 · 5G</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Urban Small Cell: 2×2 or 4×2?</a:t>
            </a:r>
          </a:p>
        </p:txBody>
      </p:sp>
      <p:sp>
        <p:nvSpPr>
          <p:cNvPr id="4" name="Rounded Rectangle 3"/>
          <p:cNvSpPr/>
          <p:nvPr/>
        </p:nvSpPr>
        <p:spPr>
          <a:xfrm>
            <a:off x="502920" y="1691640"/>
            <a:ext cx="11155680" cy="155448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Brief</a:t>
            </a:r>
          </a:p>
        </p:txBody>
      </p:sp>
      <p:sp>
        <p:nvSpPr>
          <p:cNvPr id="6" name="TextBox 5"/>
          <p:cNvSpPr txBox="1"/>
          <p:nvPr/>
        </p:nvSpPr>
        <p:spPr>
          <a:xfrm>
            <a:off x="777240" y="2212848"/>
            <a:ext cx="10607040" cy="91440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A smart-city small cell must deliver BER ≤ 10⁻⁶ to meters at the cell edge, where SNR ≈ 15 dB. Option A: 2×2 (cheap). Option B: 4×2 (adds 2 RF chains, +40% cost). Use Pₑ ≈ SNR⁻ᵈ with full-rank STBC. Which option, and what would change your answer?</a:t>
            </a:r>
          </a:p>
        </p:txBody>
      </p:sp>
      <p:sp>
        <p:nvSpPr>
          <p:cNvPr id="7" name="Rounded Rectangle 6"/>
          <p:cNvSpPr/>
          <p:nvPr/>
        </p:nvSpPr>
        <p:spPr>
          <a:xfrm>
            <a:off x="502920" y="3474720"/>
            <a:ext cx="11155680" cy="26060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62102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Worksheet — fill before flipping</a:t>
            </a:r>
          </a:p>
        </p:txBody>
      </p:sp>
      <p:sp>
        <p:nvSpPr>
          <p:cNvPr id="9" name="TextBox 8"/>
          <p:cNvSpPr txBox="1"/>
          <p:nvPr/>
        </p:nvSpPr>
        <p:spPr>
          <a:xfrm>
            <a:off x="777240" y="4023360"/>
            <a:ext cx="10607040" cy="1920240"/>
          </a:xfrm>
          <a:prstGeom prst="rect">
            <a:avLst/>
          </a:prstGeom>
          <a:noFill/>
        </p:spPr>
        <p:txBody>
          <a:bodyPr wrap="square" lIns="0" tIns="0" rIns="0" bIns="0" anchor="t">
            <a:spAutoFit/>
          </a:bodyPr>
          <a:lstStyle/>
          <a:p>
            <a:pPr algn="l">
              <a:lnSpc>
                <a:spcPct val="105000"/>
              </a:lnSpc>
              <a:spcAft>
                <a:spcPts val="900"/>
              </a:spcAft>
            </a:pPr>
            <a:r>
              <a:rPr sz="1500" b="1" i="0">
                <a:solidFill>
                  <a:srgbClr val="7C5CFF"/>
                </a:solidFill>
                <a:latin typeface="Calibri"/>
              </a:rPr>
              <a:t>›  </a:t>
            </a:r>
            <a:r>
              <a:rPr sz="1500" b="0" i="0">
                <a:solidFill>
                  <a:srgbClr val="E8EAF6"/>
                </a:solidFill>
                <a:latin typeface="Calibri"/>
              </a:rPr>
              <a:t>Step 1: convert 15 dB → linear SNR</a:t>
            </a:r>
          </a:p>
          <a:p>
            <a:pPr algn="l">
              <a:lnSpc>
                <a:spcPct val="105000"/>
              </a:lnSpc>
              <a:spcAft>
                <a:spcPts val="900"/>
              </a:spcAft>
            </a:pPr>
            <a:r>
              <a:rPr sz="1500" b="1" i="0">
                <a:solidFill>
                  <a:srgbClr val="7C5CFF"/>
                </a:solidFill>
                <a:latin typeface="Calibri"/>
              </a:rPr>
              <a:t>›  </a:t>
            </a:r>
            <a:r>
              <a:rPr sz="1500" b="0" i="0">
                <a:solidFill>
                  <a:srgbClr val="E8EAF6"/>
                </a:solidFill>
                <a:latin typeface="Calibri"/>
              </a:rPr>
              <a:t>Step 2: diversity of each option (assume full rank)</a:t>
            </a:r>
          </a:p>
          <a:p>
            <a:pPr algn="l">
              <a:lnSpc>
                <a:spcPct val="105000"/>
              </a:lnSpc>
              <a:spcAft>
                <a:spcPts val="900"/>
              </a:spcAft>
            </a:pPr>
            <a:r>
              <a:rPr sz="1500" b="1" i="0">
                <a:solidFill>
                  <a:srgbClr val="7C5CFF"/>
                </a:solidFill>
                <a:latin typeface="Calibri"/>
              </a:rPr>
              <a:t>›  </a:t>
            </a:r>
            <a:r>
              <a:rPr sz="1500" b="0" i="0">
                <a:solidFill>
                  <a:srgbClr val="E8EAF6"/>
                </a:solidFill>
                <a:latin typeface="Calibri"/>
              </a:rPr>
              <a:t>Step 3: estimate Pₑ for each; compare to 10⁻⁶</a:t>
            </a:r>
          </a:p>
          <a:p>
            <a:pPr algn="l">
              <a:lnSpc>
                <a:spcPct val="105000"/>
              </a:lnSpc>
              <a:spcAft>
                <a:spcPts val="900"/>
              </a:spcAft>
            </a:pPr>
            <a:r>
              <a:rPr sz="1500" b="1" i="0">
                <a:solidFill>
                  <a:srgbClr val="7C5CFF"/>
                </a:solidFill>
                <a:latin typeface="Calibri"/>
              </a:rPr>
              <a:t>›  </a:t>
            </a:r>
            <a:r>
              <a:rPr sz="1500" b="0" i="0">
                <a:solidFill>
                  <a:srgbClr val="E8EAF6"/>
                </a:solidFill>
                <a:latin typeface="Calibri"/>
              </a:rPr>
              <a:t>Step 4: decide — and name one non-BER factor that could flip the call</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DESIGN PROBLEM 1</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Model Solution</a:t>
            </a:r>
          </a:p>
        </p:txBody>
      </p:sp>
      <p:sp>
        <p:nvSpPr>
          <p:cNvPr id="4" name="Rounded Rectangle 3"/>
          <p:cNvSpPr/>
          <p:nvPr/>
        </p:nvSpPr>
        <p:spPr>
          <a:xfrm>
            <a:off x="502920" y="1737360"/>
            <a:ext cx="5577840" cy="4343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517550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Numbers</a:t>
            </a:r>
          </a:p>
        </p:txBody>
      </p:sp>
      <p:sp>
        <p:nvSpPr>
          <p:cNvPr id="6" name="TextBox 5"/>
          <p:cNvSpPr txBox="1"/>
          <p:nvPr/>
        </p:nvSpPr>
        <p:spPr>
          <a:xfrm>
            <a:off x="777240" y="2286000"/>
            <a:ext cx="5029200" cy="3566160"/>
          </a:xfrm>
          <a:prstGeom prst="rect">
            <a:avLst/>
          </a:prstGeom>
          <a:noFill/>
        </p:spPr>
        <p:txBody>
          <a:bodyPr wrap="square" lIns="0" tIns="0" rIns="0" bIns="0" anchor="t">
            <a:spAutoFit/>
          </a:bodyPr>
          <a:lstStyle/>
          <a:p>
            <a:pPr algn="l">
              <a:lnSpc>
                <a:spcPct val="100000"/>
              </a:lnSpc>
              <a:spcAft>
                <a:spcPts val="1100"/>
              </a:spcAft>
            </a:pPr>
            <a:r>
              <a:rPr sz="1600" b="0" i="0">
                <a:solidFill>
                  <a:srgbClr val="E8EAF6"/>
                </a:solidFill>
                <a:latin typeface="Calibri"/>
              </a:rPr>
              <a:t>15 dB → SNR ≈ 31.6</a:t>
            </a:r>
          </a:p>
          <a:p>
            <a:pPr algn="l">
              <a:lnSpc>
                <a:spcPct val="100000"/>
              </a:lnSpc>
              <a:spcAft>
                <a:spcPts val="1100"/>
              </a:spcAft>
            </a:pPr>
            <a:r>
              <a:rPr sz="1600" b="1" i="0">
                <a:solidFill>
                  <a:srgbClr val="E8EAF6"/>
                </a:solidFill>
                <a:latin typeface="Calibri"/>
              </a:rPr>
              <a:t>Option A (2×2): d = 4</a:t>
            </a:r>
          </a:p>
          <a:p>
            <a:pPr algn="l">
              <a:lnSpc>
                <a:spcPct val="100000"/>
              </a:lnSpc>
              <a:spcAft>
                <a:spcPts val="1100"/>
              </a:spcAft>
            </a:pPr>
            <a:r>
              <a:rPr sz="1500" b="0" i="0">
                <a:solidFill>
                  <a:srgbClr val="FFB454"/>
                </a:solidFill>
                <a:latin typeface="Calibri"/>
              </a:rPr>
              <a:t>Pₑ ≈ 31.6⁻⁴ ≈ 10⁻⁶  → marginal, zero headroom</a:t>
            </a:r>
          </a:p>
          <a:p>
            <a:pPr algn="l">
              <a:lnSpc>
                <a:spcPct val="100000"/>
              </a:lnSpc>
              <a:spcAft>
                <a:spcPts val="1100"/>
              </a:spcAft>
            </a:pPr>
            <a:r>
              <a:rPr sz="1600" b="1" i="0">
                <a:solidFill>
                  <a:srgbClr val="E8EAF6"/>
                </a:solidFill>
                <a:latin typeface="Calibri"/>
              </a:rPr>
              <a:t>Option B (4×2): d = 8</a:t>
            </a:r>
          </a:p>
          <a:p>
            <a:pPr algn="l">
              <a:lnSpc>
                <a:spcPct val="100000"/>
              </a:lnSpc>
              <a:spcAft>
                <a:spcPts val="1100"/>
              </a:spcAft>
            </a:pPr>
            <a:r>
              <a:rPr sz="1500" b="0" i="0">
                <a:solidFill>
                  <a:srgbClr val="3DDC97"/>
                </a:solidFill>
                <a:latin typeface="Calibri"/>
              </a:rPr>
              <a:t>Pₑ ≈ 31.6⁻⁸ ≈ 10⁻¹²  → six orders of safety margin</a:t>
            </a:r>
          </a:p>
        </p:txBody>
      </p:sp>
      <p:sp>
        <p:nvSpPr>
          <p:cNvPr id="7" name="Rounded Rectangle 6"/>
          <p:cNvSpPr/>
          <p:nvPr/>
        </p:nvSpPr>
        <p:spPr>
          <a:xfrm>
            <a:off x="6400800" y="1737360"/>
            <a:ext cx="5257800" cy="43434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883664"/>
            <a:ext cx="485546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Decision discussion</a:t>
            </a:r>
          </a:p>
        </p:txBody>
      </p:sp>
      <p:sp>
        <p:nvSpPr>
          <p:cNvPr id="9" name="TextBox 8"/>
          <p:cNvSpPr txBox="1"/>
          <p:nvPr/>
        </p:nvSpPr>
        <p:spPr>
          <a:xfrm>
            <a:off x="6675120" y="2286000"/>
            <a:ext cx="4754880" cy="3566160"/>
          </a:xfrm>
          <a:prstGeom prst="rect">
            <a:avLst/>
          </a:prstGeom>
          <a:noFill/>
        </p:spPr>
        <p:txBody>
          <a:bodyPr wrap="square" lIns="0" tIns="0" rIns="0" bIns="0" anchor="t">
            <a:spAutoFit/>
          </a:bodyPr>
          <a:lstStyle/>
          <a:p>
            <a:pPr algn="l">
              <a:lnSpc>
                <a:spcPct val="105000"/>
              </a:lnSpc>
              <a:spcAft>
                <a:spcPts val="1200"/>
              </a:spcAft>
            </a:pPr>
            <a:r>
              <a:rPr sz="1450" b="1" i="0" dirty="0">
                <a:solidFill>
                  <a:srgbClr val="7C5CFF"/>
                </a:solidFill>
                <a:latin typeface="Calibri"/>
              </a:rPr>
              <a:t>›  </a:t>
            </a:r>
            <a:r>
              <a:rPr sz="1450" b="0" i="0" dirty="0">
                <a:solidFill>
                  <a:srgbClr val="E8EAF6"/>
                </a:solidFill>
                <a:latin typeface="Calibri"/>
              </a:rPr>
              <a:t>Pick B for URLLC-grade meters: the model ignores interference, mobility, estimation error — A's zero margin evaporates in the field.</a:t>
            </a:r>
          </a:p>
          <a:p>
            <a:pPr algn="l">
              <a:lnSpc>
                <a:spcPct val="105000"/>
              </a:lnSpc>
              <a:spcAft>
                <a:spcPts val="1200"/>
              </a:spcAft>
            </a:pPr>
            <a:r>
              <a:rPr sz="1450" b="1" i="0" dirty="0">
                <a:solidFill>
                  <a:srgbClr val="7C5CFF"/>
                </a:solidFill>
                <a:latin typeface="Calibri"/>
              </a:rPr>
              <a:t>›  </a:t>
            </a:r>
            <a:r>
              <a:rPr sz="1450" b="0" i="0" dirty="0">
                <a:solidFill>
                  <a:srgbClr val="E8EAF6"/>
                </a:solidFill>
                <a:latin typeface="Calibri"/>
              </a:rPr>
              <a:t>Pick A if meters retransmit freely (ARQ buys effective diversity in time).</a:t>
            </a:r>
          </a:p>
          <a:p>
            <a:pPr algn="l">
              <a:lnSpc>
                <a:spcPct val="105000"/>
              </a:lnSpc>
              <a:spcAft>
                <a:spcPts val="1200"/>
              </a:spcAft>
            </a:pPr>
            <a:r>
              <a:rPr sz="1450" b="1" i="0" dirty="0">
                <a:solidFill>
                  <a:srgbClr val="7C5CFF"/>
                </a:solidFill>
                <a:latin typeface="Calibri"/>
              </a:rPr>
              <a:t>›  </a:t>
            </a:r>
            <a:r>
              <a:rPr sz="1450" b="0" i="0" dirty="0">
                <a:solidFill>
                  <a:srgbClr val="00E4FF"/>
                </a:solidFill>
                <a:latin typeface="Calibri"/>
              </a:rPr>
              <a:t>Flip factors: shadowing depth, correlated antennas (rank drop!), power budget.</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DESIGN PROBLEM 2 · BEYOND 5G</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Does a RIS Buy Slope or Shift?</a:t>
            </a:r>
          </a:p>
        </p:txBody>
      </p:sp>
      <p:sp>
        <p:nvSpPr>
          <p:cNvPr id="4" name="Rounded Rectangle 3"/>
          <p:cNvSpPr/>
          <p:nvPr/>
        </p:nvSpPr>
        <p:spPr>
          <a:xfrm>
            <a:off x="502920" y="169164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Brief</a:t>
            </a:r>
          </a:p>
        </p:txBody>
      </p:sp>
      <p:sp>
        <p:nvSpPr>
          <p:cNvPr id="6" name="TextBox 5"/>
          <p:cNvSpPr txBox="1"/>
          <p:nvPr/>
        </p:nvSpPr>
        <p:spPr>
          <a:xfrm>
            <a:off x="777240" y="2212848"/>
            <a:ext cx="10607040" cy="82296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A Reconfigurable Intelligent Surface (RIS) — a wall of passive reflecting elements — is added to assist a 1×1 link in a dense urban canyon. Argue: does the RIS primarily provide coding gain (shift) or diversity gain (slope)? Connect to today's framework.</a:t>
            </a:r>
          </a:p>
        </p:txBody>
      </p:sp>
      <p:sp>
        <p:nvSpPr>
          <p:cNvPr id="7" name="Rounded Rectangle 6"/>
          <p:cNvSpPr/>
          <p:nvPr/>
        </p:nvSpPr>
        <p:spPr>
          <a:xfrm>
            <a:off x="502920" y="3337560"/>
            <a:ext cx="5440680" cy="27432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48386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Case for SHIFT (coding gain)</a:t>
            </a:r>
          </a:p>
        </p:txBody>
      </p:sp>
      <p:sp>
        <p:nvSpPr>
          <p:cNvPr id="9" name="TextBox 8"/>
          <p:cNvSpPr txBox="1"/>
          <p:nvPr/>
        </p:nvSpPr>
        <p:spPr>
          <a:xfrm>
            <a:off x="777240" y="3886200"/>
            <a:ext cx="4937760" cy="2103120"/>
          </a:xfrm>
          <a:prstGeom prst="rect">
            <a:avLst/>
          </a:prstGeom>
          <a:noFill/>
        </p:spPr>
        <p:txBody>
          <a:bodyPr wrap="square" lIns="0" tIns="0" rIns="0" bIns="0" anchor="t">
            <a:spAutoFit/>
          </a:bodyPr>
          <a:lstStyle/>
          <a:p>
            <a:pPr algn="l">
              <a:lnSpc>
                <a:spcPct val="105000"/>
              </a:lnSpc>
              <a:spcAft>
                <a:spcPts val="800"/>
              </a:spcAft>
            </a:pPr>
            <a:r>
              <a:rPr sz="1450" b="1" i="0">
                <a:solidFill>
                  <a:srgbClr val="7C5CFF"/>
                </a:solidFill>
                <a:latin typeface="Calibri"/>
              </a:rPr>
              <a:t>›  </a:t>
            </a:r>
            <a:r>
              <a:rPr sz="1450" b="0" i="0">
                <a:solidFill>
                  <a:srgbClr val="E8EAF6"/>
                </a:solidFill>
                <a:latin typeface="Calibri"/>
              </a:rPr>
              <a:t>RIS focuses reflected energy → higher average SNR</a:t>
            </a:r>
          </a:p>
          <a:p>
            <a:pPr algn="l">
              <a:lnSpc>
                <a:spcPct val="105000"/>
              </a:lnSpc>
              <a:spcAft>
                <a:spcPts val="800"/>
              </a:spcAft>
            </a:pPr>
            <a:r>
              <a:rPr sz="1450" b="1" i="0">
                <a:solidFill>
                  <a:srgbClr val="7C5CFF"/>
                </a:solidFill>
                <a:latin typeface="Calibri"/>
              </a:rPr>
              <a:t>›  </a:t>
            </a:r>
            <a:r>
              <a:rPr sz="1450" b="0" i="0">
                <a:solidFill>
                  <a:srgbClr val="E8EAF6"/>
                </a:solidFill>
                <a:latin typeface="Calibri"/>
              </a:rPr>
              <a:t>If the RIS path fades together with the surroundings, the slope stays d = 1</a:t>
            </a:r>
          </a:p>
        </p:txBody>
      </p:sp>
      <p:sp>
        <p:nvSpPr>
          <p:cNvPr id="10" name="Rounded Rectangle 9"/>
          <p:cNvSpPr/>
          <p:nvPr/>
        </p:nvSpPr>
        <p:spPr>
          <a:xfrm>
            <a:off x="6217920" y="3337560"/>
            <a:ext cx="5440680" cy="27432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3483864"/>
            <a:ext cx="5038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Case for SLOPE (diversity)</a:t>
            </a:r>
          </a:p>
        </p:txBody>
      </p:sp>
      <p:sp>
        <p:nvSpPr>
          <p:cNvPr id="12" name="TextBox 11"/>
          <p:cNvSpPr txBox="1"/>
          <p:nvPr/>
        </p:nvSpPr>
        <p:spPr>
          <a:xfrm>
            <a:off x="6492240" y="3886200"/>
            <a:ext cx="4937760" cy="2103120"/>
          </a:xfrm>
          <a:prstGeom prst="rect">
            <a:avLst/>
          </a:prstGeom>
          <a:noFill/>
        </p:spPr>
        <p:txBody>
          <a:bodyPr wrap="square" lIns="0" tIns="0" rIns="0" bIns="0" anchor="t">
            <a:spAutoFit/>
          </a:bodyPr>
          <a:lstStyle/>
          <a:p>
            <a:pPr algn="l">
              <a:lnSpc>
                <a:spcPct val="105000"/>
              </a:lnSpc>
              <a:spcAft>
                <a:spcPts val="800"/>
              </a:spcAft>
            </a:pPr>
            <a:r>
              <a:rPr sz="1450" b="1" i="0" dirty="0">
                <a:solidFill>
                  <a:srgbClr val="7C5CFF"/>
                </a:solidFill>
                <a:latin typeface="Calibri"/>
              </a:rPr>
              <a:t>›  </a:t>
            </a:r>
            <a:r>
              <a:rPr sz="1450" b="0" i="0" dirty="0">
                <a:solidFill>
                  <a:srgbClr val="E8EAF6"/>
                </a:solidFill>
                <a:latin typeface="Calibri"/>
              </a:rPr>
              <a:t>Many elements → many quasi-independent reflected paths</a:t>
            </a:r>
          </a:p>
          <a:p>
            <a:pPr algn="l">
              <a:lnSpc>
                <a:spcPct val="105000"/>
              </a:lnSpc>
              <a:spcAft>
                <a:spcPts val="800"/>
              </a:spcAft>
            </a:pPr>
            <a:r>
              <a:rPr sz="1450" b="1" i="0" dirty="0">
                <a:solidFill>
                  <a:srgbClr val="7C5CFF"/>
                </a:solidFill>
                <a:latin typeface="Calibri"/>
              </a:rPr>
              <a:t>›  </a:t>
            </a:r>
            <a:r>
              <a:rPr sz="1450" b="0" i="0" dirty="0">
                <a:solidFill>
                  <a:srgbClr val="E8EAF6"/>
                </a:solidFill>
                <a:latin typeface="Calibri"/>
              </a:rPr>
              <a:t>If element channels fade independently and the RIS adapts, deep fades become jointly rare → effective d &gt; 1</a:t>
            </a:r>
          </a:p>
        </p:txBody>
      </p:sp>
      <p:sp>
        <p:nvSpPr>
          <p:cNvPr id="13" name="TextBox 12"/>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DESIGN PROBLEM 2</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Model Answer &amp; Discussion</a:t>
            </a:r>
          </a:p>
        </p:txBody>
      </p:sp>
      <p:sp>
        <p:nvSpPr>
          <p:cNvPr id="4" name="Rounded Rectangle 3"/>
          <p:cNvSpPr/>
          <p:nvPr/>
        </p:nvSpPr>
        <p:spPr>
          <a:xfrm>
            <a:off x="502920" y="1737360"/>
            <a:ext cx="11155680" cy="1920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8366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3DDC97"/>
                </a:solidFill>
                <a:latin typeface="Calibri"/>
              </a:rPr>
              <a:t>Verdict</a:t>
            </a:r>
          </a:p>
        </p:txBody>
      </p:sp>
      <p:sp>
        <p:nvSpPr>
          <p:cNvPr id="6" name="TextBox 5"/>
          <p:cNvSpPr txBox="1"/>
          <p:nvPr/>
        </p:nvSpPr>
        <p:spPr>
          <a:xfrm>
            <a:off x="777240" y="2286000"/>
            <a:ext cx="10607040" cy="128016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Both — and that's the point. A static, well-phased RIS mainly buys coding gain (large SNR shift, slope unchanged). A channel-aware RIS over independently fading elements also hardens the channel — the deep-fade probability collapses, which behaves like added diversity. Published analyses show effective diversity growing with the number of RIS elements under independent fading.</a:t>
            </a:r>
          </a:p>
        </p:txBody>
      </p:sp>
      <p:sp>
        <p:nvSpPr>
          <p:cNvPr id="7" name="Rounded Rectangle 6"/>
          <p:cNvSpPr/>
          <p:nvPr/>
        </p:nvSpPr>
        <p:spPr>
          <a:xfrm>
            <a:off x="502920" y="3886200"/>
            <a:ext cx="11155680" cy="21945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403250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Why this question matters for 6G</a:t>
            </a:r>
          </a:p>
        </p:txBody>
      </p:sp>
      <p:sp>
        <p:nvSpPr>
          <p:cNvPr id="9" name="TextBox 8"/>
          <p:cNvSpPr txBox="1"/>
          <p:nvPr/>
        </p:nvSpPr>
        <p:spPr>
          <a:xfrm>
            <a:off x="777240" y="4434840"/>
            <a:ext cx="10607040" cy="1554480"/>
          </a:xfrm>
          <a:prstGeom prst="rect">
            <a:avLst/>
          </a:prstGeom>
          <a:noFill/>
        </p:spPr>
        <p:txBody>
          <a:bodyPr wrap="square" lIns="0" tIns="0" rIns="0" bIns="0" anchor="t">
            <a:spAutoFit/>
          </a:bodyPr>
          <a:lstStyle/>
          <a:p>
            <a:pPr algn="l">
              <a:lnSpc>
                <a:spcPct val="105000"/>
              </a:lnSpc>
              <a:spcAft>
                <a:spcPts val="1000"/>
              </a:spcAft>
            </a:pPr>
            <a:r>
              <a:rPr sz="1500" b="1" i="0">
                <a:solidFill>
                  <a:srgbClr val="7C5CFF"/>
                </a:solidFill>
                <a:latin typeface="Calibri"/>
              </a:rPr>
              <a:t>›  </a:t>
            </a:r>
            <a:r>
              <a:rPr sz="1500" b="0" i="0">
                <a:solidFill>
                  <a:srgbClr val="E8EAF6"/>
                </a:solidFill>
                <a:latin typeface="Calibri"/>
              </a:rPr>
              <a:t>It tests whether you can map ANY new hardware onto the shift-vs-slope axis — the framework outlives the technology.</a:t>
            </a:r>
          </a:p>
          <a:p>
            <a:pPr algn="l">
              <a:lnSpc>
                <a:spcPct val="105000"/>
              </a:lnSpc>
              <a:spcAft>
                <a:spcPts val="1000"/>
              </a:spcAft>
            </a:pPr>
            <a:r>
              <a:rPr sz="1500" b="1" i="0">
                <a:solidFill>
                  <a:srgbClr val="7C5CFF"/>
                </a:solidFill>
                <a:latin typeface="Calibri"/>
              </a:rPr>
              <a:t>›  </a:t>
            </a:r>
            <a:r>
              <a:rPr sz="1500" b="1" i="0">
                <a:solidFill>
                  <a:srgbClr val="FFB454"/>
                </a:solidFill>
                <a:latin typeface="Calibri"/>
              </a:rPr>
              <a:t>Exam strategy: always ask 'does it raise average SNR, or does it make deep fades rarer?'</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3DDC97"/>
                </a:solidFill>
                <a:latin typeface="Calibri"/>
              </a:rPr>
              <a:t>DESIGN PROBLEM 3 · 6G TEASER</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Cell-Free MIMO: Antennas Down the Street</a:t>
            </a:r>
          </a:p>
        </p:txBody>
      </p:sp>
      <p:sp>
        <p:nvSpPr>
          <p:cNvPr id="4" name="Rounded Rectangle 3"/>
          <p:cNvSpPr/>
          <p:nvPr/>
        </p:nvSpPr>
        <p:spPr>
          <a:xfrm>
            <a:off x="502920" y="1691640"/>
            <a:ext cx="11155680" cy="14173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83794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FFB454"/>
                </a:solidFill>
                <a:latin typeface="Calibri"/>
              </a:rPr>
              <a:t>Group activity (10 min)</a:t>
            </a:r>
          </a:p>
        </p:txBody>
      </p:sp>
      <p:sp>
        <p:nvSpPr>
          <p:cNvPr id="6" name="TextBox 5"/>
          <p:cNvSpPr txBox="1"/>
          <p:nvPr/>
        </p:nvSpPr>
        <p:spPr>
          <a:xfrm>
            <a:off x="777240" y="2212848"/>
            <a:ext cx="10607040" cy="822960"/>
          </a:xfrm>
          <a:prstGeom prst="rect">
            <a:avLst/>
          </a:prstGeom>
          <a:noFill/>
        </p:spPr>
        <p:txBody>
          <a:bodyPr wrap="square" lIns="0" tIns="0" rIns="0" bIns="0" anchor="t">
            <a:spAutoFit/>
          </a:bodyPr>
          <a:lstStyle/>
          <a:p>
            <a:pPr algn="l">
              <a:lnSpc>
                <a:spcPct val="100000"/>
              </a:lnSpc>
              <a:spcAft>
                <a:spcPts val="600"/>
              </a:spcAft>
            </a:pPr>
            <a:r>
              <a:rPr sz="1450" b="0" i="0">
                <a:solidFill>
                  <a:srgbClr val="E8EAF6"/>
                </a:solidFill>
                <a:latin typeface="Calibri"/>
              </a:rPr>
              <a:t>6G cell-free MIMO scatters single-antenna access points along a street, all jointly serving you. Eight APs cooperate. Discuss in pairs: what diversity order can a user expect, what could silently reduce it, and how is this better than 8 antennas on one tower?</a:t>
            </a:r>
          </a:p>
        </p:txBody>
      </p:sp>
      <p:sp>
        <p:nvSpPr>
          <p:cNvPr id="7" name="Rounded Rectangle 6"/>
          <p:cNvSpPr/>
          <p:nvPr/>
        </p:nvSpPr>
        <p:spPr>
          <a:xfrm>
            <a:off x="502920" y="3337560"/>
            <a:ext cx="11155680" cy="274320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483864"/>
            <a:ext cx="10753344" cy="310896"/>
          </a:xfrm>
          <a:prstGeom prst="rect">
            <a:avLst/>
          </a:prstGeom>
          <a:noFill/>
        </p:spPr>
        <p:txBody>
          <a:bodyPr wrap="square" lIns="0" tIns="0" rIns="0" bIns="0" anchor="t">
            <a:spAutoFit/>
          </a:bodyPr>
          <a:lstStyle/>
          <a:p>
            <a:pPr algn="l">
              <a:lnSpc>
                <a:spcPct val="100000"/>
              </a:lnSpc>
              <a:spcAft>
                <a:spcPts val="600"/>
              </a:spcAft>
            </a:pPr>
            <a:r>
              <a:rPr sz="1500" b="1" i="0">
                <a:solidFill>
                  <a:srgbClr val="00E4FF"/>
                </a:solidFill>
                <a:latin typeface="Calibri"/>
              </a:rPr>
              <a:t>Steer the discussion toward…</a:t>
            </a:r>
          </a:p>
        </p:txBody>
      </p:sp>
      <p:sp>
        <p:nvSpPr>
          <p:cNvPr id="9" name="TextBox 8"/>
          <p:cNvSpPr txBox="1"/>
          <p:nvPr/>
        </p:nvSpPr>
        <p:spPr>
          <a:xfrm>
            <a:off x="777240" y="3886200"/>
            <a:ext cx="10607040" cy="2103120"/>
          </a:xfrm>
          <a:prstGeom prst="rect">
            <a:avLst/>
          </a:prstGeom>
          <a:noFill/>
        </p:spPr>
        <p:txBody>
          <a:bodyPr wrap="square" lIns="0" tIns="0" rIns="0" bIns="0" anchor="t">
            <a:spAutoFit/>
          </a:bodyPr>
          <a:lstStyle/>
          <a:p>
            <a:pPr algn="l">
              <a:lnSpc>
                <a:spcPct val="105000"/>
              </a:lnSpc>
              <a:spcAft>
                <a:spcPts val="1100"/>
              </a:spcAft>
            </a:pPr>
            <a:r>
              <a:rPr sz="1500" b="1" i="0">
                <a:solidFill>
                  <a:srgbClr val="7C5CFF"/>
                </a:solidFill>
                <a:latin typeface="Calibri"/>
              </a:rPr>
              <a:t>›  </a:t>
            </a:r>
            <a:r>
              <a:rPr sz="1500" b="0" i="0">
                <a:solidFill>
                  <a:srgbClr val="E8EAF6"/>
                </a:solidFill>
                <a:latin typeface="Calibri"/>
              </a:rPr>
              <a:t>Ideal: 8 independently-fading links → d up to 8 (× user antennas)</a:t>
            </a:r>
          </a:p>
          <a:p>
            <a:pPr algn="l">
              <a:lnSpc>
                <a:spcPct val="105000"/>
              </a:lnSpc>
              <a:spcAft>
                <a:spcPts val="1100"/>
              </a:spcAft>
            </a:pPr>
            <a:r>
              <a:rPr sz="1500" b="1" i="0">
                <a:solidFill>
                  <a:srgbClr val="7C5CFF"/>
                </a:solidFill>
                <a:latin typeface="Calibri"/>
              </a:rPr>
              <a:t>›  </a:t>
            </a:r>
            <a:r>
              <a:rPr sz="1500" b="0" i="0">
                <a:solidFill>
                  <a:srgbClr val="E8EAF6"/>
                </a:solidFill>
                <a:latin typeface="Calibri"/>
              </a:rPr>
              <a:t>Silent killers: correlated shadowing, fronthaul failures, APs behind the same truck — independence is the currency of diversity</a:t>
            </a:r>
          </a:p>
          <a:p>
            <a:pPr algn="l">
              <a:lnSpc>
                <a:spcPct val="105000"/>
              </a:lnSpc>
              <a:spcAft>
                <a:spcPts val="1100"/>
              </a:spcAft>
            </a:pPr>
            <a:r>
              <a:rPr sz="1500" b="1" i="0">
                <a:solidFill>
                  <a:srgbClr val="7C5CFF"/>
                </a:solidFill>
                <a:latin typeface="Calibri"/>
              </a:rPr>
              <a:t>›  </a:t>
            </a:r>
            <a:r>
              <a:rPr sz="1500" b="0" i="0">
                <a:solidFill>
                  <a:srgbClr val="3DDC97"/>
                </a:solidFill>
                <a:latin typeface="Calibri"/>
              </a:rPr>
              <a:t>vs one tower: geographic spread defeats LARGE-scale fades (blockage), not just small-scale ones — macro-diversity</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HANDS-ON</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MATLAB Lab Preview</a:t>
            </a:r>
          </a:p>
        </p:txBody>
      </p:sp>
      <p:sp>
        <p:nvSpPr>
          <p:cNvPr id="4" name="Rounded Rectangle 3"/>
          <p:cNvSpPr/>
          <p:nvPr/>
        </p:nvSpPr>
        <p:spPr>
          <a:xfrm>
            <a:off x="502920" y="1828800"/>
            <a:ext cx="5440680" cy="1920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011680"/>
            <a:ext cx="4937760" cy="365760"/>
          </a:xfrm>
          <a:prstGeom prst="rect">
            <a:avLst/>
          </a:prstGeom>
          <a:noFill/>
        </p:spPr>
        <p:txBody>
          <a:bodyPr wrap="square" lIns="0" tIns="0" rIns="0" bIns="0" anchor="t">
            <a:spAutoFit/>
          </a:bodyPr>
          <a:lstStyle/>
          <a:p>
            <a:pPr algn="l">
              <a:lnSpc>
                <a:spcPct val="100000"/>
              </a:lnSpc>
              <a:spcAft>
                <a:spcPts val="600"/>
              </a:spcAft>
            </a:pPr>
            <a:r>
              <a:rPr sz="1800" b="1" i="0">
                <a:solidFill>
                  <a:srgbClr val="00E4FF"/>
                </a:solidFill>
                <a:latin typeface="Cambria"/>
              </a:rPr>
              <a:t>Lab 1</a:t>
            </a:r>
          </a:p>
        </p:txBody>
      </p:sp>
      <p:sp>
        <p:nvSpPr>
          <p:cNvPr id="6" name="TextBox 5"/>
          <p:cNvSpPr txBox="1"/>
          <p:nvPr/>
        </p:nvSpPr>
        <p:spPr>
          <a:xfrm>
            <a:off x="731520" y="2514600"/>
            <a:ext cx="4937760" cy="109728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BPSK over AWGN vs Rayleigh — reproduce today's first chart</a:t>
            </a:r>
          </a:p>
        </p:txBody>
      </p:sp>
      <p:sp>
        <p:nvSpPr>
          <p:cNvPr id="7" name="Rounded Rectangle 6"/>
          <p:cNvSpPr/>
          <p:nvPr/>
        </p:nvSpPr>
        <p:spPr>
          <a:xfrm>
            <a:off x="6217920" y="1828800"/>
            <a:ext cx="5440680" cy="1920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2011680"/>
            <a:ext cx="4937760" cy="365760"/>
          </a:xfrm>
          <a:prstGeom prst="rect">
            <a:avLst/>
          </a:prstGeom>
          <a:noFill/>
        </p:spPr>
        <p:txBody>
          <a:bodyPr wrap="square" lIns="0" tIns="0" rIns="0" bIns="0" anchor="t">
            <a:spAutoFit/>
          </a:bodyPr>
          <a:lstStyle/>
          <a:p>
            <a:pPr algn="l">
              <a:lnSpc>
                <a:spcPct val="100000"/>
              </a:lnSpc>
              <a:spcAft>
                <a:spcPts val="600"/>
              </a:spcAft>
            </a:pPr>
            <a:r>
              <a:rPr sz="1800" b="1" i="0">
                <a:solidFill>
                  <a:srgbClr val="7C5CFF"/>
                </a:solidFill>
                <a:latin typeface="Cambria"/>
              </a:rPr>
              <a:t>Lab 2</a:t>
            </a:r>
          </a:p>
        </p:txBody>
      </p:sp>
      <p:sp>
        <p:nvSpPr>
          <p:cNvPr id="9" name="TextBox 8"/>
          <p:cNvSpPr txBox="1"/>
          <p:nvPr/>
        </p:nvSpPr>
        <p:spPr>
          <a:xfrm>
            <a:off x="6446520" y="2514600"/>
            <a:ext cx="4937760" cy="109728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1×Nr MRC — verify slope = Nr by counting decades</a:t>
            </a:r>
          </a:p>
        </p:txBody>
      </p:sp>
      <p:sp>
        <p:nvSpPr>
          <p:cNvPr id="10" name="Rounded Rectangle 9"/>
          <p:cNvSpPr/>
          <p:nvPr/>
        </p:nvSpPr>
        <p:spPr>
          <a:xfrm>
            <a:off x="502920" y="3977639"/>
            <a:ext cx="5440680" cy="1920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160519"/>
            <a:ext cx="4937760" cy="365760"/>
          </a:xfrm>
          <a:prstGeom prst="rect">
            <a:avLst/>
          </a:prstGeom>
          <a:noFill/>
        </p:spPr>
        <p:txBody>
          <a:bodyPr wrap="square" lIns="0" tIns="0" rIns="0" bIns="0" anchor="t">
            <a:spAutoFit/>
          </a:bodyPr>
          <a:lstStyle/>
          <a:p>
            <a:pPr algn="l">
              <a:lnSpc>
                <a:spcPct val="100000"/>
              </a:lnSpc>
              <a:spcAft>
                <a:spcPts val="600"/>
              </a:spcAft>
            </a:pPr>
            <a:r>
              <a:rPr sz="1800" b="1" i="0">
                <a:solidFill>
                  <a:srgbClr val="3DDC97"/>
                </a:solidFill>
                <a:latin typeface="Cambria"/>
              </a:rPr>
              <a:t>Lab 3</a:t>
            </a:r>
          </a:p>
        </p:txBody>
      </p:sp>
      <p:sp>
        <p:nvSpPr>
          <p:cNvPr id="12" name="TextBox 11"/>
          <p:cNvSpPr txBox="1"/>
          <p:nvPr/>
        </p:nvSpPr>
        <p:spPr>
          <a:xfrm>
            <a:off x="731520" y="4663439"/>
            <a:ext cx="4937760" cy="109728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Alamouti 2×1 and 2×2 — confirm d = 2 and d = 4</a:t>
            </a:r>
          </a:p>
        </p:txBody>
      </p:sp>
      <p:sp>
        <p:nvSpPr>
          <p:cNvPr id="13" name="Rounded Rectangle 12"/>
          <p:cNvSpPr/>
          <p:nvPr/>
        </p:nvSpPr>
        <p:spPr>
          <a:xfrm>
            <a:off x="6217920" y="3977639"/>
            <a:ext cx="5440680" cy="19202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160519"/>
            <a:ext cx="4937760" cy="365760"/>
          </a:xfrm>
          <a:prstGeom prst="rect">
            <a:avLst/>
          </a:prstGeom>
          <a:noFill/>
        </p:spPr>
        <p:txBody>
          <a:bodyPr wrap="square" lIns="0" tIns="0" rIns="0" bIns="0" anchor="t">
            <a:spAutoFit/>
          </a:bodyPr>
          <a:lstStyle/>
          <a:p>
            <a:pPr algn="l">
              <a:lnSpc>
                <a:spcPct val="100000"/>
              </a:lnSpc>
              <a:spcAft>
                <a:spcPts val="600"/>
              </a:spcAft>
            </a:pPr>
            <a:r>
              <a:rPr sz="1800" b="1" i="0">
                <a:solidFill>
                  <a:srgbClr val="FFB454"/>
                </a:solidFill>
                <a:latin typeface="Cambria"/>
              </a:rPr>
              <a:t>Lab 4</a:t>
            </a:r>
          </a:p>
        </p:txBody>
      </p:sp>
      <p:sp>
        <p:nvSpPr>
          <p:cNvPr id="15" name="TextBox 14"/>
          <p:cNvSpPr txBox="1"/>
          <p:nvPr/>
        </p:nvSpPr>
        <p:spPr>
          <a:xfrm>
            <a:off x="6446520" y="4663439"/>
            <a:ext cx="4937760" cy="1097280"/>
          </a:xfrm>
          <a:prstGeom prst="rect">
            <a:avLst/>
          </a:prstGeom>
          <a:noFill/>
        </p:spPr>
        <p:txBody>
          <a:bodyPr wrap="square" lIns="0" tIns="0" rIns="0" bIns="0" anchor="t">
            <a:spAutoFit/>
          </a:bodyPr>
          <a:lstStyle/>
          <a:p>
            <a:pPr algn="l">
              <a:lnSpc>
                <a:spcPct val="100000"/>
              </a:lnSpc>
              <a:spcAft>
                <a:spcPts val="600"/>
              </a:spcAft>
            </a:pPr>
            <a:r>
              <a:rPr sz="1500" b="0" i="0">
                <a:solidFill>
                  <a:srgbClr val="E8EAF6"/>
                </a:solidFill>
                <a:latin typeface="Calibri"/>
              </a:rPr>
              <a:t>Rank experiment — break a code on purpose, watch the slope collapse</a:t>
            </a:r>
          </a:p>
        </p:txBody>
      </p:sp>
      <p:sp>
        <p:nvSpPr>
          <p:cNvPr id="16" name="TextBox 15"/>
          <p:cNvSpPr txBox="1"/>
          <p:nvPr/>
        </p:nvSpPr>
        <p:spPr>
          <a:xfrm>
            <a:off x="502920" y="6080760"/>
            <a:ext cx="11155680" cy="457200"/>
          </a:xfrm>
          <a:prstGeom prst="rect">
            <a:avLst/>
          </a:prstGeom>
          <a:noFill/>
        </p:spPr>
        <p:txBody>
          <a:bodyPr wrap="square" lIns="0" tIns="0" rIns="0" bIns="0" anchor="t">
            <a:spAutoFit/>
          </a:bodyPr>
          <a:lstStyle/>
          <a:p>
            <a:pPr algn="l">
              <a:lnSpc>
                <a:spcPct val="100000"/>
              </a:lnSpc>
              <a:spcAft>
                <a:spcPts val="600"/>
              </a:spcAft>
            </a:pPr>
            <a:r>
              <a:rPr sz="1450" b="0" i="0">
                <a:solidFill>
                  <a:srgbClr val="9AA3C0"/>
                </a:solidFill>
                <a:latin typeface="Calibri"/>
              </a:rPr>
              <a:t>Deliverable: one figure per lab + the diversity order you measured from each slope.</a:t>
            </a:r>
          </a:p>
        </p:txBody>
      </p:sp>
      <p:sp>
        <p:nvSpPr>
          <p:cNvPr id="17" name="TextBox 16"/>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300" b="1" i="0" u="none" strike="noStrike" kern="1200" cap="none" spc="0" normalizeH="0" baseline="0" noProof="0">
                <a:ln>
                  <a:noFill/>
                </a:ln>
                <a:solidFill>
                  <a:srgbClr val="3DDC97"/>
                </a:solidFill>
                <a:effectLst/>
                <a:uLnTx/>
                <a:uFillTx/>
                <a:latin typeface="Calibri"/>
                <a:ea typeface="+mn-ea"/>
                <a:cs typeface="+mn-cs"/>
              </a:rPr>
              <a:t>LAB 1 · CODE</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3300" b="1" i="0" u="none" strike="noStrike" kern="1200" cap="none" spc="0" normalizeH="0" baseline="0" noProof="0">
                <a:ln>
                  <a:noFill/>
                </a:ln>
                <a:solidFill>
                  <a:srgbClr val="E8EAF6"/>
                </a:solidFill>
                <a:effectLst/>
                <a:uLnTx/>
                <a:uFillTx/>
                <a:latin typeface="Cambria"/>
                <a:ea typeface="+mn-ea"/>
                <a:cs typeface="+mn-cs"/>
              </a:rPr>
              <a:t>BPSK: AWGN vs Rayleigh</a:t>
            </a:r>
          </a:p>
        </p:txBody>
      </p:sp>
      <p:sp>
        <p:nvSpPr>
          <p:cNvPr id="4" name="Rounded Rectangle 3"/>
          <p:cNvSpPr/>
          <p:nvPr/>
        </p:nvSpPr>
        <p:spPr>
          <a:xfrm>
            <a:off x="50292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70408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00E4FF"/>
                </a:solidFill>
                <a:effectLst/>
                <a:uLnTx/>
                <a:uFillTx/>
                <a:latin typeface="Calibri"/>
                <a:ea typeface="+mn-ea"/>
                <a:cs typeface="+mn-cs"/>
              </a:rPr>
              <a:t>MATLAB</a:t>
            </a:r>
          </a:p>
        </p:txBody>
      </p:sp>
      <p:sp>
        <p:nvSpPr>
          <p:cNvPr id="6" name="TextBox 5"/>
          <p:cNvSpPr txBox="1"/>
          <p:nvPr/>
        </p:nvSpPr>
        <p:spPr>
          <a:xfrm>
            <a:off x="73152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N=1e6; SNR=0:2:30;</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b=randi([0 1],1,N);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k=1:numel(SNR)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g=10^(SNR(k)/10); sg=sqrt(1/(2*g));</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 AWGN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bA(k)=mean(((s+sg*randn(1,N))&gt;0)~=b);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 Rayleigh, coherent detection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h=sqrt(.5)*(randn(1,N)+1j*randn(1,N));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y=h.*s+sg*(randn(1,N)+1j*randn(1,N));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bR(k)=mean((real(conj(h).*y)&gt;0)~=b);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end</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semilogy(SNR,bA,SNR,bR); grid on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xlabel('SNR (dB)'); ylabel('BER');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legend('AWGN','Rayleigh');</a:t>
            </a:r>
          </a:p>
        </p:txBody>
      </p:sp>
      <p:sp>
        <p:nvSpPr>
          <p:cNvPr id="7" name="Rounded Rectangle 6"/>
          <p:cNvSpPr/>
          <p:nvPr/>
        </p:nvSpPr>
        <p:spPr>
          <a:xfrm>
            <a:off x="617220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37336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FFB454"/>
                </a:solidFill>
                <a:effectLst/>
                <a:uLnTx/>
                <a:uFillTx/>
                <a:latin typeface="Calibri"/>
                <a:ea typeface="+mn-ea"/>
                <a:cs typeface="+mn-cs"/>
              </a:rPr>
              <a:t>Python (NumPy)</a:t>
            </a:r>
          </a:p>
        </p:txBody>
      </p:sp>
      <p:sp>
        <p:nvSpPr>
          <p:cNvPr id="9" name="TextBox 8"/>
          <p:cNvSpPr txBox="1"/>
          <p:nvPr/>
        </p:nvSpPr>
        <p:spPr>
          <a:xfrm>
            <a:off x="640080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import numpy as np</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import matplotlib.pyplot as plt</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N=10**6; SNR=np.arange(0,31,2)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b=np.random.randint(0,2,N);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bA,bR=[],[]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sdB in 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g=10**(sdB/10); sg=np.sqrt(1/(2*g))</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bA.append(np.mean(((s+sg*np.random.randn(N))&gt;0)!=b))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h=np.sqrt(.5)*(np.random.randn(N)+1j*np.random.randn(N))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y=h*s+sg*(np.random.randn(N)+1j*np.random.randn(N))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bR.append(np.mean((np.real(np.conj(h)*y)&gt;0)!=b))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plt.semilogy(SNR,bA,label='AWGN')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plt.semilogy(SNR,bR,label='Rayleigh')</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plt.xlabel('SNR (dB)'); plt.ylabel('BER')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plt.grid(); plt.legend(); plt.show()</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r>
              <a:rPr kumimoji="0" sz="1100" b="0" i="0" u="none" strike="noStrike" kern="1200" cap="none" spc="0" normalizeH="0" baseline="0" noProof="0">
                <a:ln>
                  <a:noFill/>
                </a:ln>
                <a:solidFill>
                  <a:srgbClr val="9AA3C0"/>
                </a:solidFill>
                <a:effectLst/>
                <a:uLnTx/>
                <a:uFillTx/>
                <a:latin typeface="Calibri"/>
                <a:ea typeface="+mn-ea"/>
                <a:cs typeface="+mn-cs"/>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300" b="1" i="0" u="none" strike="noStrike" kern="1200" cap="none" spc="0" normalizeH="0" baseline="0" noProof="0">
                <a:ln>
                  <a:noFill/>
                </a:ln>
                <a:solidFill>
                  <a:srgbClr val="3DDC97"/>
                </a:solidFill>
                <a:effectLst/>
                <a:uLnTx/>
                <a:uFillTx/>
                <a:latin typeface="Calibri"/>
                <a:ea typeface="+mn-ea"/>
                <a:cs typeface="+mn-cs"/>
              </a:rPr>
              <a:t>LAB 2 · CODE</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3300" b="1" i="0" u="none" strike="noStrike" kern="1200" cap="none" spc="0" normalizeH="0" baseline="0" noProof="0">
                <a:ln>
                  <a:noFill/>
                </a:ln>
                <a:solidFill>
                  <a:srgbClr val="E8EAF6"/>
                </a:solidFill>
                <a:effectLst/>
                <a:uLnTx/>
                <a:uFillTx/>
                <a:latin typeface="Cambria"/>
                <a:ea typeface="+mn-ea"/>
                <a:cs typeface="+mn-cs"/>
              </a:rPr>
              <a:t>MRC 1×Nr — Slope = Nr</a:t>
            </a:r>
          </a:p>
        </p:txBody>
      </p:sp>
      <p:sp>
        <p:nvSpPr>
          <p:cNvPr id="4" name="Rounded Rectangle 3"/>
          <p:cNvSpPr/>
          <p:nvPr/>
        </p:nvSpPr>
        <p:spPr>
          <a:xfrm>
            <a:off x="50292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70408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00E4FF"/>
                </a:solidFill>
                <a:effectLst/>
                <a:uLnTx/>
                <a:uFillTx/>
                <a:latin typeface="Calibri"/>
                <a:ea typeface="+mn-ea"/>
                <a:cs typeface="+mn-cs"/>
              </a:rPr>
              <a:t>MATLAB</a:t>
            </a:r>
          </a:p>
        </p:txBody>
      </p:sp>
      <p:sp>
        <p:nvSpPr>
          <p:cNvPr id="6" name="TextBox 5"/>
          <p:cNvSpPr txBox="1"/>
          <p:nvPr/>
        </p:nvSpPr>
        <p:spPr>
          <a:xfrm>
            <a:off x="73152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N=2e5; SNR=0:2:24;</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b=randi([0 1],1,N);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hold on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L=[1 2 4]</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for k=1:numel(SNR)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g=10^(SNR(k)/10)/L;   % split SNR budget</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h=sqrt(.5)*(randn(L,N)+1j*randn(L,N));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n=sqrt(1/(2*g))*(randn(L,N)+1j*randn(L,N));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y=h.*s+n;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z=real(sum(conj(h).*y,1));   % MRC combine</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ber(k)=mean((z&gt;0)~=b);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end</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semilogy(SNR,ber)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end</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set(gca,'YScale','log'); grid on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legend('Nr=1','Nr=2','Nr=4');</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slope check: decades per 10 dB = Nr</a:t>
            </a:r>
          </a:p>
        </p:txBody>
      </p:sp>
      <p:sp>
        <p:nvSpPr>
          <p:cNvPr id="7" name="Rounded Rectangle 6"/>
          <p:cNvSpPr/>
          <p:nvPr/>
        </p:nvSpPr>
        <p:spPr>
          <a:xfrm>
            <a:off x="617220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37336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FFB454"/>
                </a:solidFill>
                <a:effectLst/>
                <a:uLnTx/>
                <a:uFillTx/>
                <a:latin typeface="Calibri"/>
                <a:ea typeface="+mn-ea"/>
                <a:cs typeface="+mn-cs"/>
              </a:rPr>
              <a:t>Python (NumPy)</a:t>
            </a:r>
          </a:p>
        </p:txBody>
      </p:sp>
      <p:sp>
        <p:nvSpPr>
          <p:cNvPr id="9" name="TextBox 8"/>
          <p:cNvSpPr txBox="1"/>
          <p:nvPr/>
        </p:nvSpPr>
        <p:spPr>
          <a:xfrm>
            <a:off x="640080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import numpy as np, matplotlib.pyplot as plt</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N=2*10**5; SNR=np.arange(0,25,2)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b=np.random.randint(0,2,N);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L in [1,2,4]:</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ber=[]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for sdB in 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g=10**(sdB/10)/L          # split SNR budget</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h=np.sqrt(.5)*(np.random.randn(L,N)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+1j*np.random.randn(L,N))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n=np.sqrt(1/(2*g))*(np.random.randn(L,N)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+1j*np.random.randn(L,N))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y=h*s+n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z=np.real(np.sum(np.conj(h)*y,0))  # MRC</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ber.append(np.mean((z&gt;0)!=b))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plt.semilogy(SNR,ber,label=f'Nr={L}')</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plt.grid(); plt.legend(); plt.show()</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slope check: decades per 10 dB = Nr</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r>
              <a:rPr kumimoji="0" sz="1100" b="0" i="0" u="none" strike="noStrike" kern="1200" cap="none" spc="0" normalizeH="0" baseline="0" noProof="0">
                <a:ln>
                  <a:noFill/>
                </a:ln>
                <a:solidFill>
                  <a:srgbClr val="9AA3C0"/>
                </a:solidFill>
                <a:effectLst/>
                <a:uLnTx/>
                <a:uFillTx/>
                <a:latin typeface="Calibri"/>
                <a:ea typeface="+mn-ea"/>
                <a:cs typeface="+mn-cs"/>
              </a:rP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300" b="1" i="0" u="none" strike="noStrike" kern="1200" cap="none" spc="0" normalizeH="0" baseline="0" noProof="0">
                <a:ln>
                  <a:noFill/>
                </a:ln>
                <a:solidFill>
                  <a:srgbClr val="3DDC97"/>
                </a:solidFill>
                <a:effectLst/>
                <a:uLnTx/>
                <a:uFillTx/>
                <a:latin typeface="Calibri"/>
                <a:ea typeface="+mn-ea"/>
                <a:cs typeface="+mn-cs"/>
              </a:rPr>
              <a:t>LAB 3 · CODE</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3300" b="1" i="0" u="none" strike="noStrike" kern="1200" cap="none" spc="0" normalizeH="0" baseline="0" noProof="0">
                <a:ln>
                  <a:noFill/>
                </a:ln>
                <a:solidFill>
                  <a:srgbClr val="E8EAF6"/>
                </a:solidFill>
                <a:effectLst/>
                <a:uLnTx/>
                <a:uFillTx/>
                <a:latin typeface="Cambria"/>
                <a:ea typeface="+mn-ea"/>
                <a:cs typeface="+mn-cs"/>
              </a:rPr>
              <a:t>Alamouti 2×1 — d = 2 Without CSI</a:t>
            </a:r>
          </a:p>
        </p:txBody>
      </p:sp>
      <p:sp>
        <p:nvSpPr>
          <p:cNvPr id="4" name="Rounded Rectangle 3"/>
          <p:cNvSpPr/>
          <p:nvPr/>
        </p:nvSpPr>
        <p:spPr>
          <a:xfrm>
            <a:off x="50292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70408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00E4FF"/>
                </a:solidFill>
                <a:effectLst/>
                <a:uLnTx/>
                <a:uFillTx/>
                <a:latin typeface="Calibri"/>
                <a:ea typeface="+mn-ea"/>
                <a:cs typeface="+mn-cs"/>
              </a:rPr>
              <a:t>MATLAB</a:t>
            </a:r>
          </a:p>
        </p:txBody>
      </p:sp>
      <p:sp>
        <p:nvSpPr>
          <p:cNvPr id="6" name="TextBox 5"/>
          <p:cNvSpPr txBox="1"/>
          <p:nvPr/>
        </p:nvSpPr>
        <p:spPr>
          <a:xfrm>
            <a:off x="73152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N=2e5; SNR=0:2:24;</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nz=@(r) sqrt(.5)*(randn(r,N)+1j*randn(r,N));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k=1:numel(SNR)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g=10^(SNR(k)/10); sg=sqrt(1/g);  % Es/2 per ant</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b=randi([0 1],2,N);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h=nz(2);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y1=(h(1,:).*s(1,:)+h(2,:).*s(2,:))/sqrt(2)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 sg*nz(1);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y2=(-h(1,:).*s(2,:)+h(2,:).*s(1,:))/sqrt(2)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 sg*nz(1);                  % real s: s*=s</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z1=conj(h(1,:)).*y1+h(2,:).*conj(y2);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z2=conj(h(2,:)).*y1-h(1,:).*conj(y2);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ber(k)=mean(([real(z1);real(z2)]&gt;0)~=b,'all');</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end</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semilogy(SNR,ber); grid on   % expect d = 2</a:t>
            </a:r>
          </a:p>
        </p:txBody>
      </p:sp>
      <p:sp>
        <p:nvSpPr>
          <p:cNvPr id="7" name="Rounded Rectangle 6"/>
          <p:cNvSpPr/>
          <p:nvPr/>
        </p:nvSpPr>
        <p:spPr>
          <a:xfrm>
            <a:off x="617220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37336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FFB454"/>
                </a:solidFill>
                <a:effectLst/>
                <a:uLnTx/>
                <a:uFillTx/>
                <a:latin typeface="Calibri"/>
                <a:ea typeface="+mn-ea"/>
                <a:cs typeface="+mn-cs"/>
              </a:rPr>
              <a:t>Python (NumPy)</a:t>
            </a:r>
          </a:p>
        </p:txBody>
      </p:sp>
      <p:sp>
        <p:nvSpPr>
          <p:cNvPr id="9" name="TextBox 8"/>
          <p:cNvSpPr txBox="1"/>
          <p:nvPr/>
        </p:nvSpPr>
        <p:spPr>
          <a:xfrm>
            <a:off x="640080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import numpy as np, matplotlib.pyplot as plt</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N=2*10**5; SNR=np.arange(0,25,2); ber=[]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nz=lambda r:np.sqrt(.5)*(np.random.randn(r,N)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+1j*np.random.randn(r,N))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sdB in 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g=10**(sdB/10); sg=np.sqrt(1/g)</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b=np.random.randint(0,2,(2,N));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h=nz(2)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y1=(h[0]*s[0]+h[1]*s[1])/np.sqrt(2)+sg*nz(1)[0]</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y2=(-h[0]*s[1]+h[1]*s[0])/np.sqrt(2)+sg*nz(1)[0]</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z1=np.conj(h[0])*y1+h[1]*np.conj(y2)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z2=np.conj(h[1])*y1-h[0]*np.conj(y2)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dec=np.vstack([np.real(z1),np.real(z2)])&gt;0</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ber.append(np.mean(dec!=b))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plt.semilogy(SNR,ber); plt.grid()</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plt.show()                    # expect d = 2</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r>
              <a:rPr kumimoji="0" sz="1100" b="0" i="0" u="none" strike="noStrike" kern="1200" cap="none" spc="0" normalizeH="0" baseline="0" noProof="0">
                <a:ln>
                  <a:noFill/>
                </a:ln>
                <a:solidFill>
                  <a:srgbClr val="9AA3C0"/>
                </a:solidFill>
                <a:effectLst/>
                <a:uLnTx/>
                <a:uFillTx/>
                <a:latin typeface="Calibri"/>
                <a:ea typeface="+mn-ea"/>
                <a:cs typeface="+mn-cs"/>
              </a:rP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300" b="1" i="0" u="none" strike="noStrike" kern="1200" cap="none" spc="0" normalizeH="0" baseline="0" noProof="0">
                <a:ln>
                  <a:noFill/>
                </a:ln>
                <a:solidFill>
                  <a:srgbClr val="3DDC97"/>
                </a:solidFill>
                <a:effectLst/>
                <a:uLnTx/>
                <a:uFillTx/>
                <a:latin typeface="Calibri"/>
                <a:ea typeface="+mn-ea"/>
                <a:cs typeface="+mn-cs"/>
              </a:rPr>
              <a:t>LAB 4 · CODE</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3300" b="1" i="0" u="none" strike="noStrike" kern="1200" cap="none" spc="0" normalizeH="0" baseline="0" noProof="0">
                <a:ln>
                  <a:noFill/>
                </a:ln>
                <a:solidFill>
                  <a:srgbClr val="E8EAF6"/>
                </a:solidFill>
                <a:effectLst/>
                <a:uLnTx/>
                <a:uFillTx/>
                <a:latin typeface="Cambria"/>
                <a:ea typeface="+mn-ea"/>
                <a:cs typeface="+mn-cs"/>
              </a:rPr>
              <a:t>Rank Experiment — Watch the Slope Collapse</a:t>
            </a:r>
          </a:p>
        </p:txBody>
      </p:sp>
      <p:sp>
        <p:nvSpPr>
          <p:cNvPr id="4" name="Rounded Rectangle 3"/>
          <p:cNvSpPr/>
          <p:nvPr/>
        </p:nvSpPr>
        <p:spPr>
          <a:xfrm>
            <a:off x="50292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70408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00E4FF"/>
                </a:solidFill>
                <a:effectLst/>
                <a:uLnTx/>
                <a:uFillTx/>
                <a:latin typeface="Calibri"/>
                <a:ea typeface="+mn-ea"/>
                <a:cs typeface="+mn-cs"/>
              </a:rPr>
              <a:t>MATLAB</a:t>
            </a:r>
          </a:p>
        </p:txBody>
      </p:sp>
      <p:sp>
        <p:nvSpPr>
          <p:cNvPr id="6" name="TextBox 5"/>
          <p:cNvSpPr txBox="1"/>
          <p:nvPr/>
        </p:nvSpPr>
        <p:spPr>
          <a:xfrm>
            <a:off x="73152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Break diversity on purpose:</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send the SAME symbol from both antennas</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(every dX is rank 1)  vs  Alamouti (rank 2)</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N=2e5; SNR=0:2:24;</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b=randi([0 1],1,N);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k=1:numel(SNR)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g=10^(SNR(k)/10); sg=sqrt(1/(2*g));</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h=sqrt(.5)*(randn(2,N)+1j*randn(2,N));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heq=(h(1,:)+h(2,:))/sqrt(2);  % naive sum</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y=heq.*s+sg*(randn(1,N)+1j*randn(1,N));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berN(k)=mean((real(conj(heq).*y)&gt;0)~=b);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end</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semilogy(SNR,berN); hold on; grid on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overlay Alamouti BER from Lab 3:</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naive stays at slope 1 - heq is STILL Rayleigh</a:t>
            </a:r>
          </a:p>
        </p:txBody>
      </p:sp>
      <p:sp>
        <p:nvSpPr>
          <p:cNvPr id="7" name="Rounded Rectangle 6"/>
          <p:cNvSpPr/>
          <p:nvPr/>
        </p:nvSpPr>
        <p:spPr>
          <a:xfrm>
            <a:off x="6172200" y="1645920"/>
            <a:ext cx="5532120" cy="470916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6373368" y="1792224"/>
            <a:ext cx="5129784"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1500" b="1" i="0" u="none" strike="noStrike" kern="1200" cap="none" spc="0" normalizeH="0" baseline="0" noProof="0">
                <a:ln>
                  <a:noFill/>
                </a:ln>
                <a:solidFill>
                  <a:srgbClr val="FFB454"/>
                </a:solidFill>
                <a:effectLst/>
                <a:uLnTx/>
                <a:uFillTx/>
                <a:latin typeface="Calibri"/>
                <a:ea typeface="+mn-ea"/>
                <a:cs typeface="+mn-cs"/>
              </a:rPr>
              <a:t>Python (NumPy)</a:t>
            </a:r>
          </a:p>
        </p:txBody>
      </p:sp>
      <p:sp>
        <p:nvSpPr>
          <p:cNvPr id="9" name="TextBox 8"/>
          <p:cNvSpPr txBox="1"/>
          <p:nvPr/>
        </p:nvSpPr>
        <p:spPr>
          <a:xfrm>
            <a:off x="6400800" y="2176272"/>
            <a:ext cx="5074920" cy="4023360"/>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Break diversity on purpose:</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same symbol on both antennas -&gt; rank-1 dX</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import numpy as np, matplotlib.pyplot as plt</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N=2*10**5; SNR=np.arange(0,25,2); berN=[]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b=np.random.randint(0,2,N); s=2*b-1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for sdB in SNR:</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g=10**(sdB/10); sg=np.sqrt(1/(2*g))</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h=np.sqrt(.5)*(np.random.randn(2,N)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+1j*np.random.randn(2,N))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heq=(h[0]+h[1])/np.sqrt(2)    # naive sum</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y=heq*s+sg*(np.random.randn(N)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+1j*np.random.randn(N))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berN.append(np.mean(</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        (np.real(np.conj(heq)*y)&gt;0)!=b))</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E8EAF6"/>
                </a:solidFill>
                <a:effectLst/>
                <a:uLnTx/>
                <a:uFillTx/>
                <a:latin typeface="Courier New"/>
                <a:ea typeface="+mn-ea"/>
                <a:cs typeface="+mn-cs"/>
              </a:rPr>
              <a:t>plt.semilogy(SNR,berN); plt.grid(); plt.show()</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overlay Alamouti: naive stays at slope 1,</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0" i="0" u="none" strike="noStrike" kern="1200" cap="none" spc="0" normalizeH="0" baseline="0" noProof="0">
                <a:ln>
                  <a:noFill/>
                </a:ln>
                <a:solidFill>
                  <a:srgbClr val="9AA3C0"/>
                </a:solidFill>
                <a:effectLst/>
                <a:uLnTx/>
                <a:uFillTx/>
                <a:latin typeface="Courier New"/>
                <a:ea typeface="+mn-ea"/>
                <a:cs typeface="+mn-cs"/>
              </a:rPr>
              <a:t># because heq is STILL Rayleigh distributed</a:t>
            </a:r>
          </a:p>
        </p:txBody>
      </p:sp>
      <p:sp>
        <p:nvSpPr>
          <p:cNvPr id="10" name="TextBox 9"/>
          <p:cNvSpPr txBox="1"/>
          <p:nvPr/>
        </p:nvSpPr>
        <p:spPr>
          <a:xfrm>
            <a:off x="11430000" y="6473952"/>
            <a:ext cx="54864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600"/>
              </a:spcAft>
              <a:buClrTx/>
              <a:buSzTx/>
              <a:buFontTx/>
              <a:buNone/>
              <a:tabLst/>
              <a:defRPr/>
            </a:pPr>
            <a:r>
              <a:rPr kumimoji="0" sz="1100" b="0" i="0" u="none" strike="noStrike" kern="1200" cap="none" spc="0" normalizeH="0" baseline="0" noProof="0">
                <a:ln>
                  <a:noFill/>
                </a:ln>
                <a:solidFill>
                  <a:srgbClr val="9AA3C0"/>
                </a:solidFill>
                <a:effectLst/>
                <a:uLnTx/>
                <a:uFillTx/>
                <a:latin typeface="Calibri"/>
                <a:ea typeface="+mn-ea"/>
                <a:cs typeface="+mn-cs"/>
              </a:rP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00E4FF"/>
                </a:solidFill>
                <a:latin typeface="Calibri"/>
              </a:rPr>
              <a:t>THE WHOLE STORY</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One Chain to Remember</a:t>
            </a:r>
          </a:p>
        </p:txBody>
      </p:sp>
      <p:sp>
        <p:nvSpPr>
          <p:cNvPr id="4" name="Rounded Rectangle 3"/>
          <p:cNvSpPr/>
          <p:nvPr/>
        </p:nvSpPr>
        <p:spPr>
          <a:xfrm>
            <a:off x="411480" y="2743200"/>
            <a:ext cx="2103120" cy="16916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2907792"/>
            <a:ext cx="2103120" cy="457200"/>
          </a:xfrm>
          <a:prstGeom prst="rect">
            <a:avLst/>
          </a:prstGeom>
          <a:noFill/>
        </p:spPr>
        <p:txBody>
          <a:bodyPr wrap="square" lIns="0" tIns="0" rIns="0" bIns="0" anchor="t">
            <a:spAutoFit/>
          </a:bodyPr>
          <a:lstStyle/>
          <a:p>
            <a:pPr algn="ctr">
              <a:lnSpc>
                <a:spcPct val="100000"/>
              </a:lnSpc>
              <a:spcAft>
                <a:spcPts val="600"/>
              </a:spcAft>
            </a:pPr>
            <a:r>
              <a:rPr sz="1900" b="1" i="0">
                <a:solidFill>
                  <a:srgbClr val="FF5C7A"/>
                </a:solidFill>
                <a:latin typeface="Cambria"/>
              </a:rPr>
              <a:t>BER</a:t>
            </a:r>
          </a:p>
        </p:txBody>
      </p:sp>
      <p:sp>
        <p:nvSpPr>
          <p:cNvPr id="6" name="TextBox 5"/>
          <p:cNvSpPr txBox="1"/>
          <p:nvPr/>
        </p:nvSpPr>
        <p:spPr>
          <a:xfrm>
            <a:off x="521208" y="3456432"/>
            <a:ext cx="1883664" cy="86868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errors happen in bursts</a:t>
            </a:r>
          </a:p>
        </p:txBody>
      </p:sp>
      <p:cxnSp>
        <p:nvCxnSpPr>
          <p:cNvPr id="7" name="Connector 6"/>
          <p:cNvCxnSpPr/>
          <p:nvPr/>
        </p:nvCxnSpPr>
        <p:spPr>
          <a:xfrm>
            <a:off x="2532888" y="3584448"/>
            <a:ext cx="256032" cy="0"/>
          </a:xfrm>
          <a:prstGeom prst="line">
            <a:avLst/>
          </a:prstGeom>
          <a:ln w="3302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07208" y="2743200"/>
            <a:ext cx="2103120" cy="16916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07208" y="2907792"/>
            <a:ext cx="2103120" cy="457200"/>
          </a:xfrm>
          <a:prstGeom prst="rect">
            <a:avLst/>
          </a:prstGeom>
          <a:noFill/>
        </p:spPr>
        <p:txBody>
          <a:bodyPr wrap="square" lIns="0" tIns="0" rIns="0" bIns="0" anchor="t">
            <a:spAutoFit/>
          </a:bodyPr>
          <a:lstStyle/>
          <a:p>
            <a:pPr algn="ctr">
              <a:lnSpc>
                <a:spcPct val="100000"/>
              </a:lnSpc>
              <a:spcAft>
                <a:spcPts val="600"/>
              </a:spcAft>
            </a:pPr>
            <a:r>
              <a:rPr sz="1900" b="1" i="0">
                <a:solidFill>
                  <a:srgbClr val="FFB454"/>
                </a:solidFill>
                <a:latin typeface="Cambria"/>
              </a:rPr>
              <a:t>Deep fades</a:t>
            </a:r>
          </a:p>
        </p:txBody>
      </p:sp>
      <p:sp>
        <p:nvSpPr>
          <p:cNvPr id="10" name="TextBox 9"/>
          <p:cNvSpPr txBox="1"/>
          <p:nvPr/>
        </p:nvSpPr>
        <p:spPr>
          <a:xfrm>
            <a:off x="2916936" y="3456432"/>
            <a:ext cx="1883664" cy="86868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the bursts ARE the fades</a:t>
            </a:r>
          </a:p>
        </p:txBody>
      </p:sp>
      <p:cxnSp>
        <p:nvCxnSpPr>
          <p:cNvPr id="11" name="Connector 10"/>
          <p:cNvCxnSpPr/>
          <p:nvPr/>
        </p:nvCxnSpPr>
        <p:spPr>
          <a:xfrm>
            <a:off x="4928616" y="3584448"/>
            <a:ext cx="256032" cy="0"/>
          </a:xfrm>
          <a:prstGeom prst="line">
            <a:avLst/>
          </a:prstGeom>
          <a:ln w="3302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02936" y="2743200"/>
            <a:ext cx="2103120" cy="16916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02936" y="2907792"/>
            <a:ext cx="2103120" cy="457200"/>
          </a:xfrm>
          <a:prstGeom prst="rect">
            <a:avLst/>
          </a:prstGeom>
          <a:noFill/>
        </p:spPr>
        <p:txBody>
          <a:bodyPr wrap="square" lIns="0" tIns="0" rIns="0" bIns="0" anchor="t">
            <a:spAutoFit/>
          </a:bodyPr>
          <a:lstStyle/>
          <a:p>
            <a:pPr algn="ctr">
              <a:lnSpc>
                <a:spcPct val="100000"/>
              </a:lnSpc>
              <a:spcAft>
                <a:spcPts val="600"/>
              </a:spcAft>
            </a:pPr>
            <a:r>
              <a:rPr sz="1900" b="1" i="0">
                <a:solidFill>
                  <a:srgbClr val="00E4FF"/>
                </a:solidFill>
                <a:latin typeface="Cambria"/>
              </a:rPr>
              <a:t>PEP</a:t>
            </a:r>
          </a:p>
        </p:txBody>
      </p:sp>
      <p:sp>
        <p:nvSpPr>
          <p:cNvPr id="14" name="TextBox 13"/>
          <p:cNvSpPr txBox="1"/>
          <p:nvPr/>
        </p:nvSpPr>
        <p:spPr>
          <a:xfrm>
            <a:off x="5312664" y="3456432"/>
            <a:ext cx="1883664" cy="86868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judge codewords pairwise</a:t>
            </a:r>
          </a:p>
        </p:txBody>
      </p:sp>
      <p:cxnSp>
        <p:nvCxnSpPr>
          <p:cNvPr id="15" name="Connector 14"/>
          <p:cNvCxnSpPr/>
          <p:nvPr/>
        </p:nvCxnSpPr>
        <p:spPr>
          <a:xfrm>
            <a:off x="7324344" y="3584448"/>
            <a:ext cx="256032" cy="0"/>
          </a:xfrm>
          <a:prstGeom prst="line">
            <a:avLst/>
          </a:prstGeom>
          <a:ln w="3302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98664" y="2743200"/>
            <a:ext cx="2103120" cy="16916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98664" y="2907792"/>
            <a:ext cx="2103120" cy="457200"/>
          </a:xfrm>
          <a:prstGeom prst="rect">
            <a:avLst/>
          </a:prstGeom>
          <a:noFill/>
        </p:spPr>
        <p:txBody>
          <a:bodyPr wrap="square" lIns="0" tIns="0" rIns="0" bIns="0" anchor="t">
            <a:spAutoFit/>
          </a:bodyPr>
          <a:lstStyle/>
          <a:p>
            <a:pPr algn="ctr">
              <a:lnSpc>
                <a:spcPct val="100000"/>
              </a:lnSpc>
              <a:spcAft>
                <a:spcPts val="600"/>
              </a:spcAft>
            </a:pPr>
            <a:r>
              <a:rPr sz="1900" b="1" i="0">
                <a:solidFill>
                  <a:srgbClr val="7C5CFF"/>
                </a:solidFill>
                <a:latin typeface="Cambria"/>
              </a:rPr>
              <a:t>rank(ΔX)</a:t>
            </a:r>
          </a:p>
        </p:txBody>
      </p:sp>
      <p:sp>
        <p:nvSpPr>
          <p:cNvPr id="18" name="TextBox 17"/>
          <p:cNvSpPr txBox="1"/>
          <p:nvPr/>
        </p:nvSpPr>
        <p:spPr>
          <a:xfrm>
            <a:off x="7708392" y="3456432"/>
            <a:ext cx="1883664" cy="86868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worst pair's rank r</a:t>
            </a:r>
          </a:p>
        </p:txBody>
      </p:sp>
      <p:cxnSp>
        <p:nvCxnSpPr>
          <p:cNvPr id="19" name="Connector 18"/>
          <p:cNvCxnSpPr/>
          <p:nvPr/>
        </p:nvCxnSpPr>
        <p:spPr>
          <a:xfrm>
            <a:off x="9720072" y="3584448"/>
            <a:ext cx="256032" cy="0"/>
          </a:xfrm>
          <a:prstGeom prst="line">
            <a:avLst/>
          </a:prstGeom>
          <a:ln w="33020">
            <a:solidFill>
              <a:srgbClr val="7C5C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994392" y="2743200"/>
            <a:ext cx="2103120" cy="169164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994392" y="2907792"/>
            <a:ext cx="2103120" cy="457200"/>
          </a:xfrm>
          <a:prstGeom prst="rect">
            <a:avLst/>
          </a:prstGeom>
          <a:noFill/>
        </p:spPr>
        <p:txBody>
          <a:bodyPr wrap="square" lIns="0" tIns="0" rIns="0" bIns="0" anchor="t">
            <a:spAutoFit/>
          </a:bodyPr>
          <a:lstStyle/>
          <a:p>
            <a:pPr algn="ctr">
              <a:lnSpc>
                <a:spcPct val="100000"/>
              </a:lnSpc>
              <a:spcAft>
                <a:spcPts val="600"/>
              </a:spcAft>
            </a:pPr>
            <a:r>
              <a:rPr sz="1900" b="1" i="0">
                <a:solidFill>
                  <a:srgbClr val="3DDC97"/>
                </a:solidFill>
                <a:latin typeface="Cambria"/>
              </a:rPr>
              <a:t>d = r·Nr</a:t>
            </a:r>
          </a:p>
        </p:txBody>
      </p:sp>
      <p:sp>
        <p:nvSpPr>
          <p:cNvPr id="22" name="TextBox 21"/>
          <p:cNvSpPr txBox="1"/>
          <p:nvPr/>
        </p:nvSpPr>
        <p:spPr>
          <a:xfrm>
            <a:off x="10104120" y="3456432"/>
            <a:ext cx="1883664" cy="868680"/>
          </a:xfrm>
          <a:prstGeom prst="rect">
            <a:avLst/>
          </a:prstGeom>
          <a:noFill/>
        </p:spPr>
        <p:txBody>
          <a:bodyPr wrap="square" lIns="0" tIns="0" rIns="0" bIns="0" anchor="t">
            <a:spAutoFit/>
          </a:bodyPr>
          <a:lstStyle/>
          <a:p>
            <a:pPr algn="ctr">
              <a:lnSpc>
                <a:spcPct val="100000"/>
              </a:lnSpc>
              <a:spcAft>
                <a:spcPts val="600"/>
              </a:spcAft>
            </a:pPr>
            <a:r>
              <a:rPr sz="1250" b="0" i="0">
                <a:solidFill>
                  <a:srgbClr val="9AA3C0"/>
                </a:solidFill>
                <a:latin typeface="Calibri"/>
              </a:rPr>
              <a:t>slope of your BER curve</a:t>
            </a:r>
          </a:p>
        </p:txBody>
      </p:sp>
      <p:sp>
        <p:nvSpPr>
          <p:cNvPr id="23" name="Rounded Rectangle 22"/>
          <p:cNvSpPr/>
          <p:nvPr/>
        </p:nvSpPr>
        <p:spPr>
          <a:xfrm>
            <a:off x="2468880" y="4892040"/>
            <a:ext cx="7223760" cy="1188720"/>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68880" y="5120640"/>
            <a:ext cx="7223760" cy="777240"/>
          </a:xfrm>
          <a:prstGeom prst="rect">
            <a:avLst/>
          </a:prstGeom>
          <a:noFill/>
        </p:spPr>
        <p:txBody>
          <a:bodyPr wrap="square" lIns="0" tIns="0" rIns="0" bIns="0" anchor="t">
            <a:spAutoFit/>
          </a:bodyPr>
          <a:lstStyle/>
          <a:p>
            <a:pPr algn="ctr">
              <a:lnSpc>
                <a:spcPct val="100000"/>
              </a:lnSpc>
              <a:spcAft>
                <a:spcPts val="600"/>
              </a:spcAft>
            </a:pPr>
            <a:r>
              <a:rPr sz="3000" b="1" i="0">
                <a:solidFill>
                  <a:srgbClr val="3DDC97"/>
                </a:solidFill>
                <a:latin typeface="Cambria"/>
              </a:rPr>
              <a:t>d_max = Nt × Nr</a:t>
            </a:r>
            <a:r>
              <a:rPr sz="1500" b="0" i="0">
                <a:solidFill>
                  <a:srgbClr val="9AA3C0"/>
                </a:solidFill>
                <a:latin typeface="Calibri"/>
              </a:rPr>
              <a:t>   — the diversity theorem of MIMO</a:t>
            </a:r>
          </a:p>
        </p:txBody>
      </p:sp>
      <p:sp>
        <p:nvSpPr>
          <p:cNvPr id="25" name="TextBox 24"/>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292608"/>
          </a:xfrm>
          <a:prstGeom prst="rect">
            <a:avLst/>
          </a:prstGeom>
          <a:noFill/>
        </p:spPr>
        <p:txBody>
          <a:bodyPr wrap="square" lIns="0" tIns="0" rIns="0" bIns="0" anchor="t">
            <a:spAutoFit/>
          </a:bodyPr>
          <a:lstStyle/>
          <a:p>
            <a:pPr algn="l">
              <a:lnSpc>
                <a:spcPct val="100000"/>
              </a:lnSpc>
              <a:spcAft>
                <a:spcPts val="600"/>
              </a:spcAft>
            </a:pPr>
            <a:r>
              <a:rPr sz="1300" b="1" i="0">
                <a:solidFill>
                  <a:srgbClr val="FFB454"/>
                </a:solidFill>
                <a:latin typeface="Calibri"/>
              </a:rPr>
              <a:t>EXIT QUIZ</a:t>
            </a:r>
          </a:p>
        </p:txBody>
      </p:sp>
      <p:sp>
        <p:nvSpPr>
          <p:cNvPr id="3" name="TextBox 2"/>
          <p:cNvSpPr txBox="1"/>
          <p:nvPr/>
        </p:nvSpPr>
        <p:spPr>
          <a:xfrm>
            <a:off x="502920" y="566928"/>
            <a:ext cx="11155680" cy="868680"/>
          </a:xfrm>
          <a:prstGeom prst="rect">
            <a:avLst/>
          </a:prstGeom>
          <a:noFill/>
        </p:spPr>
        <p:txBody>
          <a:bodyPr wrap="square" lIns="0" tIns="0" rIns="0" bIns="0" anchor="t">
            <a:spAutoFit/>
          </a:bodyPr>
          <a:lstStyle/>
          <a:p>
            <a:pPr algn="l">
              <a:lnSpc>
                <a:spcPct val="100000"/>
              </a:lnSpc>
              <a:spcAft>
                <a:spcPts val="600"/>
              </a:spcAft>
            </a:pPr>
            <a:r>
              <a:rPr sz="3300" b="1" i="0">
                <a:solidFill>
                  <a:srgbClr val="E8EAF6"/>
                </a:solidFill>
                <a:latin typeface="Cambria"/>
              </a:rPr>
              <a:t>Five Rapid Questions — Answers Live</a:t>
            </a:r>
          </a:p>
        </p:txBody>
      </p:sp>
      <p:sp>
        <p:nvSpPr>
          <p:cNvPr id="4" name="Rounded Rectangle 3"/>
          <p:cNvSpPr/>
          <p:nvPr/>
        </p:nvSpPr>
        <p:spPr>
          <a:xfrm>
            <a:off x="502920" y="1645920"/>
            <a:ext cx="11155680" cy="804672"/>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47088"/>
            <a:ext cx="78638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1.  </a:t>
            </a:r>
            <a:r>
              <a:rPr sz="1600" b="1" i="0">
                <a:solidFill>
                  <a:srgbClr val="E8EAF6"/>
                </a:solidFill>
                <a:latin typeface="Calibri"/>
              </a:rPr>
              <a:t>BER of 30 errors in 3×10⁶ bits?</a:t>
            </a:r>
          </a:p>
        </p:txBody>
      </p:sp>
      <p:sp>
        <p:nvSpPr>
          <p:cNvPr id="6" name="TextBox 5"/>
          <p:cNvSpPr txBox="1"/>
          <p:nvPr/>
        </p:nvSpPr>
        <p:spPr>
          <a:xfrm>
            <a:off x="8778240" y="1847088"/>
            <a:ext cx="2651760" cy="457200"/>
          </a:xfrm>
          <a:prstGeom prst="rect">
            <a:avLst/>
          </a:prstGeom>
          <a:noFill/>
        </p:spPr>
        <p:txBody>
          <a:bodyPr wrap="square" lIns="0" tIns="0" rIns="0" bIns="0" anchor="t">
            <a:spAutoFit/>
          </a:bodyPr>
          <a:lstStyle/>
          <a:p>
            <a:pPr algn="r">
              <a:lnSpc>
                <a:spcPct val="100000"/>
              </a:lnSpc>
              <a:spcAft>
                <a:spcPts val="600"/>
              </a:spcAft>
            </a:pPr>
            <a:r>
              <a:rPr sz="1600" b="1" i="0">
                <a:solidFill>
                  <a:srgbClr val="3DDC97"/>
                </a:solidFill>
                <a:latin typeface="Calibri"/>
              </a:rPr>
              <a:t>10⁻⁵</a:t>
            </a:r>
          </a:p>
        </p:txBody>
      </p:sp>
      <p:sp>
        <p:nvSpPr>
          <p:cNvPr id="7" name="Rounded Rectangle 6"/>
          <p:cNvSpPr/>
          <p:nvPr/>
        </p:nvSpPr>
        <p:spPr>
          <a:xfrm>
            <a:off x="502920" y="2578608"/>
            <a:ext cx="11155680" cy="804672"/>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779776"/>
            <a:ext cx="78638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2.  </a:t>
            </a:r>
            <a:r>
              <a:rPr sz="1600" b="1" i="0">
                <a:solidFill>
                  <a:srgbClr val="E8EAF6"/>
                </a:solidFill>
                <a:latin typeface="Calibri"/>
              </a:rPr>
              <a:t>Curve drops 3 decades per 10 dB → d?</a:t>
            </a:r>
          </a:p>
        </p:txBody>
      </p:sp>
      <p:sp>
        <p:nvSpPr>
          <p:cNvPr id="9" name="TextBox 8"/>
          <p:cNvSpPr txBox="1"/>
          <p:nvPr/>
        </p:nvSpPr>
        <p:spPr>
          <a:xfrm>
            <a:off x="8778240" y="2779776"/>
            <a:ext cx="2651760" cy="457200"/>
          </a:xfrm>
          <a:prstGeom prst="rect">
            <a:avLst/>
          </a:prstGeom>
          <a:noFill/>
        </p:spPr>
        <p:txBody>
          <a:bodyPr wrap="square" lIns="0" tIns="0" rIns="0" bIns="0" anchor="t">
            <a:spAutoFit/>
          </a:bodyPr>
          <a:lstStyle/>
          <a:p>
            <a:pPr algn="r">
              <a:lnSpc>
                <a:spcPct val="100000"/>
              </a:lnSpc>
              <a:spcAft>
                <a:spcPts val="600"/>
              </a:spcAft>
            </a:pPr>
            <a:r>
              <a:rPr sz="1600" b="1" i="0">
                <a:solidFill>
                  <a:srgbClr val="3DDC97"/>
                </a:solidFill>
                <a:latin typeface="Calibri"/>
              </a:rPr>
              <a:t>d = 3</a:t>
            </a:r>
          </a:p>
        </p:txBody>
      </p:sp>
      <p:sp>
        <p:nvSpPr>
          <p:cNvPr id="10" name="Rounded Rectangle 9"/>
          <p:cNvSpPr/>
          <p:nvPr/>
        </p:nvSpPr>
        <p:spPr>
          <a:xfrm>
            <a:off x="502920" y="3511296"/>
            <a:ext cx="11155680" cy="804672"/>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712464"/>
            <a:ext cx="78638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3.  </a:t>
            </a:r>
            <a:r>
              <a:rPr sz="1600" b="1" i="0">
                <a:solidFill>
                  <a:srgbClr val="E8EAF6"/>
                </a:solidFill>
                <a:latin typeface="Calibri"/>
              </a:rPr>
              <a:t>1×4 MRC diversity order?</a:t>
            </a:r>
          </a:p>
        </p:txBody>
      </p:sp>
      <p:sp>
        <p:nvSpPr>
          <p:cNvPr id="12" name="TextBox 11"/>
          <p:cNvSpPr txBox="1"/>
          <p:nvPr/>
        </p:nvSpPr>
        <p:spPr>
          <a:xfrm>
            <a:off x="8778240" y="3712464"/>
            <a:ext cx="2651760" cy="457200"/>
          </a:xfrm>
          <a:prstGeom prst="rect">
            <a:avLst/>
          </a:prstGeom>
          <a:noFill/>
        </p:spPr>
        <p:txBody>
          <a:bodyPr wrap="square" lIns="0" tIns="0" rIns="0" bIns="0" anchor="t">
            <a:spAutoFit/>
          </a:bodyPr>
          <a:lstStyle/>
          <a:p>
            <a:pPr algn="r">
              <a:lnSpc>
                <a:spcPct val="100000"/>
              </a:lnSpc>
              <a:spcAft>
                <a:spcPts val="600"/>
              </a:spcAft>
            </a:pPr>
            <a:r>
              <a:rPr sz="1600" b="1" i="0">
                <a:solidFill>
                  <a:srgbClr val="3DDC97"/>
                </a:solidFill>
                <a:latin typeface="Calibri"/>
              </a:rPr>
              <a:t>4</a:t>
            </a:r>
          </a:p>
        </p:txBody>
      </p:sp>
      <p:sp>
        <p:nvSpPr>
          <p:cNvPr id="13" name="Rounded Rectangle 12"/>
          <p:cNvSpPr/>
          <p:nvPr/>
        </p:nvSpPr>
        <p:spPr>
          <a:xfrm>
            <a:off x="502920" y="4443984"/>
            <a:ext cx="11155680" cy="804672"/>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4645152"/>
            <a:ext cx="78638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4.  </a:t>
            </a:r>
            <a:r>
              <a:rPr sz="1600" b="1" i="0">
                <a:solidFill>
                  <a:srgbClr val="E8EAF6"/>
                </a:solidFill>
                <a:latin typeface="Calibri"/>
              </a:rPr>
              <a:t>rank(ΔX) = 1 in a 2×2 system, Nr = 3 → d?</a:t>
            </a:r>
          </a:p>
        </p:txBody>
      </p:sp>
      <p:sp>
        <p:nvSpPr>
          <p:cNvPr id="15" name="TextBox 14"/>
          <p:cNvSpPr txBox="1"/>
          <p:nvPr/>
        </p:nvSpPr>
        <p:spPr>
          <a:xfrm>
            <a:off x="8778240" y="4645152"/>
            <a:ext cx="2651760" cy="457200"/>
          </a:xfrm>
          <a:prstGeom prst="rect">
            <a:avLst/>
          </a:prstGeom>
          <a:noFill/>
        </p:spPr>
        <p:txBody>
          <a:bodyPr wrap="square" lIns="0" tIns="0" rIns="0" bIns="0" anchor="t">
            <a:spAutoFit/>
          </a:bodyPr>
          <a:lstStyle/>
          <a:p>
            <a:pPr algn="r">
              <a:lnSpc>
                <a:spcPct val="100000"/>
              </a:lnSpc>
              <a:spcAft>
                <a:spcPts val="600"/>
              </a:spcAft>
            </a:pPr>
            <a:r>
              <a:rPr sz="1600" b="1" i="0">
                <a:solidFill>
                  <a:srgbClr val="3DDC97"/>
                </a:solidFill>
                <a:latin typeface="Calibri"/>
              </a:rPr>
              <a:t>3</a:t>
            </a:r>
          </a:p>
        </p:txBody>
      </p:sp>
      <p:sp>
        <p:nvSpPr>
          <p:cNvPr id="16" name="Rounded Rectangle 15"/>
          <p:cNvSpPr/>
          <p:nvPr/>
        </p:nvSpPr>
        <p:spPr>
          <a:xfrm>
            <a:off x="502920" y="5376672"/>
            <a:ext cx="11155680" cy="804672"/>
          </a:xfrm>
          <a:prstGeom prst="roundRect">
            <a:avLst>
              <a:gd name="adj" fmla="val 8000"/>
            </a:avLst>
          </a:prstGeom>
          <a:solidFill>
            <a:srgbClr val="121A33"/>
          </a:solidFill>
          <a:ln w="12700">
            <a:solidFill>
              <a:srgbClr val="2730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577840"/>
            <a:ext cx="7863840" cy="457200"/>
          </a:xfrm>
          <a:prstGeom prst="rect">
            <a:avLst/>
          </a:prstGeom>
          <a:noFill/>
        </p:spPr>
        <p:txBody>
          <a:bodyPr wrap="square" lIns="0" tIns="0" rIns="0" bIns="0" anchor="t">
            <a:spAutoFit/>
          </a:bodyPr>
          <a:lstStyle/>
          <a:p>
            <a:pPr algn="l">
              <a:lnSpc>
                <a:spcPct val="100000"/>
              </a:lnSpc>
              <a:spcAft>
                <a:spcPts val="600"/>
              </a:spcAft>
            </a:pPr>
            <a:r>
              <a:rPr sz="1600" b="1" i="0">
                <a:solidFill>
                  <a:srgbClr val="FFB454"/>
                </a:solidFill>
                <a:latin typeface="Calibri"/>
              </a:rPr>
              <a:t>5.  </a:t>
            </a:r>
            <a:r>
              <a:rPr sz="1600" b="1" i="0">
                <a:solidFill>
                  <a:srgbClr val="E8EAF6"/>
                </a:solidFill>
                <a:latin typeface="Calibri"/>
              </a:rPr>
              <a:t>Max diversity of 4×2 MIMO?</a:t>
            </a:r>
          </a:p>
        </p:txBody>
      </p:sp>
      <p:sp>
        <p:nvSpPr>
          <p:cNvPr id="18" name="TextBox 17"/>
          <p:cNvSpPr txBox="1"/>
          <p:nvPr/>
        </p:nvSpPr>
        <p:spPr>
          <a:xfrm>
            <a:off x="8778240" y="5577840"/>
            <a:ext cx="2651760" cy="457200"/>
          </a:xfrm>
          <a:prstGeom prst="rect">
            <a:avLst/>
          </a:prstGeom>
          <a:noFill/>
        </p:spPr>
        <p:txBody>
          <a:bodyPr wrap="square" lIns="0" tIns="0" rIns="0" bIns="0" anchor="t">
            <a:spAutoFit/>
          </a:bodyPr>
          <a:lstStyle/>
          <a:p>
            <a:pPr algn="r">
              <a:lnSpc>
                <a:spcPct val="100000"/>
              </a:lnSpc>
              <a:spcAft>
                <a:spcPts val="600"/>
              </a:spcAft>
            </a:pPr>
            <a:r>
              <a:rPr sz="1600" b="1" i="0">
                <a:solidFill>
                  <a:srgbClr val="3DDC97"/>
                </a:solidFill>
                <a:latin typeface="Calibri"/>
              </a:rPr>
              <a:t>8</a:t>
            </a:r>
          </a:p>
        </p:txBody>
      </p:sp>
      <p:sp>
        <p:nvSpPr>
          <p:cNvPr id="19" name="TextBox 18"/>
          <p:cNvSpPr txBox="1"/>
          <p:nvPr/>
        </p:nvSpPr>
        <p:spPr>
          <a:xfrm>
            <a:off x="502920" y="6400800"/>
            <a:ext cx="11155680" cy="320040"/>
          </a:xfrm>
          <a:prstGeom prst="rect">
            <a:avLst/>
          </a:prstGeom>
          <a:noFill/>
        </p:spPr>
        <p:txBody>
          <a:bodyPr wrap="square" lIns="0" tIns="0" rIns="0" bIns="0" anchor="t">
            <a:spAutoFit/>
          </a:bodyPr>
          <a:lstStyle/>
          <a:p>
            <a:pPr algn="l">
              <a:lnSpc>
                <a:spcPct val="100000"/>
              </a:lnSpc>
              <a:spcAft>
                <a:spcPts val="600"/>
              </a:spcAft>
            </a:pPr>
            <a:r>
              <a:rPr sz="1350" b="0" i="0">
                <a:solidFill>
                  <a:srgbClr val="00E4FF"/>
                </a:solidFill>
                <a:latin typeface="Calibri"/>
              </a:rPr>
              <a:t>Next session: the diversity–multiplexing trade-off — spending slope to buy speed.</a:t>
            </a:r>
          </a:p>
        </p:txBody>
      </p:sp>
      <p:sp>
        <p:nvSpPr>
          <p:cNvPr id="20" name="TextBox 19"/>
          <p:cNvSpPr txBox="1"/>
          <p:nvPr/>
        </p:nvSpPr>
        <p:spPr>
          <a:xfrm>
            <a:off x="11430000" y="6473952"/>
            <a:ext cx="548640" cy="274320"/>
          </a:xfrm>
          <a:prstGeom prst="rect">
            <a:avLst/>
          </a:prstGeom>
          <a:noFill/>
        </p:spPr>
        <p:txBody>
          <a:bodyPr wrap="square" lIns="0" tIns="0" rIns="0" bIns="0" anchor="t">
            <a:spAutoFit/>
          </a:bodyPr>
          <a:lstStyle/>
          <a:p>
            <a:pPr algn="r">
              <a:lnSpc>
                <a:spcPct val="100000"/>
              </a:lnSpc>
              <a:spcAft>
                <a:spcPts val="600"/>
              </a:spcAft>
            </a:pPr>
            <a:r>
              <a:rPr sz="1100" b="0" i="0">
                <a:solidFill>
                  <a:srgbClr val="9AA3C0"/>
                </a:solidFill>
                <a:latin typeface="Calibri"/>
              </a:rPr>
              <a:t>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1504</TotalTime>
  <Words>6471</Words>
  <Application>Microsoft Office PowerPoint</Application>
  <PresentationFormat>Widescreen</PresentationFormat>
  <Paragraphs>674</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Manav Bhatnagar</cp:lastModifiedBy>
  <cp:revision>2</cp:revision>
  <dcterms:created xsi:type="dcterms:W3CDTF">2013-01-27T09:14:16Z</dcterms:created>
  <dcterms:modified xsi:type="dcterms:W3CDTF">2026-06-13T04:35:11Z</dcterms:modified>
  <cp:category/>
</cp:coreProperties>
</file>