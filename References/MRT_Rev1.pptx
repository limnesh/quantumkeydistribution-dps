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309" r:id="rId7"/>
    <p:sldId id="262" r:id="rId8"/>
    <p:sldId id="310" r:id="rId9"/>
    <p:sldId id="311" r:id="rId10"/>
    <p:sldId id="264" r:id="rId11"/>
    <p:sldId id="265" r:id="rId12"/>
    <p:sldId id="266" r:id="rId13"/>
    <p:sldId id="267" r:id="rId14"/>
    <p:sldId id="312" r:id="rId15"/>
    <p:sldId id="268" r:id="rId16"/>
    <p:sldId id="271" r:id="rId17"/>
    <p:sldId id="272" r:id="rId18"/>
    <p:sldId id="273" r:id="rId19"/>
    <p:sldId id="269" r:id="rId20"/>
    <p:sldId id="306" r:id="rId21"/>
    <p:sldId id="270" r:id="rId22"/>
    <p:sldId id="274" r:id="rId23"/>
    <p:sldId id="275" r:id="rId24"/>
    <p:sldId id="276" r:id="rId25"/>
    <p:sldId id="277" r:id="rId26"/>
    <p:sldId id="278" r:id="rId27"/>
    <p:sldId id="302" r:id="rId28"/>
    <p:sldId id="303" r:id="rId29"/>
    <p:sldId id="304" r:id="rId30"/>
    <p:sldId id="307" r:id="rId31"/>
    <p:sldId id="279" r:id="rId32"/>
    <p:sldId id="313" r:id="rId33"/>
    <p:sldId id="314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308" r:id="rId43"/>
    <p:sldId id="289" r:id="rId44"/>
    <p:sldId id="315" r:id="rId45"/>
    <p:sldId id="316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28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learners compute before revealing. This motivates the formal derivation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320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D4CC-A040-3D65-1183-E9E525B1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D73A0-32BC-67A4-9704-1AB4E6B89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8AE6F-6798-29C7-4269-AA08B010B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learners compute before revealing. This motivates the formal derivation in the appendix.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C806C-D915-B5B6-C606-B140AC299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93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51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22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83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56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947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958DE-E767-7893-8D3E-FF9B0578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C7FC7-66E0-522F-7585-52033C5A8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BA9E8-52E0-5B50-81EE-BA2219A74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CE0F-C86C-A5AA-B368-1B5E9BB06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8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120640"/>
            <a:ext cx="237744" cy="457200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98864" y="4736592"/>
            <a:ext cx="237744" cy="841248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19488" y="4352544"/>
            <a:ext cx="237744" cy="1225296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40112" y="3968496"/>
            <a:ext cx="237744" cy="1609344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60736" y="3584448"/>
            <a:ext cx="237744" cy="1993392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81360" y="3200400"/>
            <a:ext cx="237744" cy="2377440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301984" y="2816352"/>
            <a:ext cx="237744" cy="2761488"/>
          </a:xfrm>
          <a:prstGeom prst="rect">
            <a:avLst/>
          </a:prstGeom>
          <a:solidFill>
            <a:srgbClr val="06B6D4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PG DIPLOMA · MODULE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Maximal Ratio Transmission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signals smartly across antennas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 &amp; diversity  →  MRC  →  MRT  →  MIMO eigen-beamforming  →  5G/6G, AI &amp; quantum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968850"/>
            <a:ext cx="395021" cy="39502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91640" y="48006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live session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first · worked examples · live code · quizzes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22576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1 OF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fading hurts — and the one idea that fixes it: diversity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73039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START HERE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doesn't your call drop on a moving train?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120 km/h your signal arrives as dozens of delayed echoes that constantly </a:t>
            </a:r>
            <a:r>
              <a:rPr lang="en-US" sz="1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and cancel out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copies cancel and the signal collapses — a deep fade. So why doesn't the call drop every few seconds?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572000" cy="2743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60920" y="2057400"/>
            <a:ext cx="777240" cy="77724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002" y="2259482"/>
            <a:ext cx="373075" cy="373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2104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trick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60920" y="297180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never relies on a single path. It listens through several antennas / paths and combines them so good copies rescue the bad ones.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4800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idea — </a:t>
            </a:r>
            <a:r>
              <a:rPr lang="en-US" sz="16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how the transmitter can help, is today's story.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we're going — and what you'll take away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1781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23160" y="19933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2724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090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 &amp; diversity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55848" y="178308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30168" y="2011680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589" y="21781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9933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630168" y="2724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MRT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30168" y="3090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 → MRT → MIMO eigen-BF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71616" y="178308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345936" y="201168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357" y="21781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54696" y="19933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345936" y="2724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345936" y="3090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5G, live code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787384" y="178308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9061704" y="201168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125" y="217810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70464" y="19933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9061704" y="2724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frontier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061704" y="3090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MIMO, AI, quantum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3977640"/>
            <a:ext cx="10908792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end you'll be able to: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40080" y="45262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diversity, MRC and MRT in plain language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BER curve — and say what its slope and shift mean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MRT to 5G/6G beamforming, AI-native radios and quantum optimization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Fading: when many echoes meet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Multipath.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reaches you as many delayed copies — direct, reflected, scattered.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up.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arrive with different phases. In phase → reinforce; out of phase → cancel (a 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fade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few centimetres and the pattern changes completely — that flicker is small-scale fading.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783080"/>
            <a:ext cx="457200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269480" y="32918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901" y="3458261"/>
            <a:ext cx="307238" cy="30723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927080" y="3291840"/>
            <a:ext cx="640080" cy="640080"/>
          </a:xfrm>
          <a:prstGeom prst="ellipse">
            <a:avLst/>
          </a:prstGeom>
          <a:solidFill>
            <a:srgbClr val="0F172A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3501" y="3458261"/>
            <a:ext cx="307238" cy="30723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09560" y="3611880"/>
            <a:ext cx="301752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909560" y="361188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372600" y="2514600"/>
            <a:ext cx="1554480" cy="10972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909560" y="3611880"/>
            <a:ext cx="1554480" cy="105156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464040" y="4663440"/>
            <a:ext cx="1463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229600" y="3611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 (LOS)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6809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/ scattered echoes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269480" y="5029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copies → constructive &amp; destructive addition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fading hurts — and the slope that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fades cause bursts of bit errors. 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 scheme fights them is captured by one number — the slope of its BER curve.</a:t>
            </a:r>
            <a:endParaRPr lang="en-US" sz="1450" dirty="0"/>
          </a:p>
        </p:txBody>
      </p:sp>
      <p:pic>
        <p:nvPicPr>
          <p:cNvPr id="6" name="Image 0" descr="/home/claude/slope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617220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40880" y="2240280"/>
            <a:ext cx="45720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26948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headline number: diversity order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269480" y="288036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BER vs SNR on a log scale and each scheme is a straight line. Its </a:t>
            </a: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is the diversity order 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69480" y="36576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diversity (d = 1):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∝ 1/SNR.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69480" y="40050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d: 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∝ 1/SNRᵈ — far steeper.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69480" y="4434840"/>
            <a:ext cx="4114800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452360" y="443484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cut errors 10×: 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SISO needs +10 dB of power; with d = 4, only +2.5 dB.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269480" y="53218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steeper slope (diversity) + shift the curve left (array gain).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Diversity: don't bet on one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copy is in a deep fade, the chance that several independent copies are all faded at once is tiny. Combine them and you almost always have a good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5204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32296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349300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antennas, spaced apart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2788920"/>
            <a:ext cx="35204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08576" y="3063240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997" y="32296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85816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385816" y="349300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Re-send / code across 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28432" y="2788920"/>
            <a:ext cx="35204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02752" y="306324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322966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79992" y="3127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079992" y="3493008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sub-carriers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617720"/>
            <a:ext cx="10908792" cy="91440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68680" y="47548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49213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47548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 is space diversity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many antennas. The driving question: once we have several copies, </a:t>
            </a: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we combine them?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1 · DIVERSITY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577072" y="38404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77072" y="38404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HIDDEN · VOTE FIRST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817352" y="36576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817352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using several independent signal copies help against fading?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3774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each copy stronger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unlikely that all copies are in a deep fade at the same time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42702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noise completely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51389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983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increases the transmit bandwidth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now — the answer is on the next slide.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1 · DIVERSITY · ANSWER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4846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using several independent signal copies help against fading?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68680" y="222199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10312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each copy stronger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2871216"/>
            <a:ext cx="108813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0080" y="2871216"/>
            <a:ext cx="91440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8680" y="2990088"/>
            <a:ext cx="420624" cy="420624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8680" y="2990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08760" y="2871216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unlikely that all copies are in a deep fade at the same time</a:t>
            </a:r>
            <a:endParaRPr lang="en-US" sz="1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008376"/>
            <a:ext cx="384048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080" y="3639312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68680" y="375818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68680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508760" y="3639312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noise completely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40080" y="440740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68680" y="45262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868680" y="4526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508760" y="4407408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increases the transmit bandwidth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40080" y="5193792"/>
            <a:ext cx="1088136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914400" y="5193792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copies fade independently, so the chance they all collapse together is small — that's diversity.</a:t>
            </a:r>
            <a:endParaRPr lang="en-US" sz="125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Which kind of diversity (space / time / frequency) are we using when we add antennas?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" y="1325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22576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2 OF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 Combining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MRC: merge the copies you already have, the best possible way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73039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antenna ladder: SISO → SIMO → MISO → MIMO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035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Tx, single Rx — the baseline, no diversity.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85032" y="2807208"/>
            <a:ext cx="17556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551176"/>
            <a:ext cx="365760" cy="36576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551176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45352" y="1783080"/>
            <a:ext cx="53035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473952" y="19476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35000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Tx, many Rx — diversity at the receiver.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 flipV="1">
            <a:off x="9290304" y="2468880"/>
            <a:ext cx="1755648" cy="338328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290304" y="2807208"/>
            <a:ext cx="1755648" cy="4114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2551176"/>
            <a:ext cx="365760" cy="36576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2139696"/>
            <a:ext cx="365760" cy="365760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2962656"/>
            <a:ext cx="365760" cy="365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40080" y="3703320"/>
            <a:ext cx="53035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868680" y="3867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MISO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68680" y="42702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Tx, one Rx — diversity made at the transmitter.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3685032" y="4315968"/>
            <a:ext cx="1755648" cy="4114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6"/>
          <p:cNvSpPr/>
          <p:nvPr/>
        </p:nvSpPr>
        <p:spPr>
          <a:xfrm flipV="1">
            <a:off x="3685032" y="4837176"/>
            <a:ext cx="1755648" cy="3017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059936"/>
            <a:ext cx="365760" cy="365760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882896"/>
            <a:ext cx="365760" cy="36576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4471416"/>
            <a:ext cx="365760" cy="36576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245352" y="3703320"/>
            <a:ext cx="53035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18"/>
          <p:cNvSpPr/>
          <p:nvPr/>
        </p:nvSpPr>
        <p:spPr>
          <a:xfrm>
            <a:off x="6473952" y="38679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6473952" y="4270248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Tx and Rx — the richest case, home of MRT.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9290304" y="4315968"/>
            <a:ext cx="17556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1"/>
          <p:cNvSpPr/>
          <p:nvPr/>
        </p:nvSpPr>
        <p:spPr>
          <a:xfrm>
            <a:off x="9290304" y="4315968"/>
            <a:ext cx="1755648" cy="8229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2"/>
          <p:cNvSpPr/>
          <p:nvPr/>
        </p:nvSpPr>
        <p:spPr>
          <a:xfrm>
            <a:off x="9290304" y="5138928"/>
            <a:ext cx="17556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3"/>
          <p:cNvSpPr/>
          <p:nvPr/>
        </p:nvSpPr>
        <p:spPr>
          <a:xfrm>
            <a:off x="9290304" y="5138928"/>
            <a:ext cx="17556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4059936"/>
            <a:ext cx="365760" cy="365760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4882896"/>
            <a:ext cx="365760" cy="365760"/>
          </a:xfrm>
          <a:prstGeom prst="rect">
            <a:avLst/>
          </a:prstGeom>
        </p:spPr>
      </p:pic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4059936"/>
            <a:ext cx="365760" cy="365760"/>
          </a:xfrm>
          <a:prstGeom prst="rect">
            <a:avLst/>
          </a:prstGeom>
        </p:spPr>
      </p:pic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4882896"/>
            <a:ext cx="365760" cy="365760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(towers) on the left, Rx (dishes) on the right. More links = more independent copies to exploit.</a:t>
            </a:r>
            <a:endParaRPr lang="en-US" sz="1200" dirty="0"/>
          </a:p>
        </p:txBody>
      </p:sp>
      <p:sp>
        <p:nvSpPr>
          <p:cNvPr id="39" name="Text 25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40" name="Text 26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F597C3BB-70C4-0345-3F7E-A014C3FFB217}"/>
              </a:ext>
            </a:extLst>
          </p:cNvPr>
          <p:cNvSpPr/>
          <p:nvPr/>
        </p:nvSpPr>
        <p:spPr>
          <a:xfrm flipV="1">
            <a:off x="9290304" y="4334256"/>
            <a:ext cx="1755648" cy="8321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the receiver: several copies, one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N_r receive antennas you hold several noisy copies of the same symbol. Merge them into one number to decide what was sent.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y₁ = h₁·x + n₁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y₂ = h₂·x + n₂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hᵢ is the channel on that antenna — some strong, some weak. The combiner decides how much to trust each copy.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1783080"/>
            <a:ext cx="448056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combiner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260604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6" y="2748686"/>
            <a:ext cx="263347" cy="26334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06640" y="3611880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86" y="3754526"/>
            <a:ext cx="263347" cy="26334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869680" y="283464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869680" y="28346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2880360"/>
            <a:ext cx="914400" cy="50292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 flipV="1">
            <a:off x="7955280" y="3566160"/>
            <a:ext cx="863193" cy="3200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0241280" y="3383280"/>
            <a:ext cx="82296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10927080" y="3200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360920" y="47091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number → 0 or 1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combine the copies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94A3B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strongest copy; ignore the rest.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throws away information.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828800"/>
            <a:ext cx="352044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08576" y="2148840"/>
            <a:ext cx="731520" cy="73152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71" y="23390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Equal-gain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08576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copies with equal weight.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08576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but treats weak copies like strong ones.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28432" y="1828800"/>
            <a:ext cx="3520440" cy="338328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028432" y="1828800"/>
            <a:ext cx="35204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302752" y="2148840"/>
            <a:ext cx="731520" cy="73152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947" y="233903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02752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Maximal-ratio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02752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copy by its channel quality, then add.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02752" y="4434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— the best possible SNR. This is MRC.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hardware, three policies. Maximal-ratio combining wins — and it points us to MRT.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 ·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vs equal-gain: a worked example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658368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78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received copies, equal noise per branch.   |h₁| = 1.0,  |h₂| = 0.8  (phases differ).   Branch SNR ∝ |h|² → branches worth 1.00 and 0.64.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49240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349240" cy="82296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487168"/>
            <a:ext cx="585216" cy="585216"/>
          </a:xfrm>
          <a:prstGeom prst="ellipse">
            <a:avLst/>
          </a:prstGeom>
          <a:solidFill>
            <a:srgbClr val="64748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56" y="2639324"/>
            <a:ext cx="280904" cy="280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27632" y="25054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Selection (SC)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27632" y="2852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THE STRONGEST BRANCH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2186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branch with the largest |h|; drop the rest.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3547872"/>
            <a:ext cx="48006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005840" y="3547872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y₁      (|h₁| &gt; |h₂|)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14400" y="40416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∝ max|hᵢ|² = 1.00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431596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2's energy is thrown away.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99632" y="2331720"/>
            <a:ext cx="5349240" cy="2240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199632" y="2331720"/>
            <a:ext cx="5349240" cy="82296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73952" y="2487168"/>
            <a:ext cx="585216" cy="585216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08" y="2639324"/>
            <a:ext cx="280904" cy="28090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87184" y="25054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Equal-gain (EGC)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187184" y="28529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CO-PHASE, THEN ADD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473952" y="32186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each copy to zero phase, add with equal weight.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73952" y="3547872"/>
            <a:ext cx="48006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565392" y="3547872"/>
            <a:ext cx="4617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exp(-jφ₁)·y₁ + exp(-jφ₂)·y₂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73952" y="40416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∝ (|h₁|+|h₂|)²/N = 1.62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473952" y="431596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both branches; N = 2, all weights = 1.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0080" y="4709160"/>
            <a:ext cx="10908792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914400" y="47823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SNR for this setup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914400" y="51480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2057400" y="5175504"/>
            <a:ext cx="393192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2057400" y="5175504"/>
            <a:ext cx="2397512" cy="1828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4564640" y="51297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14400" y="53858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EGC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2057400" y="5413248"/>
            <a:ext cx="393192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2057400" y="5413248"/>
            <a:ext cx="3883970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051098" y="5367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1.62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914400" y="5623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MRC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2057400" y="5650992"/>
            <a:ext cx="3931920" cy="1828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6"/>
          <p:cNvSpPr/>
          <p:nvPr/>
        </p:nvSpPr>
        <p:spPr>
          <a:xfrm>
            <a:off x="2057400" y="5650992"/>
            <a:ext cx="3931920" cy="182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6099048" y="5605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1.64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7498080" y="50749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EGC ≈ MRC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within 0.05 dB here.  </a:t>
            </a: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~2 dB worse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it discards branch 2.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14117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MRC in one sentence: weight by the conjugate channel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Maximal-ratio combining forms its decision variable by multiplying each received copy by the </a:t>
            </a:r>
            <a:r>
              <a:rPr lang="en-US" sz="1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of its channel</a:t>
            </a: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summing: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5943600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 =  hᴴ y  =  Σᵢ  hᵢ* · yᵢ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clean copies (large |hᵢ|) count more; weak ones count less — and the phase is corrected so copies add, never cancel. Nothing is thrown away.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1783080"/>
            <a:ext cx="448056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6092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copy scaled by hᵢ*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4380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9464"/>
            <a:ext cx="329184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0" y="2569464"/>
            <a:ext cx="2962656" cy="3108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92440" y="251460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more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43800" y="3081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136392"/>
            <a:ext cx="329184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046720" y="3136392"/>
            <a:ext cx="1152144" cy="31089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92440" y="308152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less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43800" y="36484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703320"/>
            <a:ext cx="329184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46720" y="3703320"/>
            <a:ext cx="2139696" cy="3108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92440" y="36484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more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43800" y="42153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70248"/>
            <a:ext cx="3291840" cy="31089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46720" y="4270248"/>
            <a:ext cx="658368" cy="31089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92440" y="421538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less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60920" y="4800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maximum possible SNR — provably the best linear combiner.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22576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3 OF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 Beamforming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MRT: the mirror of MRC — pre-weight the antennas using CSIT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73039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flip it: help from the transmitter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 lives at the receiver. If diversity is at the </a:t>
            </a: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(many Tx, one Rx), the receiver can't combine copies it never separately sees.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transmitter must pre-shape what it sends — and for that it must know the channel in advance.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5943600" cy="14173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4224528"/>
            <a:ext cx="685800" cy="68580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402836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206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CSIT</a:t>
            </a:r>
            <a:r>
              <a:rPr lang="en-US" sz="1400" b="1" dirty="0">
                <a:solidFill>
                  <a:srgbClr val="0F172A"/>
                </a:solidFill>
              </a:rPr>
              <a:t>  — Channel State Information at the Transmitter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4617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transmitter learns the channel (via feedback or reciprocity) so it can steer energy intelligently.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132320" y="1783080"/>
            <a:ext cx="4480560" cy="3657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learn the channel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60920" y="246888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(FDD):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measures the channel and reports it back. Costs uplink bandwidth.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60920" y="37033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 (TDD): 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 and downlink share a frequency, so the channel measured one way is reused the other.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MRC ↔ MRT: the same idea, mirrored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diversity and transmit diversity are mirror images. The only real differences are where the combining happens and what must be known.</a:t>
            </a:r>
            <a:endParaRPr lang="en-US" sz="15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908792" cy="2770632"/>
        </p:xfrm>
        <a:graphic>
          <a:graphicData uri="http://schemas.openxmlformats.org/drawingml/2006/table">
            <a:tbl>
              <a:tblPr/>
              <a:tblGrid>
                <a:gridCol w="545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Receiver diversity — MRC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Transmit diversity — MRT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Receiver has many observations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Transmitter has many antennas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copies AFTER the channel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Pre-combines BEFORE the channel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CSIR (channel known at Rx)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CSIT (channel known at Tx)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Weight each copy by hᵢ*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Pre-weight antenna i by hᵢ* / |h|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532120"/>
            <a:ext cx="10908792" cy="566928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 — weight by channel quality so copies add in phase — applied on opposite ends of the link.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 · TRY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does matching really help?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943600" cy="37033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93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 (60 seconds)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a 2-antenna channel  h = [0.8, 0.6j]   (so |h| = 1).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154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transmit weightings and work out the received power |g|² for each: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matched:  </a:t>
            </a: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h* / |h| = [0.8, -0.6j]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equal-gain:  </a:t>
            </a: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[1, 1] / √2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1440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delivers more received power — and why?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E2986D-8B16-143E-0D1D-D1AEF1B21D8E}"/>
              </a:ext>
            </a:extLst>
          </p:cNvPr>
          <p:cNvSpPr txBox="1"/>
          <p:nvPr/>
        </p:nvSpPr>
        <p:spPr>
          <a:xfrm>
            <a:off x="7766469" y="3234303"/>
            <a:ext cx="2226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 = </a:t>
            </a:r>
            <a:r>
              <a:rPr lang="en-IN" dirty="0" err="1"/>
              <a:t>h·w</a:t>
            </a:r>
            <a:r>
              <a:rPr lang="en-IN" dirty="0"/>
              <a:t> = </a:t>
            </a:r>
            <a:r>
              <a:rPr lang="en-IN" dirty="0" err="1"/>
              <a:t>h₁w</a:t>
            </a:r>
            <a:r>
              <a:rPr lang="en-IN" dirty="0"/>
              <a:t>₁ + </a:t>
            </a:r>
            <a:r>
              <a:rPr lang="en-IN" dirty="0" err="1"/>
              <a:t>h₂w</a:t>
            </a:r>
            <a:r>
              <a:rPr lang="en-IN" dirty="0"/>
              <a:t>₂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FDC617-AB32-3ECE-810B-48D82626B4B3}"/>
              </a:ext>
            </a:extLst>
          </p:cNvPr>
          <p:cNvSpPr txBox="1"/>
          <p:nvPr/>
        </p:nvSpPr>
        <p:spPr>
          <a:xfrm>
            <a:off x="7766469" y="3628356"/>
            <a:ext cx="2718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power =</a:t>
            </a:r>
            <a:r>
              <a:rPr lang="en-US" sz="1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|g|²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980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E08B-EB5B-AB46-EC46-9CF118831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DF0188-95DD-6A10-1D33-F04AF908838A}"/>
              </a:ext>
            </a:extLst>
          </p:cNvPr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 · TRY IT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B2BCA2-394D-8F2D-40DB-FF27916A2A43}"/>
              </a:ext>
            </a:extLst>
          </p:cNvPr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Hands-on: does matching really help?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BE6228-A171-72CF-3038-6E62F8E0F588}"/>
              </a:ext>
            </a:extLst>
          </p:cNvPr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105A85-B148-02D3-1104-9C99C6446288}"/>
              </a:ext>
            </a:extLst>
          </p:cNvPr>
          <p:cNvSpPr/>
          <p:nvPr/>
        </p:nvSpPr>
        <p:spPr>
          <a:xfrm>
            <a:off x="640080" y="1783080"/>
            <a:ext cx="5943600" cy="37033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C05921-5578-9639-5360-488447E8211D}"/>
              </a:ext>
            </a:extLst>
          </p:cNvPr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33D8D86C-16C0-987F-79A1-D77F1449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144268"/>
            <a:ext cx="329184" cy="32918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BA1780FD-095B-69EC-E708-0649E6F09E8C}"/>
              </a:ext>
            </a:extLst>
          </p:cNvPr>
          <p:cNvSpPr/>
          <p:nvPr/>
        </p:nvSpPr>
        <p:spPr>
          <a:xfrm>
            <a:off x="1737360" y="19933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 (60 seconds)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1BFD48C-06DC-D4BF-CD5A-66F1B0F63363}"/>
              </a:ext>
            </a:extLst>
          </p:cNvPr>
          <p:cNvSpPr/>
          <p:nvPr/>
        </p:nvSpPr>
        <p:spPr>
          <a:xfrm>
            <a:off x="91440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a 2-antenna channel  h = [0.8, 0.6j]   (so |h| = 1).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E7CCB5E-4560-ACC1-C840-8FA4818F6C00}"/>
              </a:ext>
            </a:extLst>
          </p:cNvPr>
          <p:cNvSpPr/>
          <p:nvPr/>
        </p:nvSpPr>
        <p:spPr>
          <a:xfrm>
            <a:off x="914400" y="3154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transmit weightings and work out the received power |g|² for each:</a:t>
            </a:r>
            <a:endParaRPr lang="en-US" sz="13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94C93A-7C7A-43FA-EEBD-3752C02D139D}"/>
              </a:ext>
            </a:extLst>
          </p:cNvPr>
          <p:cNvSpPr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matched:  </a:t>
            </a: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h* / |h| = [0.8, -0.6j]</a:t>
            </a:r>
            <a:endParaRPr lang="en-US" sz="13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CF5F960-1150-CACF-F091-9609B4E5D241}"/>
              </a:ext>
            </a:extLst>
          </p:cNvPr>
          <p:cNvSpPr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equal-gain:  </a:t>
            </a:r>
            <a:r>
              <a:rPr lang="en-US" sz="13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[1, 1] / √2</a:t>
            </a: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546B5C2-7D99-D54F-4079-EBAB9BDE8F4C}"/>
              </a:ext>
            </a:extLst>
          </p:cNvPr>
          <p:cNvSpPr/>
          <p:nvPr/>
        </p:nvSpPr>
        <p:spPr>
          <a:xfrm>
            <a:off x="914400" y="4709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delivers more received power — and why?</a:t>
            </a:r>
            <a:endParaRPr lang="en-US" sz="13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1DA8A4E-BDAA-A6BF-6F7A-D74798600E4D}"/>
              </a:ext>
            </a:extLst>
          </p:cNvPr>
          <p:cNvSpPr/>
          <p:nvPr/>
        </p:nvSpPr>
        <p:spPr>
          <a:xfrm>
            <a:off x="7178040" y="1783080"/>
            <a:ext cx="443484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6344CDA-896E-2C37-B8F9-3DEA280011EC}"/>
              </a:ext>
            </a:extLst>
          </p:cNvPr>
          <p:cNvSpPr/>
          <p:nvPr/>
        </p:nvSpPr>
        <p:spPr>
          <a:xfrm>
            <a:off x="740664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Reveal</a:t>
            </a:r>
            <a:endParaRPr lang="en-US" sz="15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1D309FB-6E17-ADE6-F4E2-168C2F6FFE97}"/>
              </a:ext>
            </a:extLst>
          </p:cNvPr>
          <p:cNvSpPr/>
          <p:nvPr/>
        </p:nvSpPr>
        <p:spPr>
          <a:xfrm>
            <a:off x="7406640" y="2423160"/>
            <a:ext cx="397764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17956C0-9C3B-F4F6-AFD4-E37DA6704442}"/>
              </a:ext>
            </a:extLst>
          </p:cNvPr>
          <p:cNvSpPr/>
          <p:nvPr/>
        </p:nvSpPr>
        <p:spPr>
          <a:xfrm>
            <a:off x="7543800" y="2423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matched:  |g|² = 1.0</a:t>
            </a:r>
            <a:endParaRPr lang="en-US" sz="15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34C9FA-7725-1924-AA62-F945FEC8BBF7}"/>
              </a:ext>
            </a:extLst>
          </p:cNvPr>
          <p:cNvSpPr/>
          <p:nvPr/>
        </p:nvSpPr>
        <p:spPr>
          <a:xfrm>
            <a:off x="7406640" y="3291840"/>
            <a:ext cx="39776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AFE48F0-7B20-9293-2315-AD0483FE2435}"/>
              </a:ext>
            </a:extLst>
          </p:cNvPr>
          <p:cNvSpPr/>
          <p:nvPr/>
        </p:nvSpPr>
        <p:spPr>
          <a:xfrm>
            <a:off x="7543800" y="32918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equal-gain:  |g|² = 0.5</a:t>
            </a:r>
            <a:endParaRPr lang="en-US" sz="15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9D48306-1FF4-A55A-36C1-0CA243010E14}"/>
              </a:ext>
            </a:extLst>
          </p:cNvPr>
          <p:cNvSpPr/>
          <p:nvPr/>
        </p:nvSpPr>
        <p:spPr>
          <a:xfrm>
            <a:off x="7406640" y="429768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doubles the received power (+3 dB)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by lining the phases up so the two paths add. And it's provably the most you can get.</a:t>
            </a:r>
            <a:endParaRPr lang="en-US" sz="13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7911742-F86B-93CE-4425-DA2634EC28A9}"/>
              </a:ext>
            </a:extLst>
          </p:cNvPr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0DB389A-5AF2-1F95-91B9-9DB6D335F946}"/>
              </a:ext>
            </a:extLst>
          </p:cNvPr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35448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payoff: SNRs add 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right way and the signal-to-noise ratios of the branches simply add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908792" cy="105156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09087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SNR   =   SNR₁ + SNR₂ + … + SNR_Nr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2044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3520440" cy="8229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antennas, more SNR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46177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adds its own SNR — the average link gets stronger (array gain).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4256" y="3794760"/>
            <a:ext cx="352044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34256" y="3794760"/>
            <a:ext cx="3520440" cy="822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90288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 order = N_r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0288" y="46177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N_r antennas the BER curve gets N_r times steeper. Deep fades become rare.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28432" y="3794760"/>
            <a:ext cx="352044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028432" y="3794760"/>
            <a:ext cx="3520440" cy="82296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84464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extra transmit power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84464" y="46177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comes from smart combining, not from shouting louder.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51983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Maximal Ratio Transmission: the transmit-side twin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is MRC done at the transmitter. </a:t>
            </a: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channel, the transmitter pre-weights each antenna so the copies </a:t>
            </a:r>
            <a:r>
              <a:rPr lang="en-US" sz="1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in phase and add up</a:t>
            </a:r>
            <a:r>
              <a:rPr lang="en-US" sz="16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receiver.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3492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3154680"/>
            <a:ext cx="777240" cy="77724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33567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Receiver MRC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2024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harder to the antennas that hear best.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99632" y="2880360"/>
            <a:ext cx="53492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73952" y="315468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034" y="335676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79792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Transmit MRT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79792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power toward the antennas that reach best.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617720"/>
            <a:ext cx="10908792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68680" y="475488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9213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7548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rule, mirror image: weight by channel quality so energy concentrates where it counts. MRT needs CSIT; MRC does not.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8286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ideal MRT actually work?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isn't magic. The clean results that follow rest on five assumptions — keep them in view:</a:t>
            </a:r>
            <a:endParaRPr lang="en-US" sz="15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08792" cy="3200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means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CSI / CSIT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Transmitter knows the channel accurately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total transmit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comes from beamforming, not extra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fading branches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Antennas / channels are not highly correlated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 receiver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Receiver can track and correct 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Narrowband / flat fading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matrix H represents the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any one of these and real MRT degrades — we'll see exactly how in Section 5.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MRT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weights: just match the channel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beamformer w and combiner v always follow one rule — conjugate the phase, weight by strength, normalize: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267919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Scheme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Channel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Optimal weight — how it's chosen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SNR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MRC · receive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Tx · Nr Rx)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  (Nr×1)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combiner output   z = Σ hᵢ* · yᵢ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 |hᵢ|²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MRT · transmit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(Nt Tx · 1 Rx)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  (Nt×1)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beamformer   w = h* / |h|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Σ |hᵢ|²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MIMO · eigen-BF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(Nt Tx · Nr Rx)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  (Nr×Nt)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= v₁  (dominant right singular vector)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 = u₁  (dominant left singular vector)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λ_max(HᴴH)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029200"/>
            <a:ext cx="10908792" cy="86868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868680" y="5166360"/>
            <a:ext cx="603504" cy="603504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532327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5029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ideal CSI and beamforming, the diversity order can reach (up to)  Nt × Nr.  The full proof is in the appendix.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h* = conjugate (flips phase)   ·   |h| = channel length   ·   v₁, u₁ = dominant singular vectors of H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22576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4 OF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 Eigen-Beamforming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along the channel's strongest mode — the dominant singular vector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73039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 EIGEN-BF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derivation in three layers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0908792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18872" cy="10789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2532888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3865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happening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69164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signal  =  channel × beamformed symbol  +  noise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78040" y="24231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0" y="24231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H w s + 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47288"/>
            <a:ext cx="10908792" cy="1078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447288"/>
            <a:ext cx="118872" cy="107899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0120" y="3739896"/>
            <a:ext cx="502920" cy="502920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359359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want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91640" y="3995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beam direction that maximizes the received SNR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78040" y="363016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0" y="363016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  SNR(w, v)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654296"/>
            <a:ext cx="10908792" cy="1078992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" y="4654296"/>
            <a:ext cx="118872" cy="10789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0120" y="4946904"/>
            <a:ext cx="502920" cy="50292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0120" y="4946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91640" y="4800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answer (via SVD)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691640" y="5202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U Σ Vᴴ   →   w = v₁,  v = u₁,  SNRₘₐₓ = ρ · σ₁²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178040" y="483717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0" y="4837176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ρ·σ₁² = ρ·λ_max(HᴴH)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Model, combining and the SNR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symbol s along beamformer w (||w||² ≤ γ²); receive with column combiner v. Noise e ~ CN(0, σ²I).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H w s + 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9632" y="2240280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36792" y="22402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vᴴ y = vᴴH w s + vᴴe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vector  (Nr × 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9632" y="3200400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is an Nr × 1 column vector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channel  h = vᴴH.  Signal power |hw|²·Es; noise power σ²·vᴴv. Hence: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908792" cy="11887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 =  |vᴴ H w|² · Es  /  ( σ² · vᴴv 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8039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beamformer, then a quotient in v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 and maximize |hw|² over ||w||² ≤ γ². Cauchy–Schwarz gives equality when w aligns with hᴴ: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4924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|h w|² ≤ ||h||²·||w||² ≤ γ²||h||²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2240280"/>
            <a:ext cx="534924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36792" y="224028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w_opt = γ · hᴴ / ||h||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back and write ρ = γ²Es/σ². Using ||h||² = ||vᴴH||² = vᴴHHᴴv: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0908792" cy="11887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 =  ρ ·  ( vᴴ H Hᴴ v )  /  ( vᴴ v 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generalized Rayleigh quotient in v — maximized by the dominant eigenvector of H Hᴴ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03665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Eigen-decomposition, maximize, result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Diagonalize H Hᴴ = U Λ Uᴴ (λ₁ ≥ λ₂ ≥ …). The Rayleigh quotient is a weighted average of eigenvalues, so: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090879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vᴴ H Hᴴ v ) / ( vᴴ v )   ≤   λ_max,    attained at   v = u₁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Back-substituting (with SVD H = U Σ Vᴴ) gives the clean MRT solution: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52044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w_opt = γ · v₁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34256" y="3840480"/>
            <a:ext cx="352044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71416" y="38404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v_opt = u₁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28432" y="3840480"/>
            <a:ext cx="352044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65592" y="38404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SNR = ρ · σ₁²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908792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 corollary (Nr = 1): </a:t>
            </a: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w_opt = γ Hᴴ/||H||,  SNR = ρ·||H||² = ρ·Σ|hᵢ|².   Also σ₁² = λ_max(HᴴH).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5797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 · WORKED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2×2 eigen-beamforming example, end to 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SVD  H = U Σ Vᴴ.  (Real entries keep the arithmetic clean — the method is identical for complex H.)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8229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CHANNEL  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[ 1.0   0.5 ]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[ 0.5   1.0 ]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920240"/>
            <a:ext cx="534924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199632" y="1920240"/>
            <a:ext cx="5349240" cy="8229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3952" y="20848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EIGENVALUES OF HᴴH → SINGULAR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3952" y="2468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λ(HᴴH) = 2.25, 0.25</a:t>
            </a:r>
            <a:r>
              <a:rPr lang="en-US" sz="13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r>
              <a:rPr lang="en-US" sz="13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√λ = 1.5, 0.5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3952" y="2852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= 1.5  (strong mode)     σ₂ = 0.5  (weak mode)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908792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10908792" cy="8229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35478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SINGULAR VALUE DECOMPOSITION     </a:t>
            </a: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U Σ Vᴴ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4023360"/>
            <a:ext cx="0" cy="109728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55280" y="4023360"/>
            <a:ext cx="0" cy="1097280"/>
          </a:xfrm>
          <a:prstGeom prst="line">
            <a:avLst/>
          </a:prstGeom>
          <a:noFill/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 —  left singular vectors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2793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[ 0.71   0.71 ]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[ 0.71  -0.71 ]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956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u₁ = first column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3977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—  singular values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27939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[ 1.5    0  ]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0    0.5 ]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4956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on top → use 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—  right singular vectors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2793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[ 0.71   0.71 ]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[ 0.71  -0.71 ]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956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 = first column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08792" cy="86868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4400" y="5440680"/>
            <a:ext cx="10378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Solution:   </a:t>
            </a: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γ·v₁ = γ[0.71, 0.71] ,   v = u₁ = [0.71, 0.71] ,   SNR = ρ·σ₁² = 2.25 ρ = λ_max(HᴴH)·ρ.</a:t>
            </a:r>
            <a:endParaRPr lang="en-US" sz="1200" dirty="0"/>
          </a:p>
          <a:p>
            <a:pPr marL="0" indent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symmetric here, so U = V.   Putting all power into the strong mode beats the weak one (σ₂² = 0.25) by 9× ≈ 9.5 dB.   Diversity order = nt × nr = 4.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117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MIMO EIGEN-BF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Eigen-beamforming, by analogy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MIMO channel has several hidden “lanes” (modes). </a:t>
            </a: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Eigen-beamforming pours all the energy into the single strongest lane.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pushing a swing at its natural rhythm — match the channel's strongest mode and the response is huge for the same effort.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59436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 ↔ λ_max(HᴴH). That one number sets the best SNR you can reach.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1783080"/>
            <a:ext cx="448056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modes (eigenvalues)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43800" y="2560320"/>
            <a:ext cx="3886200" cy="38404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543800" y="2560320"/>
            <a:ext cx="3886200" cy="38404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8952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(λ_max)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3218688"/>
            <a:ext cx="3886200" cy="38404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543800" y="3218688"/>
            <a:ext cx="1748790" cy="38404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0" y="3218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3877056"/>
            <a:ext cx="3886200" cy="38404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543800" y="3877056"/>
            <a:ext cx="699516" cy="38404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89520" y="3877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438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all the power here →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60920" y="46634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everything along mode 1; ignore the weak lanes. That is MRT for MIMO.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2 · MRC VS MRT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577072" y="38404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77072" y="38404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HIDDEN · VOTE FIRST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817352" y="36576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817352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05156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statement is true about MRT (Maximal Ratio Transmission)?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3774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without any channel knowledge at the transmitter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CSIT, and weights transmit antennas by channel quality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42702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reduces noise, never improves diversity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51389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983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needs more transmit power than SISO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now — the answer is on the next slide.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2 · MRC VS MRT · ANSWER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4846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9144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statement is true about MRT (Maximal Ratio Transmission)?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68680" y="222199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2221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10312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without any channel knowledge at the transmitter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2871216"/>
            <a:ext cx="108813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0080" y="2871216"/>
            <a:ext cx="91440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8680" y="2990088"/>
            <a:ext cx="420624" cy="420624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8680" y="2990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08760" y="2871216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CSIT, and weights transmit antennas by channel quality</a:t>
            </a:r>
            <a:endParaRPr lang="en-US" sz="1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008376"/>
            <a:ext cx="384048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080" y="3639312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68680" y="375818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68680" y="3758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508760" y="3639312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reduces noise, never improves diversity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40080" y="440740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68680" y="45262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868680" y="4526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508760" y="4407408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needs more transmit power than SISO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40080" y="5193792"/>
            <a:ext cx="10881360" cy="987552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914400" y="5193792"/>
            <a:ext cx="10332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is the transmit-side twin of MRC: it needs CSIT and pre-weights antennas (w = h*/|h|) so copies add in phase — no extra power.</a:t>
            </a:r>
            <a:endParaRPr lang="en-US" sz="125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What breaks if the transmitter does NOT know the channel? (This is exactly why CSIT matters.)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1328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01952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22576" y="132588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82880" cy="18288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5 OF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 Practice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numbers on it: a 2×2 link, the BER curve, 5G, and live code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77272" y="2468880"/>
            <a:ext cx="1005840" cy="1005840"/>
          </a:xfrm>
          <a:prstGeom prst="ellipse">
            <a:avLst/>
          </a:prstGeom>
          <a:solidFill>
            <a:srgbClr val="111A38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790" y="273039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concrete design: a 2×2 link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numbers on it — the kind of link you'd actually dimension: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726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ANTENNAS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5844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Tx × 2 Rx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55848" y="233172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630168" y="2560320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589" y="2726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30168" y="35844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 (1 bit/symbol)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71616" y="233172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345936" y="256032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357" y="27267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45936" y="35844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fading + noise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8787384" y="2331720"/>
            <a:ext cx="26060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061704" y="256032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125" y="272674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61704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61704" y="35844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Eigen-BF (MRT+MRC)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40080" y="4434840"/>
            <a:ext cx="10908792" cy="114300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914400" y="44348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 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a plain SISO link at the same total power, how much do we gain? We'll answer by hand, then by simulation.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8FA677A-B447-18D3-400E-9EC32EB72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" y="1842866"/>
            <a:ext cx="10850880" cy="38330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example: where the gain comes from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728" cy="11430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concentrates energy across the links.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20116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 10·log₁₀(nt·nr) dB  → a few dB for 2×2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08792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9728" cy="11430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 gain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slope steepens from 1 toward nt·nr = 4.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2918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BER 10⁻³, tens of dB vs SISO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908792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9728" cy="1143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 effect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45720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power, dramatically fewer errors.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45720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target BER at far lower SNR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of” — exact array gain depends on correlation and the scheme; treat 10·log₁₀(nt·nr) as an upper-ballpark, not a guarantee.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620EED-C620-185A-8F93-35525333F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9" y="1639330"/>
            <a:ext cx="11209472" cy="446886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a BER curve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Error Rate vs SNR is the universal scorecard. Two features tell you almost everything: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34924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788920"/>
            <a:ext cx="731520" cy="731520"/>
          </a:xfrm>
          <a:prstGeom prst="ellipse">
            <a:avLst/>
          </a:prstGeom>
          <a:solidFill>
            <a:srgbClr val="8B5CF6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9791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slope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7452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steep the line falls.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diversity order. Steeper means fades vanish faster as SNR grows.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9632" y="2514600"/>
            <a:ext cx="5349240" cy="228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73952" y="2788920"/>
            <a:ext cx="731520" cy="731520"/>
          </a:xfrm>
          <a:prstGeom prst="ellipse">
            <a:avLst/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297911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34072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shift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434072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left the line sits.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73952" y="3794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array / coding gain. Further left means the same reliability at lower power.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4983480"/>
            <a:ext cx="10908792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Lower-and-to-the-left is the goal. Next we generate exactly this plot from a few lines of Python.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 · 5G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5G can't live without beamforming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uses millimetre-wave bands for huge bandwidth — but those waves </a:t>
            </a: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energy fast and are easily blocked.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MRT scaled up: pack dozens of tiny antennas into an array and steer a tight beam at the user, concentrating energy where it's needed.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6035040" cy="9601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658368" cy="658368"/>
          </a:xfrm>
          <a:prstGeom prst="ellipse">
            <a:avLst/>
          </a:prstGeom>
          <a:solidFill>
            <a:srgbClr val="0E749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4834616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4663440"/>
            <a:ext cx="4800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turns path loss from a dealbreaker into a manageable cost — it's what makes mmWave 5G viable.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1783080"/>
            <a:ext cx="4434840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40664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one antenna to an array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406640" y="2468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SISO: energy sprayed everywhere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2788920"/>
            <a:ext cx="457200" cy="457200"/>
          </a:xfrm>
          <a:prstGeom prst="ellipse">
            <a:avLst/>
          </a:prstGeom>
          <a:solidFill>
            <a:srgbClr val="E2E8F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907792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772400" y="3017520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772400" y="3017520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772400" y="3017520"/>
            <a:ext cx="1371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772400" y="3017520"/>
            <a:ext cx="1371600" cy="29260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772400" y="3017520"/>
            <a:ext cx="1371600" cy="585216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406640" y="3794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a tight steered beam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406640" y="4114800"/>
            <a:ext cx="457200" cy="457200"/>
          </a:xfrm>
          <a:prstGeom prst="ellipse">
            <a:avLst/>
          </a:prstGeom>
          <a:solidFill>
            <a:srgbClr val="E2E8F0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4233672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772400" y="4343400"/>
            <a:ext cx="356616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772400" y="4343400"/>
            <a:ext cx="3566160" cy="32004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41148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6640" y="4983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power, far more reach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 · 5G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5G actually picks the beam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5G NR, MRT-style precoding appears in two flavours — the same CSIT trade-off as before: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49240" cy="3063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34924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Codebook-based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FDD / mmWave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 beam from a fixed menu (a codebook).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reports the best index + quality.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feedback, coarse — robust &amp; standardized.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2423160"/>
            <a:ext cx="5349240" cy="3063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99632" y="2423160"/>
            <a:ext cx="534924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73952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Reciprocity-based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/ massive MIMO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342900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channel from uplink pilots; reuse downlink.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tailored precoder — close to ideal MRT.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beams, but needs calibration &amp; reciprocity.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 · REALITY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ideal MRT becomes difficult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assumption from Section 3, broken in practice — this is exactly what motivates AI-native beamforming: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10908792" cy="316382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Practical issue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Effect on MRT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delay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points to an old 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CSI quantization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is only approximately matched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changes faster than it can be tracked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Antenna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diversity order drops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Multi-user interference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Helping one user can hurt another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calibration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 reciprocity becomes imperfect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harder real life gets, the more appealing it is to learn the beam from data → Section 6.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 · LIVE CODE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simulation, in plain pseudocode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Python (numpy/matplotlib) is in the appendix. The logic fits in a few lines: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6766560" cy="3520440"/>
          </a:xfrm>
          <a:prstGeom prst="rect">
            <a:avLst/>
          </a:prstGeom>
          <a:solidFill>
            <a:srgbClr val="0F1830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seed = 7                 # reproducible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300000 bits              # per SNR point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Eb/N0 in sweep: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bits  -&gt; BPSK symbols s (+/-1)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    &lt;- Rayleigh channel  cn()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 one of: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SISO | MRC | MRT | eigen-BF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(same total power in each)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decide bit = ( Re{z} &gt; 0 )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BER = mean( decided != bits )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 BER vs Eb/N0   (log scale)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2148840"/>
            <a:ext cx="397764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86384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things that make it honest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8072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2788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random seed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3081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reproduce exactly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3741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0" y="3355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cn() = CN(0,1)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0" y="36484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unit-power complex Gaussian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9410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9227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total power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SISO-vs-MIMO comparison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0799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0" y="44897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Matched weights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229600" y="4782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conjugate channel (h* / SVD)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0749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0" y="50566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rule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229600" y="5349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 the real part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05E3-7D19-C6BC-AE8F-980D818F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4056AA-CA3F-9B3D-434E-1524023E2BD7}"/>
              </a:ext>
            </a:extLst>
          </p:cNvPr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197B00-46E1-7ACF-40BF-894C49384575}"/>
              </a:ext>
            </a:extLst>
          </p:cNvPr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Python listing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85AD97-C15D-D19C-AB09-E0CF47EDFFF1}"/>
              </a:ext>
            </a:extLst>
          </p:cNvPr>
          <p:cNvSpPr/>
          <p:nvPr/>
        </p:nvSpPr>
        <p:spPr>
          <a:xfrm>
            <a:off x="640080" y="1600200"/>
            <a:ext cx="10908792" cy="4572000"/>
          </a:xfrm>
          <a:prstGeom prst="rect">
            <a:avLst/>
          </a:prstGeom>
          <a:solidFill>
            <a:srgbClr val="0F1830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CBDE3C5-2A80-4BA0-FB54-9BB68CE3B215}"/>
              </a:ext>
            </a:extLst>
          </p:cNvPr>
          <p:cNvSpPr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BBA452-9AEA-F360-2F64-859A34CFF80C}"/>
              </a:ext>
            </a:extLst>
          </p:cNvPr>
          <p:cNvSpPr/>
          <p:nvPr/>
        </p:nvSpPr>
        <p:spPr>
          <a:xfrm>
            <a:off x="822960" y="170992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E100F6-0A46-6E74-208F-FD62D8FEC876}"/>
              </a:ext>
            </a:extLst>
          </p:cNvPr>
          <p:cNvSpPr/>
          <p:nvPr/>
        </p:nvSpPr>
        <p:spPr>
          <a:xfrm>
            <a:off x="1078992" y="170992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A175964-75A0-0EC0-F94F-5251F0B97A30}"/>
              </a:ext>
            </a:extLst>
          </p:cNvPr>
          <p:cNvSpPr/>
          <p:nvPr/>
        </p:nvSpPr>
        <p:spPr>
          <a:xfrm>
            <a:off x="1335024" y="170992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D3CFF3-195A-AF54-C617-AC4BCC0E045C}"/>
              </a:ext>
            </a:extLst>
          </p:cNvPr>
          <p:cNvSpPr/>
          <p:nvPr/>
        </p:nvSpPr>
        <p:spPr>
          <a:xfrm>
            <a:off x="18288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ber_demo.py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15CD82-465A-705A-54F1-159375B24BDB}"/>
              </a:ext>
            </a:extLst>
          </p:cNvPr>
          <p:cNvSpPr/>
          <p:nvPr/>
        </p:nvSpPr>
        <p:spPr>
          <a:xfrm>
            <a:off x="914400" y="2148840"/>
            <a:ext cx="10424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 = np.random.default_rng(7)               # fixed seed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EbN0_dB = np.arange(0, 31, 2);  N = 300_000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cn(*s):                                  # CN(0,1) channel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(rng.standard_normal(s) + 1j*rng.standard_normal(s)) / np.sqrt(2)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ber(scheme):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[]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snr in EbN0_dB: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n0 = 1/10**(snr/10)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bits = rng.integers(0, 2, N);  s = 2*bits - 1      # BPSK +/-1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scheme == 'SISO':                               # 1x1, no diversity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 = cn(N);     z = np.conj(h)*(h*s + np.sqrt(n0)*cn(N))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scheme == 'MRC':                              # 1x2 receive diversity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 = cn(2, N);  z = np.sum(np.conj(h)*(h*s + np.sqrt(n0)*cn(2, N)), 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scheme == 'MRT':                              # 2x1 transmit diversity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 = cn(2, N);  w = np.conj(g)/np.linalg.norm(g, 0);  he = np.sum(g*w, 0)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z = np.conj(he)*(he*s + np.sqrt(n0)*cn(N))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                               # 2x2 eigen-beamforming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s1 = np.linalg.svd(cn(N, 2, 2), compute_uv=False)[:, 0]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z = np.conj(s1)*(s1*s + np.sqrt(n0)*cn(N))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out.append(np.mean((z.real &gt; 0) != bits))          # decide: Re{z} &gt; 0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87F04A-DCD6-37CD-979B-753D162833AC}"/>
              </a:ext>
            </a:extLst>
          </p:cNvPr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057998-4447-E220-AE45-862238E18625}"/>
              </a:ext>
            </a:extLst>
          </p:cNvPr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85941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IT REAL · LIVE CODE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the ladder, annotated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pic>
        <p:nvPicPr>
          <p:cNvPr id="5" name="Image 0" descr="/home/claude/ber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94944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010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SISO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slope 1, no diversity.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01000" y="2880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 (1×2)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 (2×1)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overlap — same diversity (2). Rx or Tx, the physics is symmetric.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01000" y="38404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eigen-BF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slope 4 = nt×nr.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45262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array gain;  </a:t>
            </a: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slope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diversity gain. ~19 dB saved at 10⁻³.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3 · READ THE CURVE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577072" y="38404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77072" y="38404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HIDDEN · VOTE FIRST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0817352" y="365760"/>
            <a:ext cx="777240" cy="777240"/>
          </a:xfrm>
          <a:prstGeom prst="ellipse">
            <a:avLst/>
          </a:prstGeom>
          <a:solidFill>
            <a:srgbClr val="F59E0B"/>
          </a:solidFill>
          <a:ln/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817352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schemes are parallel on a BER-vs-SNR plot, but one sits to the left. What differs?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253288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532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3774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diversity order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array/coding gain (same diversity, one needs less SNR)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427024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270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1148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modulation type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88136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8680" y="513892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98348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parallel curves are identical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now — the answer is on the next slide.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3 · READ THE CURVE · ANSWER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57232" y="384048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48463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14432" y="38404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896112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schemes are parallel on a BER-vs-SNR plot, but one sits to the left. What differs?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68680" y="231343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08760" y="219456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diversity order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2962656"/>
            <a:ext cx="1088136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0080" y="2962656"/>
            <a:ext cx="91440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68680" y="3081528"/>
            <a:ext cx="420624" cy="420624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8680" y="3081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08760" y="2962656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array/coding gain (same diversity, one needs less SNR)</a:t>
            </a:r>
            <a:endParaRPr lang="en-US" sz="15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3099816"/>
            <a:ext cx="384048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080" y="3730752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68680" y="384962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68680" y="38496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508760" y="3730752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modulation type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640080" y="4498848"/>
            <a:ext cx="108813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868680" y="461772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868680" y="4617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1508760" y="4498848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parallel curves are identical</a:t>
            </a:r>
            <a:endParaRPr lang="en-US" sz="1550" dirty="0"/>
          </a:p>
        </p:txBody>
      </p:sp>
      <p:sp>
        <p:nvSpPr>
          <p:cNvPr id="26" name="Shape 22"/>
          <p:cNvSpPr/>
          <p:nvPr/>
        </p:nvSpPr>
        <p:spPr>
          <a:xfrm>
            <a:off x="640080" y="5285232"/>
            <a:ext cx="1088136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914400" y="5285232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= same slope = same diversity. A left-shift means more array/coding gain: same reliability at lower SNR.</a:t>
            </a:r>
            <a:endParaRPr lang="en-US" sz="1250" dirty="0"/>
          </a:p>
          <a:p>
            <a:pPr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If instead one curve were steeper, which gain would that signal?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40080" y="6309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Ratio Transmission  ·  Adv. Communication with Quantum &amp; AI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411712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5660</Words>
  <Application>Microsoft Office PowerPoint</Application>
  <PresentationFormat>Widescreen</PresentationFormat>
  <Paragraphs>700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Maximal Ratio Transmission</dc:title>
  <dc:subject>PptxGenJS Presentation</dc:subject>
  <dc:creator>PG Diploma — Advanced Communication</dc:creator>
  <cp:lastModifiedBy>Manav Bhatnagar</cp:lastModifiedBy>
  <cp:revision>6</cp:revision>
  <dcterms:created xsi:type="dcterms:W3CDTF">2026-06-05T09:15:54Z</dcterms:created>
  <dcterms:modified xsi:type="dcterms:W3CDTF">2026-06-07T09:43:12Z</dcterms:modified>
</cp:coreProperties>
</file>