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6" r:id="rId2"/>
    <p:sldId id="301" r:id="rId3"/>
    <p:sldId id="302" r:id="rId4"/>
    <p:sldId id="303" r:id="rId5"/>
    <p:sldId id="334" r:id="rId6"/>
    <p:sldId id="335" r:id="rId7"/>
    <p:sldId id="306" r:id="rId8"/>
    <p:sldId id="337" r:id="rId9"/>
    <p:sldId id="308" r:id="rId10"/>
    <p:sldId id="309" r:id="rId11"/>
    <p:sldId id="256" r:id="rId12"/>
    <p:sldId id="310" r:id="rId13"/>
    <p:sldId id="338" r:id="rId14"/>
    <p:sldId id="339" r:id="rId15"/>
    <p:sldId id="340" r:id="rId16"/>
    <p:sldId id="258" r:id="rId17"/>
    <p:sldId id="341" r:id="rId18"/>
    <p:sldId id="257" r:id="rId19"/>
    <p:sldId id="316" r:id="rId20"/>
    <p:sldId id="342" r:id="rId21"/>
    <p:sldId id="318" r:id="rId22"/>
    <p:sldId id="319" r:id="rId23"/>
    <p:sldId id="320" r:id="rId24"/>
    <p:sldId id="333" r:id="rId25"/>
    <p:sldId id="322" r:id="rId26"/>
    <p:sldId id="323" r:id="rId27"/>
    <p:sldId id="326" r:id="rId28"/>
    <p:sldId id="327" r:id="rId29"/>
    <p:sldId id="328" r:id="rId30"/>
    <p:sldId id="329" r:id="rId31"/>
    <p:sldId id="343" r:id="rId32"/>
    <p:sldId id="344" r:id="rId33"/>
    <p:sldId id="34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PROBLEM SESSION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Ninety minutes, three gears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>
                <a:solidFill>
                  <a:srgbClr val="00C2E0"/>
                </a:solidFill>
                <a:latin typeface="Calibri"/>
              </a:rPr>
              <a:t>Part A · Math (35′)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A1  Alamouti by hand — build, verify, decode, SNR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A2  prove the slope is 2 — convolve, integrate, substitute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A3  ρ(p) drill  ·  A4  QOSTBC: see the break, then pair up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A5  the equal-throughput identity, 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288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2057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Calibri"/>
              </a:rPr>
              <a:t>Parts B · C · D (50′)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6060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B1–B3  design (25′) — telemetry, 3 b/s/Hz, mobility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C1–C3  brainstorm (15′) — break it, build it, rotate it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D1–D2  traps (10′) — flaw hunt, predict-then-check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simulation reveals after B1 and D2 — curves close each arc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82880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0574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B388FF"/>
                </a:solidFill>
                <a:latin typeface="Calibri"/>
              </a:rPr>
              <a:t>Ground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65176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Warm-up first (5′).  Ninety minutes buys depth: </a:t>
            </a:r>
            <a:r>
              <a:rPr sz="1400" b="1" i="0" dirty="0">
                <a:solidFill>
                  <a:srgbClr val="62E3F7"/>
                </a:solidFill>
                <a:latin typeface="Calibri"/>
              </a:rPr>
              <a:t>estimate before you compute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, defend every dB, run the code only AFTER the prediction — and say each assumption out loud before you use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WARM-UP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Six answers, sixty seconds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Q1 · True /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Alamouti improves the AVERAGE SNR over SISO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26864" y="228600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21224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Q2 ·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ρ(7)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9328" y="2286000"/>
            <a:ext cx="411480" cy="41148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388FF"/>
                </a:solidFill>
                <a:latin typeface="Calibri"/>
              </a:rPr>
              <a:t>Q3 · 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diversity order of 2×2 Alamouti?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886200"/>
            <a:ext cx="411480" cy="411480"/>
          </a:xfrm>
          <a:prstGeom prst="ellipse">
            <a:avLst/>
          </a:prstGeom>
          <a:solidFill>
            <a:srgbClr val="62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2E3F7"/>
                </a:solidFill>
                <a:latin typeface="Calibri"/>
              </a:rPr>
              <a:t>Q4 · Yes / 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does an OSTBC need CSIT?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26864" y="3886200"/>
            <a:ext cx="411480" cy="41148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1224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Q5 ·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max rate of a square complex design, 4 Tx?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39328" y="388620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Q6 · Standards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who runs Alamouti across subcarriers?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WARM-UP ·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Check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A1 ·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E[γ] = P/σ² either way — diversity shrinks the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26864" y="228600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21224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A2 · ρ(7)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9DB6D6"/>
                </a:solidFill>
                <a:latin typeface="Calibri"/>
              </a:rPr>
              <a:t>odd p ⇒ c = d = 0 ⇒ 8·0 + 2⁰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9328" y="2286000"/>
            <a:ext cx="411480" cy="41148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388FF"/>
                </a:solidFill>
                <a:latin typeface="Calibri"/>
              </a:rPr>
              <a:t>A3 · Four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Nₜ × Nᵣ = 2 ×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886200"/>
            <a:ext cx="411480" cy="411480"/>
          </a:xfrm>
          <a:prstGeom prst="ellipse">
            <a:avLst/>
          </a:prstGeom>
          <a:solidFill>
            <a:srgbClr val="62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2E3F7"/>
                </a:solidFill>
                <a:latin typeface="Calibri"/>
              </a:rPr>
              <a:t>A4 · 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open loop is the whole 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26864" y="3886200"/>
            <a:ext cx="411480" cy="41148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1224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A5 · 3/4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rate 1 stops at Nₜ = 2 (Alamouti)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39328" y="388620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A6 · LTE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9DB6D6"/>
                </a:solidFill>
                <a:latin typeface="Calibri"/>
              </a:rPr>
              <a:t>SFBC — the two 'slots' are subcarriers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A1 ·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Alamouti by hand, start to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2×1 Alamouti downlink: QPSK, Rayleigh fading, total power P, noise σ².  Work every stage with real numbers — no simulator 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h₁ = 2 − j ,  h₂ = 1 + j ;    s₁ = (1+j)/√2 ,  s₂ = (1−j)/√2 ;    P/σ² = 10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Write the 2-slot transmission table and the stacked model r = ℋs + 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Compute ℋᴴℋ and verify it is a scaled identity — what is the scale?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Form ŝ = ℋᴴy and show each symbol appears interference-free.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Compute the post-combining SNR in dB, and state the diversity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A1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Build the machine, verify the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Steps 1–2 — how the code's orthogonality moves into 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Slot 1 sends (s₁, s₂); slot 2 sends (−s₂*, s₁*), each antenna at power P/2 — the receiver hears the two mixtures y₁, y₂ below.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The trick: conjugate y₂ BEFORE stacking.  The * jumps off the symbols onto the channels — the code's orthogonal pattern is absorbed into ℋ = [h₁ h₂; h₂* −h₁*].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Multiply with the numbers: |h₁|² = 5, |h₂|² = 2, and h₁*h₂ = (2+j)(1+j) = 1+3j = h₂h₁* — the cross terms cancel identically: ℋᴴℋ = 7I.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orthogonality verified with numbers, not faith: ℋᴴℋ = 7I.  The machine is interference-free before any noise enters — whatever the constellation.</a:t>
            </a:r>
          </a:p>
        </p:txBody>
      </p:sp>
      <p:pic>
        <p:nvPicPr>
          <p:cNvPr id="902" name="a1_absorption"/>
          <p:cNvPicPr/>
          <p:nvPr/>
        </p:nvPicPr>
        <p:blipFill>
          <a:blip r:embed="rId2"/>
          <a:stretch>
            <a:fillRect/>
          </a:stretch>
        </p:blipFill>
        <p:spPr>
          <a:xfrm>
            <a:off x="646080" y="3420000"/>
            <a:ext cx="10900000" cy="17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A1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Decode and read off the SNR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Steps 3–4 — signal gains 7², noise gains 7: SNR keeps one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Decode = apply ℋᴴ.  The signal is multiplied by ℋᴴℋ = 7I — each symbol arrives alone with amplitude ×7, hence signal power ×49.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The noise passes through the SAME filter: cov(ñ) = σ²ℋᴴℋ = 7σ²I — noise power grows by 7 only.  The ratio keeps exactly one factor of 7.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γ = (P/2σ²)·7 = 3.5·(P/σ²) → 35 → 15.4 dB at the given budget.  The 7 = |h₁|²+|h₂|² holds TWO independent fades: diversity 2 (×Nᵣ).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post-combining SNR = (P/2σ²)(|h₁|²+|h₂|²) = 15.4 dB here.  Slope-2 protection: an outage now needs |h₁|² AND |h₂|² to fade together.</a:t>
            </a:r>
          </a:p>
        </p:txBody>
      </p:sp>
      <p:pic>
        <p:nvPicPr>
          <p:cNvPr id="903" name="a1_snr_chain"/>
          <p:cNvPicPr/>
          <p:nvPr/>
        </p:nvPicPr>
        <p:blipFill>
          <a:blip r:embed="rId2"/>
          <a:stretch>
            <a:fillRect/>
          </a:stretch>
        </p:blipFill>
        <p:spPr>
          <a:xfrm>
            <a:off x="646080" y="3560000"/>
            <a:ext cx="10900000" cy="16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62B675-5F0B-5F3B-9719-5833D74BB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04" y="3422840"/>
            <a:ext cx="3419952" cy="82879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FBEDB49-10A0-459D-5E66-2A11659D452A}"/>
              </a:ext>
            </a:extLst>
          </p:cNvPr>
          <p:cNvSpPr/>
          <p:nvPr/>
        </p:nvSpPr>
        <p:spPr>
          <a:xfrm>
            <a:off x="7836456" y="3721608"/>
            <a:ext cx="1911048" cy="164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A2 ·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Prove the slope is 2 — no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show analytically that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2×1 error probability falls as SNR⁻² at high SNR.  The plot's slope must come out of an integral, not a simulation.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γ = (P/2σ²)·X,  X = |h₁|²+|h₂|²,  hᵢ ~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i.i.d.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𝒞𝒩(0,1);   outage proxy:  Pe ≈ P(γ &lt; γ₀)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What distribution does X follow?  Write its pdf and its behaviour near x = 0.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Show P(X &lt; x) ≈ x²/2 for small x.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Conclude Pe ∝ SNR⁻² — identify the diversity order in the exponent.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Generalize: why does an Nₜ-antenna OSTBC give slope Nₜ?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Diversity = how fast fades become 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three-line proof — convolve, integrate, substitute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Each |hᵢ|² is Exp(1); the sum's pdf is their convolution (below): f(x) = x·e⁻ˣ, which VANISHES at x = 0 — while one branch keeps f(0) = 1 (see plot).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Integrate: P(X &lt; x) = 1 − (1+x)e⁻ˣ, whose Taylor series STARTS at x²/2 — deep-fade probability is quadratically small, because the pdf gave it nothing at 0.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Substitute the outage threshold X &lt; 2σ²γ₀/P: the x²/2 becomes ∝ SNR⁻².  With Nₜ branches f ∝ x^(Nₜ−1) ⇒ Pe ∝ SNR^(−Nₜ): the slope IS the branch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diversity order = the power of x at which the fade pdf vanishes at zero = the number of independent |hᵢ|² summands.  The sum of squares IS the slope.</a:t>
            </a:r>
          </a:p>
        </p:txBody>
      </p:sp>
      <p:pic>
        <p:nvPicPr>
          <p:cNvPr id="904" name="a2_proof"/>
          <p:cNvPicPr/>
          <p:nvPr/>
        </p:nvPicPr>
        <p:blipFill>
          <a:blip r:embed="rId2"/>
          <a:stretch>
            <a:fillRect/>
          </a:stretch>
        </p:blipFill>
        <p:spPr>
          <a:xfrm>
            <a:off x="646080" y="3350000"/>
            <a:ext cx="1090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A3 ·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ρ(p)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the Hurwitz–Radon recipe:  write p = 2^(4c+d)·(odd) with 0 ≤ d ≤ 3, then ρ(p) = 8c + 2ᵈ.  A rate-1 real design with n antennas in p slots exists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iff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n ≤ ρ(p).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targets:  ρ(12), ρ(24), ρ(48), ρ(56);   then the minimum p for rate-1 real designs at Nₜ = 5, 6,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Factor each p and read off (c, d).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Compute the four ρ values.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For Nₜ = 5, 6, 7 find the smallest p with ρ(p) ≥ Nₜ.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What do the answers say about the price of odd antenna counts?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ρ only cares about powers of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Worked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12 = 2²·3 → (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c,d</a:t>
            </a:r>
            <a:r>
              <a:rPr sz="1350" dirty="0">
                <a:solidFill>
                  <a:srgbClr val="FFFFFF"/>
                </a:solidFill>
                <a:latin typeface="Calibri"/>
              </a:rPr>
              <a:t>) = (0,2) → ρ = 4.       24 = 2³·3 → (0,3) → ρ = 8.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48 = 2⁴·3 → (1,0) → ρ = 8+1 = 9.       56 = 2³·7 → (0,3) → ρ = 8.   The odd factor is thrown away every time.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ρ(5) = ρ(7) = 1 and ρ(6) = 2 — all too small.  The first p with ρ(p) ≥ 5, 6, or 7 is p = 8 (ρ(8) = 8): all three land on the SAME block length.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ρ jumps only at powers of two: once you pay 8 slots for the 5th antenna, antennas 6, 7, 8 ride free.  Odd p (ρ = 1) is nearly useless — delay comes quantized.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QOSTBC · NON-ORTHOGONALITY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QOSTBC: the code matrix is not orthogonal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The ABBA code matrix:  </a:t>
            </a:r>
            <a:r>
              <a:rPr sz="1400" b="1" i="0" dirty="0">
                <a:solidFill>
                  <a:srgbClr val="62E3F7"/>
                </a:solidFill>
                <a:latin typeface="Calibri"/>
              </a:rPr>
              <a:t>rows = time slots, columns = antennas</a:t>
            </a:r>
          </a:p>
        </p:txBody>
      </p:sp>
      <p:pic>
        <p:nvPicPr>
          <p:cNvPr id="7" name="Picture 6" descr="equiv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18488"/>
            <a:ext cx="4105656" cy="23225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6118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Antenna pairs 1·4 and 2·3 collide</a:t>
            </a:r>
          </a:p>
        </p:txBody>
      </p:sp>
      <p:pic>
        <p:nvPicPr>
          <p:cNvPr id="10" name="Picture 9" descr="eq_col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2593715" cy="384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60720" y="1572768"/>
            <a:ext cx="5943600" cy="2953512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Multiply it out: XᴴX</a:t>
            </a:r>
          </a:p>
        </p:txBody>
      </p:sp>
      <p:pic>
        <p:nvPicPr>
          <p:cNvPr id="13" name="Picture 12" descr="eq_orth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46510"/>
            <a:ext cx="5303520" cy="1280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386080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Eight entries cancel exactly as in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; </a:t>
            </a:r>
            <a:r>
              <a:rPr sz="1350" b="1" i="0" dirty="0">
                <a:solidFill>
                  <a:srgbClr val="62E3F7"/>
                </a:solidFill>
                <a:latin typeface="Calibri"/>
              </a:rPr>
              <a:t>the (1,4) and (2,3) pairs survive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— X is one real number short of orthogonal.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The consequence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DB6D6"/>
                </a:solidFill>
                <a:latin typeface="Calibri"/>
              </a:rPr>
              <a:t>β rides into decoding</a:t>
            </a:r>
          </a:p>
        </p:txBody>
      </p:sp>
      <p:pic>
        <p:nvPicPr>
          <p:cNvPr id="17" name="Picture 16" descr="eq_mf_d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828032"/>
            <a:ext cx="4053191" cy="457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5779008"/>
            <a:ext cx="292608" cy="292608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Almost orthogonal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8 of 12 cross terms vanish — each Alamouti block protects its own pair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81144" y="5779008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The collision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streams 1 &amp; 4 and 2 &amp; 3 overlap by β = 2Re(s₁*s₄ − s₂s₃*)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93608" y="5779008"/>
            <a:ext cx="292608" cy="292608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Why it's still usable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the damage is ONE bounded real number — pairwise ML absorbs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A4 · SEE THE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QOSTBC: multiply it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Same recipe as Alamouti: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y = ℋs + n, then form ℋᴴℋ</a:t>
            </a:r>
          </a:p>
        </p:txBody>
      </p:sp>
      <p:pic>
        <p:nvPicPr>
          <p:cNvPr id="7" name="Picture 6" descr="equiv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200000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6118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The one number that survives</a:t>
            </a:r>
          </a:p>
        </p:txBody>
      </p:sp>
      <p:pic>
        <p:nvPicPr>
          <p:cNvPr id="10" name="Picture 9" descr="eq_col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2593715" cy="384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60720" y="1572768"/>
            <a:ext cx="5943600" cy="2953512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Eight zeros, four β's</a:t>
            </a:r>
          </a:p>
        </p:txBody>
      </p:sp>
      <p:pic>
        <p:nvPicPr>
          <p:cNvPr id="13" name="Picture 12" descr="eq_orth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46510"/>
            <a:ext cx="5303520" cy="730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342900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Columns 1·2, 1·3, 2·4, 3·4 cancel exactly as in Alamouti — but </a:t>
            </a:r>
            <a:r>
              <a:rPr sz="1350" b="1" i="0">
                <a:solidFill>
                  <a:srgbClr val="62E3F7"/>
                </a:solidFill>
                <a:latin typeface="Calibri"/>
              </a:rPr>
              <a:t>pairs 1·4 and 2·3 refuse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.  The product is NOT a scaled identity: QOSTBC lands one real number short of orthogonal.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In matrix shorthand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DB6D6"/>
                </a:solidFill>
                <a:latin typeface="Calibri"/>
              </a:rPr>
              <a:t>P couples (1,4) and (2,3)</a:t>
            </a:r>
          </a:p>
        </p:txBody>
      </p:sp>
      <p:pic>
        <p:nvPicPr>
          <p:cNvPr id="17" name="Picture 16" descr="eq_mf_d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828032"/>
            <a:ext cx="4053191" cy="457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5779008"/>
            <a:ext cx="292608" cy="292608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Almost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8 of 12 cross terms vanish — Alamouti's cancellation nearly survives the 4-Tx stretch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81144" y="5779008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Two couples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only (s₁,s₄) and (s₂,s₃) talk; every other pair stays silent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93608" y="5779008"/>
            <a:ext cx="292608" cy="292608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One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all the interference is a single real β — bounded by ‖h‖², often near zero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A4 · PAIRWISE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Divide and conquer the 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Reorder the symbols: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(s₁, s₄ | s₂, s₃) — the matrix goes block-diagonal</a:t>
            </a:r>
          </a:p>
        </p:txBody>
      </p:sp>
      <p:pic>
        <p:nvPicPr>
          <p:cNvPr id="7" name="Picture 6" descr="equiv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920851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6118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The price, counted</a:t>
            </a:r>
          </a:p>
        </p:txBody>
      </p:sp>
      <p:pic>
        <p:nvPicPr>
          <p:cNvPr id="10" name="Picture 9" descr="eq_col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2593715" cy="384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60720" y="1572768"/>
            <a:ext cx="5943600" cy="2953512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Each pair is its own tiny channel</a:t>
            </a:r>
          </a:p>
        </p:txBody>
      </p:sp>
      <p:pic>
        <p:nvPicPr>
          <p:cNvPr id="13" name="Picture 12" descr="eq_orth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46510"/>
            <a:ext cx="5303520" cy="730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342900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The two blocks share no symbols and no noise — </a:t>
            </a:r>
            <a:r>
              <a:rPr sz="1350" b="1" i="0">
                <a:solidFill>
                  <a:srgbClr val="62E3F7"/>
                </a:solidFill>
                <a:latin typeface="Calibri"/>
              </a:rPr>
              <a:t>solving each 2×2 pair alone IS exact ML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.  Nothing is approximated: the structure simply splits one big puzzle into two small 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The last hole, and the fix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DB6D6"/>
                </a:solidFill>
                <a:latin typeface="Calibri"/>
              </a:rPr>
              <a:t>Δ = candidate-pair difference</a:t>
            </a:r>
          </a:p>
        </p:txBody>
      </p:sp>
      <p:pic>
        <p:nvPicPr>
          <p:cNvPr id="17" name="Picture 16" descr="eq_mf_d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760000"/>
            <a:ext cx="7350000" cy="60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5779008"/>
            <a:ext cx="292608" cy="292608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Cheap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two 16-hypothesis searches per block — 32 checks instead of 4⁴ = 256 joint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81144" y="5779008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Exact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block-diagonal means pairwise ML = full ML — zero information thrown away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93608" y="5779008"/>
            <a:ext cx="292608" cy="292608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Rotated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Δ₄ = −Δ₁ costs a factor (a−β) — π/4 rotation deletes it: slope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B1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Six antennas, BPSK only, rate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a satellite telemetry modem transmits BPSK only (legacy hardware).  The array has 6 elements.  The link must run at rate 1 with maximum diversity at BER 10⁻⁴ — and there is no feedback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HR recipe ρ(p) = 8c + 2ᵈ for p = 2^(4c+d)·odd — here ρ(6) = 2, ρ(7) = 1, ρ(8) = 8.    Simulated rate-1 ladder @ BER 10⁻⁴ (from the results slide):  2 Tx 19.3 · 3 Tx 15.1 · 4 Tx 13.1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Why do complex OSTBCs not even enter the shortlist for BPSK?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From the HR recipe, find the minimum block length p — then construct the code.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State rate, delay, diversity — then write the high-SNR law  Pe ≈ K·(snr/Nₜ)^(−Nₜ).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Solve it for snr_req[dB] = 10log₁₀Nₜ + 40/Nₜ + c, fit c on the ladder, predict 6 Tx.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An 8×6 code out of the master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Design walkthrough — an extrapolation you can defend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BPSK is real — real designs give rate 1 at ANY Nₜ; complex machinery buys nothing.  ρ(6) = 2 and ρ(7) = 1 fail: the smallest p with ρ(p) ≥ 6 is p = 8.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Construction: take the 8×8 real design and DELETE two columns → an 8×6 code.  Rate = 8 symbols / 8 slots = 1;  delay 8 slots;  diversity 6Nᵣ;  power P/6 per antenna.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Extrapolate with a MODEL, not a guess: required SNR = power-split term (10log₁₀Nₜ, grows) + fade-margin term (≈40/Nₜ at BER 10⁻⁴, shrinks) + constant — calibrated and machine-checked below: 6 Tx ≈ 11.5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dB.</a:t>
            </a:r>
            <a:endParaRPr sz="13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8×6 column-deleted real OSTBC: rate 1, diversity 6, ≈ 11.5 dB at BER 10⁻⁴ (simulated).  The delay for antennas 5–8 was paid once, at p = 8 — the 6th antenna itself rode free.</a:t>
            </a:r>
          </a:p>
        </p:txBody>
      </p:sp>
      <p:pic>
        <p:nvPicPr>
          <p:cNvPr id="905" name="b1_model"/>
          <p:cNvPicPr/>
          <p:nvPr/>
        </p:nvPicPr>
        <p:blipFill>
          <a:blip r:embed="rId2"/>
          <a:stretch>
            <a:fillRect/>
          </a:stretch>
        </p:blipFill>
        <p:spPr>
          <a:xfrm>
            <a:off x="-246888" y="3520440"/>
            <a:ext cx="12438888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B1 · SIMULATION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Required SNR, read off the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ber_compa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3401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curves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423160"/>
            <a:ext cx="274320" cy="27432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One code, four ladders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8×8 master design; Nₜ = 2, 3, 4, 6 by deleting columns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264408"/>
            <a:ext cx="274320" cy="2743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Required SNR @ 10⁻⁴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19.3 → 15.1 → 13.1 → 11.4 dB — where each curve cuts the dashed target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105656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The model's 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10log₁₀Nₜ + 40/Nₜ − 3.2 predicts 11.2 dB — measured 11.4: within 0.3 dB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946904"/>
            <a:ext cx="274320" cy="2743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8828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Diminishing returns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937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gains 4.2, 2.0, then 1.7 dB for TWO antennas — power split catches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71500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57150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2E3F7"/>
                </a:solidFill>
                <a:latin typeface="Calibri"/>
              </a:rPr>
              <a:t>the required SNR is not guessed: it is where the simulated curve crosses the target line — and the two-term model lands within 0.3 dB of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B1 · SIMULATION ·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MATLAB: the rate-1 ladder to 6 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% Rate-1 real OSTBC at ANY Nt &lt;= 8: one master 8x8 design, keep the first Nt columns.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% Design encoded as symbol-index + sign tables (rows = slots, columns = antennas):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IDX = ['01234567';'10325476';'23016745';'32107654';'45670123';'54761032';'67452301';'76543210'] - '0' + 1;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SGN = double(['+-------';'++-+-++-';'+++---++';'+-++-+-+';'+++++---';'+-+-+++-';'+--++-++';'++--++-+'] == '+')*2 - 1;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C = zeros(8,8,8);  for t = 1:8, for a = 1:8, C(t,a,IDX(t,a)) = SGN(t,a); end,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SNRdB = 0:2:20;  N = 3e5;  Nts = [2 3 4 6];  ber = zeros(4,numel(SNRdB));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Cm = reshape(permute(C,[2 1 3]), 8, 64);     </a:t>
            </a:r>
            <a:r>
              <a:rPr sz="1000">
                <a:solidFill>
                  <a:srgbClr val="34D399"/>
                </a:solidFill>
                <a:latin typeface="Consolas"/>
              </a:rPr>
              <a:t>% columns index (slot,symbol) pairs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for v = 1:4,  Nt = Nts(v);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for k = 1:numel(SNRdB)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snr = 10^(SNRdB(k)/10);  amp = sqrt(snr/Nt);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 = zeros(N,8);  h(:,1:Nt) = (randn(N,Nt)+1i*randn(N,Nt))/sqrt(2);   </a:t>
            </a:r>
            <a:r>
              <a:rPr sz="1000">
                <a:solidFill>
                  <a:srgbClr val="34D399"/>
                </a:solidFill>
                <a:latin typeface="Consolas"/>
              </a:rPr>
              <a:t>% column deletion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x = 2*(rand(N,8) &gt; .5) - 1;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% 8 BPSK symbols in 8 slots -&gt; rate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 = reshape(h*Cm, N, 8, 8);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% H(n,t,k): equivalent channel X(e_k)h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Y = amp*squeeze(sum(H .* reshape(x,N,1,8), 3)) + (randn(N,8)+1i*randn(N,8))/sqrt(2);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D = real(squeeze(sum(conj(H) .* reshape(Y,N,8,1), 2)));   </a:t>
            </a:r>
            <a:r>
              <a:rPr sz="1000">
                <a:solidFill>
                  <a:srgbClr val="34D399"/>
                </a:solidFill>
                <a:latin typeface="Consolas"/>
              </a:rPr>
              <a:t>% Re(H'H)=||h||^2 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ber(v,k) = mean(mean((D &lt; 0) ~= (x &lt; 0)));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semilogy(SNRdB, ber, '-s', 'LineWidth', 1.5);  hold on;  grid 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plot([0 20], [1e-4 1e-4], 'w--');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% the target: read each crossing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xlabel('SNR (dB)');  ylabel('BER');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legend('2 Tx (8x2)','3 Tx (8x3)','4 Tx (8x4)','6 Tx (8x6)');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title('Required SNR @ BER 10^{-4}:  19.3 / 15.1 / 13.1 / \approx11.4 dB');</a:t>
            </a:r>
          </a:p>
        </p:txBody>
      </p:sp>
    </p:spTree>
    <p:extLst>
      <p:ext uri="{BB962C8B-B14F-4D97-AF65-F5344CB8AC3E}">
        <p14:creationId xmlns:p14="http://schemas.microsoft.com/office/powerpoint/2010/main" val="1381209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B1 · SIMULATION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Python: the rate-1 ladder to 6 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import numpy as np, matplotlib.pyplot as plt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# Rate-1 real OSTBC at ANY Nt &lt;= 8: one master 8x8 design, keep the first Nt columns.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# Design encoded as symbol-index + sign tables (rows = slots, columns = antennas):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IDX = ['01234567','10325476','23016745','32107654','45670123','54761032','67452301','76543210']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SGN = ['+-------','++-+-++-','+++---++','+-++-+-+','+++++---','+-+-+++-','+--++-++','++--++-+']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I = np.array([[int(c) for c in r] for r in IDX]); S = np.array([[1 if c=='+' else -1 for c in r] for r in SGN])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C = np.zeros((8,8,8))              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C[t,a,k]: coefficient of x_k at slot t, antenna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for t in range(8):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for a in range(8): C[t, a, I[t,a]] = S[t,a]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rng = np.random.default_rng(1)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def real_ostbc_ber(snr, N, Nt):    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column deletion: antennas Nt+1..8 silent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amp = np.sqrt(snr/Nt); h = np.zeros((N,8), complex)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h[:,:Nt] = (rng.standard_normal((N,Nt)) + 1j*rng.standard_normal((N,Nt)))/np.sqrt(2)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 = np.einsum('tak,na-&gt;ntk', C, h)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equivalent channel: column k = X(e_k)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x = 2.0*(rng.random((N,8)) &gt; .5) - 1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8 BPSK symbols in 8 slots -&gt; rate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y = amp*np.einsum('ntk,nk-&gt;nt', H, x) + (rng.standard_normal((N,8))+1j*rng.standard_normal((N,8)))/np.sqrt(2)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d = np.real(np.einsum('ntk,nt-&gt;nk', np.conj(H), y))    </a:t>
            </a:r>
            <a:r>
              <a:rPr sz="1000">
                <a:solidFill>
                  <a:srgbClr val="34D399"/>
                </a:solidFill>
                <a:latin typeface="Consolas"/>
              </a:rPr>
              <a:t># Re(H'H) = ||h||^2 I: symbols decouple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return np.mean((d &lt; 0) != (x &lt; 0))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SNRdB = np.arange(0, 21, 2); N = 300_000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for Nt in (2, 3, 4, 6):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ber = [real_ostbc_ber(10**(db/10), N, Nt) for db in SNRdB]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plt.semilogy(SNRdB, ber, '-s', label=f'{Nt} Tx (8x{Nt} code), rate 1 + BPSK')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plt.axhline(1e-4, ls='--', lw=1)   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the target: read each curve's crossing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plt.legend(); plt.grid(True, which='both'); plt.xlabel('SNR (dB)'); plt.ylabel('BER')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plt.title('Required SNR @ BER 1e-4:  19.3 / 15.1 / 13.1 / ~11.4 dB')</a:t>
            </a:r>
          </a:p>
        </p:txBody>
      </p:sp>
    </p:spTree>
    <p:extLst>
      <p:ext uri="{BB962C8B-B14F-4D97-AF65-F5344CB8AC3E}">
        <p14:creationId xmlns:p14="http://schemas.microsoft.com/office/powerpoint/2010/main" val="3204300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B2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roads to 3 b/s/Hz, 4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5933"/>
            <a:ext cx="106070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A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4-Tx open-loop downlink — the product team wants 3 b/s/Hz.  Build the candidate table and defend one choice per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pairs that hit 3 b/s/Hz:   H₄ (rate 3/4) + 16-QAM  ·  QOSTBC (rate 1) + 8-PSK  ·  G₄ (rate 1/2) + 64-QAM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Verify each pair's spectral efficiency.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Rank the constellations by d²min at equal average energy.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Fold in the code factors: G₄'s ×2 energy, QOSTBC's pairwise decoding + rotation.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Choose for (a) a battery IoT node and (b) a base station — justify both.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ranking flips on decoding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Candidate table, resolved — and the three codes as deployed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Efficiency: (3/4)·4 = 1·3 = (1/2)·6 = 3 b/s/Hz.   d²min ≜ smallest squared distance between constellation points at unit average energy: 8-PSK 4sin²(π/8) = 0.59  &gt;  16-QAM 6/15 = 0.40  &gt;  64-QAM 6/63 = 0.095.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Code energy factor c ≜ the scale in 𝒢ᴴ𝒢 = c·(Σ|sᵢ|²)·I — how much energy the code hands each symbol: H₄, QOSTBC c = 1;  G₄ c = 2 (every symbol sent twice, once conjugated).  Link figure ∝ c·d²min.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Rank by c·d²min: QOSTBC 0.59 &gt; H₄ 0.40 &gt; G₄ 2×0.095 = 0.19  ⇒  +1.7 dB and −3.2 dB vs H₄.  Costs: H₄ symbol-by-symbol; QOSTBC two 64-hypothesis searches + rotation; diversity 4 for all (QOSTBC only if rotated).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(a) IoT node: H₄ + 16-QAM — simplest decoder, small penalty.  (b) Base station: rotated QOSTBC + 8-PSK — best link budget; complexity lives where compute is cheap.  Same curves, two right answers.</a:t>
            </a:r>
          </a:p>
        </p:txBody>
      </p:sp>
      <p:pic>
        <p:nvPicPr>
          <p:cNvPr id="900" name="deployed_matri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6080" y="4080000"/>
            <a:ext cx="10900000" cy="112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B3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feedback that arrives too 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2-Tx downlink serves a user driving 100 km/h at 2 GHz carrier.  The closed-loop path (measure → report → apply) takes 5 ms.  MRT promises 3 dB over Alamouti — IF the CSIT is fresh.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f_D = v/λ ;      coherence time  T_c ≈ 0.423 / f_D  (Clarke) ;      λ = c/f_c = 15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Compute the Doppler frequency and the coherence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Compare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T_c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to the 5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loop — is the CSIT alive on arrival?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What actually happens to MRT with stale phases?  Worst case?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Decide — and find the speed at which you would switch back to MRT.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Open loop wins on wheels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numbers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v = 27.8 m/s, λ = 0.15 m ⇒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f_D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≈ 185 Hz ⇒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T_c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≈ 0.423/185 ≈ 2.3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ms.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 The 5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loop is ≈ 2.2 coherence times: the channel the weights describe is gone before they arrive.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Stale MRT is not 'MRT minus a bit': with drifted phases the two antennas can combine DESTRUCTIVELY — below SISO.  The promised +3 dB becomes a coin flip.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needs nothing, keeps diversity 2 at rate 1, and never combines destructively.  Break-even: loop ≲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T_c</a:t>
            </a:r>
            <a:r>
              <a:rPr sz="1350" dirty="0">
                <a:solidFill>
                  <a:srgbClr val="FFFFFF"/>
                </a:solidFill>
                <a:latin typeface="Calibri"/>
              </a:rPr>
              <a:t>/2 ⇒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T_c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≥ 10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⇒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f_D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≤ 42 Hz ⇒ v ≲ 23 km/h.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above ~25 km/h, MRT's 3 dB promise is repaid in stale-phase losses — take Alamouti.  This is exactly why every standard ships BOTH modes and switches on mobility.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C1 · BRAINSTORM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Break Alamouti: the channel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Alamouti's derivation silently assumed h constant across both slots.  Let slot 2 see h₁′ = h₁+δ₁, h₂′ = h₂+δ₂.  Break the scheme — then invent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ℋ rows now built from DIFFERENT channels ;    δ small but nonzero, growing with Doppler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Recompute the off-diagonal of ℋᴴℋ — what survives?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How does the leakage scale with Doppler and slot duration?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Brainstorm at least three distinct fixes.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Which fix did LTE adopt — and under what name?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You just re-derived SFBC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Break, then fix — the computation, spelled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Build ℋ with slot-1 channels h and slot-2 channels h′ (below): the off-diagonal ε ≠ 0 — s₁ leaks into s₂.  Leakage ∝ (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f_D·T</a:t>
            </a:r>
            <a:r>
              <a:rPr sz="1350" dirty="0">
                <a:solidFill>
                  <a:srgbClr val="FFFFFF"/>
                </a:solidFill>
                <a:latin typeface="Calibri"/>
              </a:rPr>
              <a:t>)²: an error FLOOR no SNR can buy off.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Fixes: shorten the block;  track and pre-rotate the drift;  interleave + code over the residual;  or pair across FREQUENCY instead of time — two adjacent subcarriers of one OFDM symbol.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The frequency pairing is exact: two subcarriers of the same symbol are SIMULTANEOUS — the channel cannot move between them, only across them, which coherence bandwidth covers.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LTE chose exactly that: SFBC —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across subcarriers.  Every assumption in a derivation is a future failure mode; attacking 'h constant' re-derives a standard's design decision.</a:t>
            </a:r>
          </a:p>
        </p:txBody>
      </p:sp>
      <p:pic>
        <p:nvPicPr>
          <p:cNvPr id="901" name="c1_calculation"/>
          <p:cNvPicPr/>
          <p:nvPr/>
        </p:nvPicPr>
        <p:blipFill>
          <a:blip r:embed="rId2"/>
          <a:stretch>
            <a:fillRect/>
          </a:stretch>
        </p:blipFill>
        <p:spPr>
          <a:xfrm>
            <a:off x="646080" y="4010000"/>
            <a:ext cx="1090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C2 · BRAINSTORM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Build the missing 3×3 —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the catalog jumps from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(rate 1, 2 Tx) straight to rate-3/4 codes at 3–4 Tx.  Spend five honest minutes trying to construct the missing 3×3 rate-1 complex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wanted: a 3×3 matrix in s₁, s₂, s₃ and conjugates with  𝒢ᴴ𝒢 = (Σ|sᵢ|²)·I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Try Alamouti-style extensions — where do cross terms refuse to cancel?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Count constraints vs free sign/conjugation choices — why does bookkeeping fail?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What CAN you salvage — which rate does your best attempt reach?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Name the theorem your failure is a shadow of.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failure IS the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Post-mortem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Every patchwork leaves one stubborn pair: cancelling (1,2) and (1,3) forces signs that UN-cancel (2,3) — three compatible sign structures don't exist at n = 3.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Salvage: give the symbols a 4th slot — a 4×3 design carrying 3 symbols cancels everything.  Rate 3/4: exactly the catalog's G₃/H₃.  Your best honest attempt IS the textbook code.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The obstruction is Hurwitz wearing engineering clothes: square rate-1 complex designs exist only at n = 2 (ℂ); the next division algebra is ℍ — real dimension 4, not complex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you cannot value the rate-3/4 codes until you have personally failed to beat them.  The wall is algebra, not lack of cleverness — and now the class knows where the wall stands.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D1 · SPOT THE FLAW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too-good-to-be-true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a student writes: 'each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symbol is transmitted from BOTH antennas across the block, so it collects power P from each — 2P total.  With gain ‖h‖² that is 3 dB ABOVE MRC. 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beats closed loop!'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the true ledger:  per-antenna power P/2 ;   the 2-slot block carries TWO symbols on total power P per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Where exactly does the phantom 2P appear from?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Recompute the energy per symbol honestly.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State the correct relation to MRC 1×2.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Write the one-line conservation law that catches this whole error class.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D1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Audit the energy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flaw, dissected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The 2P double-counts twice: each of the symbol's two transmissions runs at P/2 (not P), and the block's budget is SHARED by two symbols — not stacked onto one.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Honest ledger: 2 slots × P = 2P total for 2 symbols → energy P per symbol, split P/2 + P/2 across its two appearances.  γ = (P/2σ²)‖h‖².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MRC 1×2 collects the same ‖h‖² at FULL power: γ = (P/σ²)‖h‖² —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350" dirty="0">
                <a:solidFill>
                  <a:srgbClr val="FFFFFF"/>
                </a:solidFill>
                <a:latin typeface="Calibri"/>
              </a:rPr>
              <a:t> sits exactly 3 dB BELOW, not above.  No CSIT ⇒ no array gain; that arrow is on the results slide.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conservation law: Σ over slots × antennas of transmitted energy = P × (number of slots), always.  Every 'free 3 dB' in MIMO folklore dies against this one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PROBLEM D2 · PREDICT,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Call the gap before the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two 4-Tx OSTBCs on QPSK at equal total power:  H₄ (rate 3/4, 𝒢ᴴ𝒢 = Σ|sᵢ|² I)  and  G₄ (rate 1/2, 𝒢ᴴ𝒢 = 2Σ|sᵢ|² I).  Predict their curves BEFORE seeing any plot.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post-combining SNR:  γ = c · (P/Nₜσ²) · ‖h‖² ,   c = the code's energy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Same slope or different?  Argue from the SNR expression.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Predict the horizontal gap between the curves, in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dB.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Does the gap depend on the target BER?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simulation measured 3.01 dB at BER 10⁻³ — reconcile.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SOLUTION 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Energy shifts curves; diversity bends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Prediction vs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1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Same slope: both codes are orthogonal with full diversity 4 — slope counts the ‖h‖² summands and ignores rate entirely.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c = 1 vs c = 2 makes the two γ distributions identical up to a factor 2 ⇒ the BER curves are pure horizontal translates by 10·log₁₀ 2 = 3.01 </a:t>
            </a:r>
            <a:r>
              <a:rPr sz="1350" dirty="0" err="1">
                <a:solidFill>
                  <a:srgbClr val="FFFFFF"/>
                </a:solidFill>
                <a:latin typeface="Calibri"/>
              </a:rPr>
              <a:t>dB.</a:t>
            </a:r>
            <a:endParaRPr sz="1350" dirty="0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34D399"/>
                </a:solidFill>
                <a:latin typeface="Calibri"/>
              </a:rPr>
              <a:t>▸  </a:t>
            </a:r>
            <a:r>
              <a:rPr sz="1350" dirty="0">
                <a:solidFill>
                  <a:srgbClr val="FFFFFF"/>
                </a:solidFill>
                <a:latin typeface="Calibri"/>
              </a:rPr>
              <a:t>A translate has the same gap at EVERY BER — the curves never converge and never cross.  (What the plot hides: G₄ paid half its rate for the shift.)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simulation returned 3.01 dB — prediction confirmed to the second decimal.  Energy factors slide curves sideways; diversity changes their bend.  Predict first, simulate to confirm.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D2 · SIMULATION ·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MATLAB: H₄ vs G₄ — call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% D2: H4 (rate 3/4, c = 1)  vs  G4 (rate 1/2, c = 2) -- 4 Tx, QPSK, equal total power 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% Both orthogonal =&gt; exact scalar channel  gamma = c*(snr/4)*||h||^2,  QPSK per-bit Q(sqrt(gamma)).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SNRdB = 0:2:20;  N = 5e5;  cs = [1 2];  ber = zeros(2,numel(SNRdB));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for v = 1:2,  c = cs(v);                          </a:t>
            </a:r>
            <a:r>
              <a:rPr sz="1050">
                <a:solidFill>
                  <a:srgbClr val="34D399"/>
                </a:solidFill>
                <a:latin typeface="Consolas"/>
              </a:rPr>
              <a:t>% c = the code's energy factor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for k = 1:numel(SNRdB)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snr = 10^(SNRdB(k)/10);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g = c*snr/4 * sum(abs((randn(N,4)+1i*randn(N,4))/sqrt(2)).^2, 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s = ((2*(rand(N,1)&gt;.5)-1) + 1i*(2*(rand(N,1)&gt;.5)-1))/sqrt(2);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y = sqrt(g).*s + (randn(N,1)+1i*randn(N,1))/sqrt(2);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ber(v,k) = mean([(real(y)&lt;0)~=(real(s)&lt;0); (imag(y)&lt;0)~=(imag(s)&lt;0)]);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semilogy(SNRdB, ber, '-s', 'LineWidth', 1.5);  grid 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xlabel('SNR (dB)');  ylabel('BER');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legend('H_4: rate 3/4, c = 1', 'G_4: rate 1/2, c = 2');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title('A pure translate: 10log_{10}2 = 3.01 dB at every BER');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D2 · SIMULATION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Python: H₄ vs G₄ — call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import numpy as np, matplotlib.pyplot as plt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# D2: H4 (rate 3/4, c = 1)  vs  G4 (rate 1/2, c = 2) -- 4 Tx, QPSK, equal total power 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# Both orthogonal =&gt; exact scalar channel  gamma = c*(snr/4)*||h||^2,  QPSK per-bit Pe = Q(sqrt(gamma)).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rng = np.random.default_rng(1)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def ostbc_qpsk_ber(snr, N, c):                         </a:t>
            </a:r>
            <a:r>
              <a:rPr sz="1050">
                <a:solidFill>
                  <a:srgbClr val="34D399"/>
                </a:solidFill>
                <a:latin typeface="Consolas"/>
              </a:rPr>
              <a:t># c = the code's energy factor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g = c*snr/4*np.sum(np.abs(rng.standard_normal((N,4))+1j*rng.standard_normal((N,4)))**2/2,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s = ((2*(rng.random(N)&gt;.5)-1) + 1j*(2*(rng.random(N)&gt;.5)-1))/np.sqrt(2)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y = np.sqrt(g)*s + (rng.standard_normal(N)+1j*rng.standard_normal(N))/np.sqrt(2)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    return np.mean([(y.real&lt;0)!=(s.real&lt;0), (y.imag&lt;0)!=(s.imag&lt;0)])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SNRdB = np.arange(0, 21, 2); N = 500_000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bH = [ostbc_qpsk_ber(10**(d/10), N, 1) for d in SNRdB]      </a:t>
            </a:r>
            <a:r>
              <a:rPr sz="1050">
                <a:solidFill>
                  <a:srgbClr val="34D399"/>
                </a:solidFill>
                <a:latin typeface="Consolas"/>
              </a:rPr>
              <a:t># H4: c 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bG = [ostbc_qpsk_ber(10**(d/10), N, 2) for d in SNRdB]      </a:t>
            </a:r>
            <a:r>
              <a:rPr sz="1050">
                <a:solidFill>
                  <a:srgbClr val="34D399"/>
                </a:solidFill>
                <a:latin typeface="Consolas"/>
              </a:rPr>
              <a:t># G4: c = 2  (+3 dB energy)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plt.semilogy(SNRdB, bH, '-s', label='H4: rate 3/4, c = 1')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plt.semilogy(SNRdB, bG, '-o', label='G4: rate 1/2, c = 2')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plt.grid(True, which='both'); plt.legend(); plt.xlabel('SNR (dB)'); plt.ylabel('BER')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E3F7"/>
                </a:solidFill>
                <a:latin typeface="Consolas"/>
              </a:rPr>
              <a:t>plt.title('A pure translate: 10*log10(2) = 3.01 dB at every BER')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D2 · SIMULATION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predicted 3.01 dB,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ber_compa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3401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curves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423160"/>
            <a:ext cx="274320" cy="27432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Same slope,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both orthogonal, diversity 4 — rate never touches the bend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264408"/>
            <a:ext cx="274320" cy="2743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The gap, measured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3.00 / 3.00 / ≈3.1 dB at BER 10⁻², 10⁻³, 10⁻⁴ — a pure translate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105656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Where it comes from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two γ distributions are identical up to ×2 ⇒ shift = 10log₁₀2 exactly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946904"/>
            <a:ext cx="274320" cy="2743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8828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What the plot hides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937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G₄ paid HALF its rate: 1.0 vs 1.5 b/s/Hz here — fair fights need equal throughput (B2)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71500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57150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2E3F7"/>
                </a:solidFill>
                <a:latin typeface="Calibri"/>
              </a:rPr>
              <a:t>energy factors slide curves sideways by exactly 10log₁₀c; diversity sets the bend.  The gap was predictable to the second decimal — simulation as confirmation, not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25204</TotalTime>
  <Words>6409</Words>
  <Application>Microsoft Office PowerPoint</Application>
  <PresentationFormat>Widescreen</PresentationFormat>
  <Paragraphs>403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Manav Bhatnagar</cp:lastModifiedBy>
  <cp:revision>34</cp:revision>
  <dcterms:created xsi:type="dcterms:W3CDTF">2013-01-27T09:14:16Z</dcterms:created>
  <dcterms:modified xsi:type="dcterms:W3CDTF">2026-07-18T04:29:56Z</dcterms:modified>
  <cp:category/>
</cp:coreProperties>
</file>