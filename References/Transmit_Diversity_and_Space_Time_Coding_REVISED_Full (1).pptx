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25" r:id="rId5"/>
    <p:sldId id="32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8" r:id="rId16"/>
    <p:sldId id="268" r:id="rId17"/>
    <p:sldId id="327" r:id="rId18"/>
    <p:sldId id="328" r:id="rId19"/>
    <p:sldId id="269" r:id="rId20"/>
    <p:sldId id="270" r:id="rId21"/>
    <p:sldId id="305" r:id="rId22"/>
    <p:sldId id="307" r:id="rId23"/>
    <p:sldId id="311" r:id="rId24"/>
    <p:sldId id="312" r:id="rId25"/>
    <p:sldId id="313" r:id="rId26"/>
    <p:sldId id="314" r:id="rId27"/>
    <p:sldId id="315" r:id="rId28"/>
    <p:sldId id="308" r:id="rId29"/>
    <p:sldId id="316" r:id="rId30"/>
    <p:sldId id="310" r:id="rId31"/>
    <p:sldId id="329" r:id="rId32"/>
    <p:sldId id="330" r:id="rId33"/>
    <p:sldId id="273" r:id="rId34"/>
    <p:sldId id="274" r:id="rId35"/>
    <p:sldId id="275" r:id="rId36"/>
    <p:sldId id="276" r:id="rId37"/>
    <p:sldId id="277" r:id="rId38"/>
    <p:sldId id="278" r:id="rId39"/>
    <p:sldId id="317" r:id="rId40"/>
    <p:sldId id="318" r:id="rId41"/>
    <p:sldId id="319" r:id="rId42"/>
    <p:sldId id="320" r:id="rId43"/>
    <p:sldId id="321" r:id="rId44"/>
    <p:sldId id="280" r:id="rId45"/>
    <p:sldId id="322" r:id="rId46"/>
    <p:sldId id="323" r:id="rId47"/>
    <p:sldId id="324" r:id="rId48"/>
    <p:sldId id="335" r:id="rId49"/>
    <p:sldId id="336" r:id="rId50"/>
    <p:sldId id="337" r:id="rId51"/>
    <p:sldId id="338" r:id="rId52"/>
    <p:sldId id="281" r:id="rId53"/>
    <p:sldId id="296" r:id="rId54"/>
    <p:sldId id="331" r:id="rId55"/>
    <p:sldId id="332" r:id="rId56"/>
    <p:sldId id="300" r:id="rId57"/>
    <p:sldId id="388" r:id="rId58"/>
    <p:sldId id="297" r:id="rId59"/>
    <p:sldId id="283" r:id="rId60"/>
    <p:sldId id="333" r:id="rId61"/>
    <p:sldId id="334" r:id="rId62"/>
    <p:sldId id="284" r:id="rId63"/>
    <p:sldId id="285" r:id="rId64"/>
    <p:sldId id="301" r:id="rId65"/>
    <p:sldId id="302" r:id="rId66"/>
    <p:sldId id="339" r:id="rId67"/>
    <p:sldId id="341" r:id="rId68"/>
    <p:sldId id="349" r:id="rId69"/>
    <p:sldId id="350" r:id="rId70"/>
    <p:sldId id="351" r:id="rId71"/>
    <p:sldId id="352" r:id="rId72"/>
    <p:sldId id="340" r:id="rId73"/>
    <p:sldId id="371" r:id="rId74"/>
    <p:sldId id="372" r:id="rId75"/>
    <p:sldId id="373" r:id="rId76"/>
    <p:sldId id="374" r:id="rId77"/>
    <p:sldId id="375" r:id="rId78"/>
    <p:sldId id="342" r:id="rId79"/>
    <p:sldId id="343" r:id="rId80"/>
    <p:sldId id="376" r:id="rId81"/>
    <p:sldId id="377" r:id="rId82"/>
    <p:sldId id="378" r:id="rId83"/>
    <p:sldId id="365" r:id="rId84"/>
    <p:sldId id="345" r:id="rId85"/>
    <p:sldId id="353" r:id="rId86"/>
    <p:sldId id="354" r:id="rId87"/>
    <p:sldId id="355" r:id="rId88"/>
    <p:sldId id="356" r:id="rId89"/>
    <p:sldId id="366" r:id="rId90"/>
    <p:sldId id="389" r:id="rId91"/>
    <p:sldId id="367" r:id="rId92"/>
    <p:sldId id="368" r:id="rId93"/>
    <p:sldId id="362" r:id="rId94"/>
    <p:sldId id="363" r:id="rId95"/>
    <p:sldId id="369" r:id="rId96"/>
    <p:sldId id="370" r:id="rId97"/>
    <p:sldId id="364" r:id="rId98"/>
    <p:sldId id="360" r:id="rId99"/>
    <p:sldId id="358" r:id="rId100"/>
    <p:sldId id="359" r:id="rId101"/>
    <p:sldId id="361" r:id="rId102"/>
    <p:sldId id="379" r:id="rId103"/>
    <p:sldId id="380" r:id="rId104"/>
    <p:sldId id="381" r:id="rId105"/>
    <p:sldId id="348" r:id="rId106"/>
    <p:sldId id="382" r:id="rId107"/>
    <p:sldId id="383" r:id="rId108"/>
    <p:sldId id="384" r:id="rId109"/>
    <p:sldId id="385" r:id="rId110"/>
    <p:sldId id="386" r:id="rId111"/>
    <p:sldId id="387" r:id="rId1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imo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57200"/>
            <a:ext cx="4937760" cy="25384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ADVANCED WIRELESS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Transmit Diversity &amp;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62E3F7"/>
                </a:solidFill>
                <a:latin typeface="Calibri"/>
              </a:rPr>
              <a:t>Space-Time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9DB6D6"/>
                </a:solidFill>
                <a:latin typeface="Calibri"/>
              </a:rPr>
              <a:t>Improving reliability in wireless systems — from MRT beamforming to the Alamouti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349240"/>
            <a:ext cx="2926080" cy="18288"/>
          </a:xfrm>
          <a:prstGeom prst="rect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058400" cy="433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PG Diploma in Advanced Communication with Quantum &amp;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0" i="0" dirty="0">
                <a:solidFill>
                  <a:srgbClr val="9DB6D6"/>
                </a:solidFill>
                <a:latin typeface="Calibri"/>
              </a:rPr>
              <a:t>18</a:t>
            </a:r>
            <a:r>
              <a:rPr sz="1250" b="0" i="0" dirty="0">
                <a:solidFill>
                  <a:srgbClr val="9DB6D6"/>
                </a:solidFill>
                <a:latin typeface="Calibri"/>
              </a:rPr>
              <a:t>0-minute lecture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do we need diversity?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02</a:t>
            </a:r>
          </a:p>
        </p:txBody>
      </p:sp>
      <p:pic>
        <p:nvPicPr>
          <p:cNvPr id="6" name="Picture 5" descr="single_vs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92706"/>
            <a:ext cx="5486400" cy="23811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78308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Wireless channels corrupt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Multipath fading &amp; deep fades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Shadowing and attenuation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Random, time-varying channel 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6A623"/>
                </a:solidFill>
                <a:latin typeface="Calibri"/>
              </a:rPr>
              <a:t>Result:  higher BER, packet loss, outages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Goal: improve reliability without extra bandwidth or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Four ways to create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03</a:t>
            </a:r>
          </a:p>
        </p:txBody>
      </p:sp>
      <p:pic>
        <p:nvPicPr>
          <p:cNvPr id="6" name="Picture 5" descr="diversity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054" y="1783080"/>
            <a:ext cx="785941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Core idea: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send the information over independently-fading channels, so the chance that </a:t>
            </a:r>
            <a:r>
              <a:rPr sz="1500" b="1" i="1">
                <a:solidFill>
                  <a:srgbClr val="62E3F7"/>
                </a:solidFill>
                <a:latin typeface="Calibri"/>
              </a:rPr>
              <a:t>all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of them are in a deep fade at once becomes very small.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2239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This lecture focuses on 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spatial transmit diversity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 — using multiple transmit antennas to fight fading.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CONCEPT CHECK ·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Name that diversity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Using several antennas to send a signal over independently-fading paths is which kind of diversity?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Time diversity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Frequency diversity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Spatial diversity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Polarization diversity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ANSWER ·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Name that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Using several antennas to send a signal over independently-fading paths is which kind of diversity?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Time diversity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Frequency diversity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58184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Spatial diversity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739896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Polarization diversity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Spatial diversity uses physically separated antennas, so their fades are (nearly) independent — the basis of transmit/receive diversity and MIMO.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SYSTEM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MIMO: Multiple-Input Multiple-Output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04</a:t>
            </a:r>
          </a:p>
        </p:txBody>
      </p:sp>
      <p:pic>
        <p:nvPicPr>
          <p:cNvPr id="6" name="Picture 5" descr="mimo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03809"/>
            <a:ext cx="5577840" cy="2867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82880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075688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751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Array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coherent combining lifts average SNR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9504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05409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358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</a:rPr>
              <a:t>Diversity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92424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parallel paths fight deep fades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50208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4197096"/>
            <a:ext cx="420624" cy="420624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9651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388FF"/>
                </a:solidFill>
                <a:latin typeface="Calibri"/>
              </a:rPr>
              <a:t>Multiplexing 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5312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parallel streams raise data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Today: the diversity gain branch.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is transmit diversity?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0C2E0"/>
                </a:solidFill>
                <a:latin typeface="Calibri"/>
              </a:rPr>
              <a:t>Basic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Instead of transmitting through </a:t>
            </a:r>
            <a:r>
              <a:rPr sz="1500" b="1" i="0">
                <a:solidFill>
                  <a:srgbClr val="F6A623"/>
                </a:solidFill>
                <a:latin typeface="Calibri"/>
              </a:rPr>
              <a:t>one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antenna, send the same information through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multiple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transmit antennas.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Reduces the impact of fading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Improves received SNR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Improves BER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577840" cy="329184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62E3F7"/>
                </a:solidFill>
                <a:latin typeface="Calibri"/>
              </a:rPr>
              <a:t>The central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should the signals be transmitted from the different antennas?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Two answers: with CSIT (beamforming) and without CSIT (space-time coding).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APPROACH 1 · WITH CSIT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Beamforming: smart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06</a:t>
            </a:r>
          </a:p>
        </p:txBody>
      </p:sp>
      <p:pic>
        <p:nvPicPr>
          <p:cNvPr id="6" name="Picture 5" descr="beamfor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324" y="1554480"/>
            <a:ext cx="369311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Don't transmit equally from all antennas.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Adjust the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amplitude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phase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of each antenna's signal so the copies add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constructively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at the receiver.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5852160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Steer transmit energy toward the receiver — maximise the signal power that arrives.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APPROACH 1 · WITH CSIT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Maximum Ratio Transmission (MRT)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103120"/>
            <a:ext cx="384048" cy="384048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95681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0C2E0"/>
                </a:solidFill>
                <a:latin typeface="Calibri"/>
              </a:rPr>
              <a:t>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56816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Transmit in the direction of the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71215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145535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299923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Calibri"/>
              </a:rP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99232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Weight each antenna by the channel it sees.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13631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187951"/>
            <a:ext cx="384048" cy="384048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4041647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B388FF"/>
                </a:solidFill>
                <a:latin typeface="Calibri"/>
              </a:rPr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041647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Maximise the received SNR.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56047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5230367"/>
            <a:ext cx="384048" cy="384048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5084063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6A623"/>
                </a:solidFill>
                <a:latin typeface="Calibri"/>
              </a:rPr>
              <a:t>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084063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Channel State Information at the Transmitter (CSIT).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MRT system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08</a:t>
            </a:r>
          </a:p>
        </p:txBody>
      </p:sp>
      <p:pic>
        <p:nvPicPr>
          <p:cNvPr id="6" name="Picture 5" descr="mr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2651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78308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2011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62E3F7"/>
                </a:solidFill>
                <a:latin typeface="Calibri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5328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channel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32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62E3F7"/>
                </a:solidFill>
                <a:latin typeface="Calibri"/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0815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beamforming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6118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62E3F7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6301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transmitted symbol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1605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62E3F7"/>
                </a:solidFill>
                <a:latin typeface="Calibri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178807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709159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62E3F7"/>
                </a:solidFill>
                <a:latin typeface="Calibri"/>
              </a:rPr>
              <a:t>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727447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received signal</a:t>
            </a:r>
          </a:p>
        </p:txBody>
      </p:sp>
      <p:pic>
        <p:nvPicPr>
          <p:cNvPr id="19" name="Picture 18" descr="eq_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0"/>
            <a:ext cx="4199206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optimisation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Find the beamforming vector that maximises received SNR under a power budget: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651760"/>
            <a:ext cx="9235440" cy="146304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_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77283"/>
            <a:ext cx="8503920" cy="10119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63040" y="4434840"/>
            <a:ext cx="45262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459028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Maximise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9834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received SNR — the useful signal power over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34840"/>
            <a:ext cx="45262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59028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Subject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9834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 fixed total transmit power constraint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 · 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Deriving the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2140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C2E0"/>
                </a:solidFill>
                <a:latin typeface="Calibri"/>
              </a:rPr>
              <a:t>Write received SNR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proportional to |hᴴw|²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8288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26864" y="2057400"/>
            <a:ext cx="502920" cy="5029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20391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12140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388FF"/>
                </a:solidFill>
                <a:latin typeface="Calibri"/>
              </a:rPr>
              <a:t>Apply Cauchy–Schwarz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788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bound the inner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288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39328" y="205740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20391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12140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4D399"/>
                </a:solidFill>
                <a:latin typeface="Calibri"/>
              </a:rPr>
              <a:t>Equality 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788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 must align with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3703320"/>
            <a:ext cx="9235440" cy="9601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q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873886"/>
            <a:ext cx="8503920" cy="6281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Equality — and therefore maximum SNR — holds exactly when  </a:t>
            </a:r>
            <a:r>
              <a:rPr sz="1600" b="1" i="0">
                <a:solidFill>
                  <a:srgbClr val="34D399"/>
                </a:solidFill>
                <a:latin typeface="Calibri"/>
              </a:rPr>
              <a:t>w ∝ h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MRT beamforming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</a:rPr>
              <a:t>Optimal weights</a:t>
            </a:r>
          </a:p>
        </p:txBody>
      </p:sp>
      <p:pic>
        <p:nvPicPr>
          <p:cNvPr id="8" name="Picture 7" descr="eq_m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33628"/>
            <a:ext cx="5029200" cy="8993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16052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Transmit energy is poured exactly along the channel 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577840" cy="310896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50292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Each antenna is matched to the channel it sees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Receiver combines with the same direction (MRC)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All antenna copies add up coherently → maximum SNR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Diversity gain of MRT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ber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56987"/>
            <a:ext cx="5029200" cy="3492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Achievable diversity order</a:t>
            </a:r>
          </a:p>
        </p:txBody>
      </p:sp>
      <p:pic>
        <p:nvPicPr>
          <p:cNvPr id="8" name="Picture 7" descr="eq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97760"/>
            <a:ext cx="3291840" cy="782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474720"/>
            <a:ext cx="5669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0C2E0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Full spatial diversity Nt × Nr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0C2E0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Maximum possible received SNR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0C2E0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Steeper BER curve = stronger diversity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WORKED EXAMPLE · MRT BEAMFORMING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Design an MRT beamforming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channel  h = [ 1+j ,  1−j ]ᵀ ,    transmit power P ,    noise variance σ²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6700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Channel norm</a:t>
            </a:r>
          </a:p>
        </p:txBody>
      </p:sp>
      <p:pic>
        <p:nvPicPr>
          <p:cNvPr id="10" name="Picture 9" descr="eq_ex2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606040"/>
            <a:ext cx="5553409" cy="5486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4472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Weight = matched to channel</a:t>
            </a:r>
          </a:p>
        </p:txBody>
      </p:sp>
      <p:pic>
        <p:nvPicPr>
          <p:cNvPr id="14" name="Picture 13" descr="eq_ex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383280"/>
            <a:ext cx="3325555" cy="54864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422452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Received SNR</a:t>
            </a:r>
          </a:p>
        </p:txBody>
      </p:sp>
      <p:pic>
        <p:nvPicPr>
          <p:cNvPr id="18" name="Picture 17" descr="eq_ex2_sn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160520"/>
            <a:ext cx="2020107" cy="5486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0080" y="5120640"/>
            <a:ext cx="11064240" cy="10058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3951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w points energy along the channel direction; SNR = 4P/σ² — about </a:t>
            </a:r>
            <a:r>
              <a:rPr sz="1350" b="1" i="0">
                <a:solidFill>
                  <a:srgbClr val="34D399"/>
                </a:solidFill>
                <a:latin typeface="Calibri"/>
              </a:rPr>
              <a:t>3 dB array gain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over the best single antenna, plus full 2-branch diversity.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9DB6D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THE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Limitations of MRT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6A623"/>
                </a:solidFill>
                <a:latin typeface="Calibri"/>
              </a:rPr>
              <a:t>MRT needs to know the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Requires perfect CSIT at the transmitter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Needs a feedback channel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Feedback overhead grows with antennas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Estimation errors &amp; mobility 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320040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So we ask...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Can we get diversity </a:t>
            </a:r>
            <a:r>
              <a:rPr sz="2400" b="1" i="0">
                <a:solidFill>
                  <a:srgbClr val="62E3F7"/>
                </a:solidFill>
                <a:latin typeface="Calibri"/>
              </a:rPr>
              <a:t>without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 channel knowledge at the transmitter?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CONCEPT CHECK ·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How MRT points its energy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MRT beamforming maximises the received SNR by pointing the transmit weight vector w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 a fixed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along the channel,  w = h / ‖h‖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orthogonal to the channel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randomly in each slot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ANSWER ·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How MRT points its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MRT beamforming maximises the received SNR by pointing the transmit weight vector w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in a fixed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along the channel,  w = h / ‖h‖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2386584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orthogonal to the channel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randomly in each slot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MRT aligns w with the channel so the antenna copies add coherently — maximum SNR. That alignment is exactly why MRT needs CSIT.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APPROACH 2 · NO CSIT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Diversity without CSIT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First attempt — repetition:  send the same symbol from each antenna in 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✓ 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No transmitter channel knowledge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Simple to implement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Still achieves diversity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✗  Drawback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Each symbol uses several time slots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Data rate falls sharply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6A623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Spectrally inefficient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2E3F7"/>
                </a:solidFill>
                <a:latin typeface="Calibri"/>
              </a:rPr>
              <a:t>We want diversity AND rate. That needs smarter coding across space and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APPROACH 2 · NO CSIT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Precoding-based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pr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1092"/>
            <a:ext cx="7315200" cy="30214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78308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0116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14600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Spread each symbol across antennas with a fixed </a:t>
            </a:r>
            <a:r>
              <a:rPr sz="1350" b="1" i="0">
                <a:solidFill>
                  <a:srgbClr val="B388FF"/>
                </a:solidFill>
                <a:latin typeface="Calibri"/>
              </a:rPr>
              <a:t>precoding matrix W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— designed once, not adapted to the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Question now becomes: how do we design W (or the code) so diversity is guaranteed?</a:t>
            </a:r>
          </a:p>
        </p:txBody>
      </p:sp>
    </p:spTree>
    <p:extLst>
      <p:ext uri="{BB962C8B-B14F-4D97-AF65-F5344CB8AC3E}">
        <p14:creationId xmlns:p14="http://schemas.microsoft.com/office/powerpoint/2010/main" val="521700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APPROACH 2 · NO CSIT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Designing a full-diversity precoder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oneshot_vs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615" y="1554480"/>
            <a:ext cx="7247169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805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A fixed precoder over </a:t>
            </a:r>
            <a:r>
              <a:rPr sz="1500" b="1" i="0" dirty="0">
                <a:solidFill>
                  <a:srgbClr val="F6A623"/>
                </a:solidFill>
                <a:latin typeface="Calibri"/>
              </a:rPr>
              <a:t>one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channel use gives no diversity —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hᴴw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is a single fade. With no CSIT you must </a:t>
            </a:r>
            <a:r>
              <a:rPr sz="1500" b="1" i="0" dirty="0">
                <a:solidFill>
                  <a:srgbClr val="62E3F7"/>
                </a:solidFill>
                <a:latin typeface="Calibri"/>
              </a:rPr>
              <a:t>spread the symbol over Nₜ independent channel 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5532120"/>
            <a:ext cx="365760" cy="36576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5394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C2E0"/>
                </a:solidFill>
                <a:latin typeface="Calibri"/>
              </a:rPr>
              <a:t>Route A —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7607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repetition · delay diversity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5257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60" y="5532120"/>
            <a:ext cx="365760" cy="36576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5394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388FF"/>
                </a:solidFill>
                <a:latin typeface="Calibri"/>
              </a:rPr>
              <a:t>Route B — over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7607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cyclic delay diversity (OFDM)</a:t>
            </a:r>
          </a:p>
        </p:txBody>
      </p:sp>
    </p:spTree>
    <p:extLst>
      <p:ext uri="{BB962C8B-B14F-4D97-AF65-F5344CB8AC3E}">
        <p14:creationId xmlns:p14="http://schemas.microsoft.com/office/powerpoint/2010/main" val="49136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NO CSIT ·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Adding diversity without channel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The transmitter does not know the channel — no CSIT.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Trick: send the same symbol s from every antenna, shaped by a fixed precoder W.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Each antenna's copy fades differently — if one path is in a deep fade, the others still get through.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20240"/>
            <a:ext cx="4389120" cy="23774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22402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one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788920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Which </a:t>
            </a:r>
            <a:r>
              <a:rPr sz="2200" b="1" i="0">
                <a:solidFill>
                  <a:srgbClr val="62E3F7"/>
                </a:solidFill>
                <a:latin typeface="Calibri"/>
              </a:rPr>
              <a:t>W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gives the best reliability — with no channel knowledge?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4D399"/>
                </a:solidFill>
                <a:latin typeface="Calibri"/>
              </a:rPr>
              <a:t>Short answer: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spread the symbol equally across all antennas — and the rest follows.</a:t>
            </a:r>
          </a:p>
        </p:txBody>
      </p:sp>
    </p:spTree>
    <p:extLst>
      <p:ext uri="{BB962C8B-B14F-4D97-AF65-F5344CB8AC3E}">
        <p14:creationId xmlns:p14="http://schemas.microsoft.com/office/powerpoint/2010/main" val="3124533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NO CSIT ·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Can we increase diversity without CSIT?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Repeat the symbol </a:t>
            </a:r>
            <a:r>
              <a:rPr sz="1450" b="1" i="1">
                <a:solidFill>
                  <a:srgbClr val="62E3F7"/>
                </a:solidFill>
                <a:latin typeface="Calibri"/>
              </a:rPr>
              <a:t>s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over N channel uses — transmit the block </a:t>
            </a:r>
            <a:r>
              <a:rPr sz="1450" b="1" i="0">
                <a:solidFill>
                  <a:srgbClr val="62E3F7"/>
                </a:solidFill>
                <a:latin typeface="Calibri"/>
              </a:rPr>
              <a:t>X = W·s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, with a fixed precoder W (no channel knowledge).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Transmitted block</a:t>
            </a:r>
          </a:p>
        </p:txBody>
      </p:sp>
      <p:pic>
        <p:nvPicPr>
          <p:cNvPr id="9" name="Picture 8" descr="d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41264"/>
            <a:ext cx="4206240" cy="56495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990088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Precoding matrix</a:t>
            </a:r>
          </a:p>
        </p:txBody>
      </p:sp>
      <p:pic>
        <p:nvPicPr>
          <p:cNvPr id="12" name="Picture 11" descr="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063240"/>
            <a:ext cx="2255856" cy="6035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3831336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6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Received signal</a:t>
            </a:r>
          </a:p>
        </p:txBody>
      </p:sp>
      <p:pic>
        <p:nvPicPr>
          <p:cNvPr id="15" name="Picture 14" descr="d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935652"/>
            <a:ext cx="4023360" cy="5411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0080" y="4672584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ML detection</a:t>
            </a:r>
          </a:p>
        </p:txBody>
      </p:sp>
      <p:pic>
        <p:nvPicPr>
          <p:cNvPr id="18" name="Picture 17" descr="d_m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745736"/>
            <a:ext cx="2711517" cy="603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56235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62E3F7"/>
                </a:solidFill>
                <a:latin typeface="Calibri"/>
              </a:rPr>
              <a:t>Question:  how should we choose W so that diversity is guaranteed — with no CSIT?</a:t>
            </a:r>
          </a:p>
        </p:txBody>
      </p:sp>
    </p:spTree>
    <p:extLst>
      <p:ext uri="{BB962C8B-B14F-4D97-AF65-F5344CB8AC3E}">
        <p14:creationId xmlns:p14="http://schemas.microsoft.com/office/powerpoint/2010/main" val="2131385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 · PEP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From pairwise error probability to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_p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91056"/>
            <a:ext cx="6141417" cy="4754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331720"/>
            <a:ext cx="11064240" cy="2331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_p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87168"/>
            <a:ext cx="6533294" cy="658368"/>
          </a:xfrm>
          <a:prstGeom prst="rect">
            <a:avLst/>
          </a:prstGeom>
        </p:spPr>
      </p:pic>
      <p:pic>
        <p:nvPicPr>
          <p:cNvPr id="10" name="Picture 9" descr="d_p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246120"/>
            <a:ext cx="4104722" cy="658368"/>
          </a:xfrm>
          <a:prstGeom prst="rect">
            <a:avLst/>
          </a:prstGeom>
        </p:spPr>
      </p:pic>
      <p:pic>
        <p:nvPicPr>
          <p:cNvPr id="11" name="Picture 10" descr="d_p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977639"/>
            <a:ext cx="4027465" cy="6583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4864608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62E3F7"/>
                </a:solidFill>
                <a:latin typeface="Calibri"/>
              </a:rPr>
              <a:t>n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is the rank of W.  If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nₜ &lt; N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then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n = nₜ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,  so the diversity gain is</a:t>
            </a:r>
          </a:p>
        </p:txBody>
      </p:sp>
      <p:pic>
        <p:nvPicPr>
          <p:cNvPr id="14" name="Picture 13" descr="d_g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5154616"/>
            <a:ext cx="2743200" cy="7092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0" y="5897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1">
                <a:solidFill>
                  <a:srgbClr val="34D399"/>
                </a:solidFill>
                <a:latin typeface="Calibri"/>
              </a:rPr>
              <a:t>full diversity, no CSIT</a:t>
            </a:r>
          </a:p>
        </p:txBody>
      </p:sp>
    </p:spTree>
    <p:extLst>
      <p:ext uri="{BB962C8B-B14F-4D97-AF65-F5344CB8AC3E}">
        <p14:creationId xmlns:p14="http://schemas.microsoft.com/office/powerpoint/2010/main" val="2701424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 ·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Designing W to minimise the PEP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Minimise BER (and hence the PEP) under a transmit-power budget: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286000"/>
            <a:ext cx="9601200" cy="12344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4505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Maximise the determinant</a:t>
            </a:r>
          </a:p>
        </p:txBody>
      </p:sp>
      <p:pic>
        <p:nvPicPr>
          <p:cNvPr id="9" name="Picture 8" descr="d_obj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834640"/>
            <a:ext cx="5275901" cy="5669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280160" y="3749039"/>
            <a:ext cx="9601200" cy="12344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9136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Equivalently, in the eigenvalues of WWᴴ</a:t>
            </a:r>
          </a:p>
        </p:txBody>
      </p:sp>
      <p:pic>
        <p:nvPicPr>
          <p:cNvPr id="12" name="Picture 11" descr="d_obj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315968"/>
            <a:ext cx="2922828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52578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6D6"/>
                </a:solidFill>
                <a:latin typeface="Calibri"/>
              </a:rPr>
              <a:t>with  </a:t>
            </a:r>
            <a:r>
              <a:rPr sz="1300" b="1" i="1">
                <a:solidFill>
                  <a:srgbClr val="62E3F7"/>
                </a:solidFill>
                <a:latin typeface="Calibri"/>
              </a:rPr>
              <a:t>λᵢ</a:t>
            </a:r>
            <a:r>
              <a:rPr sz="1300" b="0" i="0">
                <a:solidFill>
                  <a:srgbClr val="9DB6D6"/>
                </a:solidFill>
                <a:latin typeface="Calibri"/>
              </a:rPr>
              <a:t>  the eigenvalues of  WWᴴ  — a constrained maximisation of their product.</a:t>
            </a:r>
          </a:p>
        </p:txBody>
      </p:sp>
    </p:spTree>
    <p:extLst>
      <p:ext uri="{BB962C8B-B14F-4D97-AF65-F5344CB8AC3E}">
        <p14:creationId xmlns:p14="http://schemas.microsoft.com/office/powerpoint/2010/main" val="4071818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 · AM–GM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Maximising the determinant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By the arithmetic–geometric-mean inequality: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057400"/>
            <a:ext cx="9601200" cy="14173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_amg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194560"/>
            <a:ext cx="1867056" cy="566928"/>
          </a:xfrm>
          <a:prstGeom prst="rect">
            <a:avLst/>
          </a:prstGeom>
        </p:spPr>
      </p:pic>
      <p:pic>
        <p:nvPicPr>
          <p:cNvPr id="9" name="Picture 8" descr="d_amg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852928"/>
            <a:ext cx="1692447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611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Equality holds only when all λᵢ are equal, so: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069080"/>
            <a:ext cx="960120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_d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4206240"/>
            <a:ext cx="4998377" cy="640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383280" y="521208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5303520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optimum</a:t>
            </a:r>
          </a:p>
        </p:txBody>
      </p:sp>
      <p:pic>
        <p:nvPicPr>
          <p:cNvPr id="15" name="Picture 14" descr="d_eq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5321808"/>
            <a:ext cx="178863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53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optimal precoder is scaled-unitary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So W must be proportional to a unitary matrix: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_w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2762450" cy="640080"/>
          </a:xfrm>
          <a:prstGeom prst="rect">
            <a:avLst/>
          </a:prstGeom>
        </p:spPr>
      </p:pic>
      <p:pic>
        <p:nvPicPr>
          <p:cNvPr id="9" name="Picture 8" descr="d_x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1526835" cy="457200"/>
          </a:xfrm>
          <a:prstGeom prst="rect">
            <a:avLst/>
          </a:prstGeom>
        </p:spPr>
      </p:pic>
      <p:pic>
        <p:nvPicPr>
          <p:cNvPr id="10" name="Picture 9" descr="d_ide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033" y="1874519"/>
            <a:ext cx="2795053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which reduces to a diagonal code:</a:t>
            </a:r>
          </a:p>
        </p:txBody>
      </p:sp>
      <p:pic>
        <p:nvPicPr>
          <p:cNvPr id="12" name="Picture 11" descr="d_di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0059" y="3657600"/>
            <a:ext cx="3679241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457200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Only the diagonal survives — exactly </a:t>
            </a:r>
            <a:r>
              <a:rPr sz="1350" b="1" i="0">
                <a:solidFill>
                  <a:srgbClr val="62E3F7"/>
                </a:solidFill>
                <a:latin typeface="Calibri"/>
              </a:rPr>
              <a:t>one antenna carries s in each time slot.</a:t>
            </a:r>
          </a:p>
        </p:txBody>
      </p:sp>
    </p:spTree>
    <p:extLst>
      <p:ext uri="{BB962C8B-B14F-4D97-AF65-F5344CB8AC3E}">
        <p14:creationId xmlns:p14="http://schemas.microsoft.com/office/powerpoint/2010/main" val="298600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NO CSIT ·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best precoder spreads energy equally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With no CSIT you can't aim at the channel — so treat every antenna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equally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.  Equal power with orthogonal directions is the fairest, most robust spread.</a:t>
            </a:r>
          </a:p>
        </p:txBody>
      </p:sp>
      <p:pic>
        <p:nvPicPr>
          <p:cNvPr id="7" name="Picture 6" descr="sprea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5062026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260604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The best W</a:t>
            </a:r>
          </a:p>
        </p:txBody>
      </p:sp>
      <p:pic>
        <p:nvPicPr>
          <p:cNvPr id="10" name="Picture 9" descr="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00"/>
            <a:ext cx="1529655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4069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9DB6D6"/>
                </a:solidFill>
                <a:latin typeface="Calibri"/>
              </a:rPr>
              <a:t>a scaled identity (unitary)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26280"/>
            <a:ext cx="1965960" cy="10058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4654296"/>
            <a:ext cx="1417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Diversity</a:t>
            </a:r>
          </a:p>
        </p:txBody>
      </p:sp>
      <p:pic>
        <p:nvPicPr>
          <p:cNvPr id="14" name="Picture 13" descr="s_d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068782"/>
            <a:ext cx="1737360" cy="28659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738360" y="4526280"/>
            <a:ext cx="1965960" cy="10058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2680" y="4654296"/>
            <a:ext cx="1417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6A623"/>
                </a:solidFill>
                <a:latin typeface="Calibri"/>
              </a:rPr>
              <a:t>Rate</a:t>
            </a:r>
          </a:p>
        </p:txBody>
      </p:sp>
      <p:pic>
        <p:nvPicPr>
          <p:cNvPr id="17" name="Picture 16" descr="s_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5044083"/>
            <a:ext cx="1188720" cy="3359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 ·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This precoder = spatial 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With this W, symbol </a:t>
            </a:r>
            <a:r>
              <a:rPr sz="1450" b="1" i="1">
                <a:solidFill>
                  <a:srgbClr val="62E3F7"/>
                </a:solidFill>
                <a:latin typeface="Calibri"/>
              </a:rPr>
              <a:t>s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is transmitted in time slot </a:t>
            </a:r>
            <a:r>
              <a:rPr sz="1450" b="1" i="1">
                <a:solidFill>
                  <a:srgbClr val="62E3F7"/>
                </a:solidFill>
                <a:latin typeface="Calibri"/>
              </a:rPr>
              <a:t>n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from antenna </a:t>
            </a:r>
            <a:r>
              <a:rPr sz="1450" b="1" i="1">
                <a:solidFill>
                  <a:srgbClr val="62E3F7"/>
                </a:solidFill>
                <a:latin typeface="Calibri"/>
              </a:rPr>
              <a:t>n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 (n = 1 … nₜ); all other antennas stay quiet.</a:t>
            </a:r>
          </a:p>
        </p:txBody>
      </p:sp>
      <p:pic>
        <p:nvPicPr>
          <p:cNvPr id="7" name="Picture 6" descr="re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72" y="2514600"/>
            <a:ext cx="5665215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265176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788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Effective data rate</a:t>
            </a:r>
          </a:p>
        </p:txBody>
      </p:sp>
      <p:pic>
        <p:nvPicPr>
          <p:cNvPr id="10" name="Picture 9" descr="d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200400"/>
            <a:ext cx="1468045" cy="5669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49440" y="4069080"/>
            <a:ext cx="4754880" cy="12344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42062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Diversity gain</a:t>
            </a:r>
          </a:p>
        </p:txBody>
      </p:sp>
      <p:pic>
        <p:nvPicPr>
          <p:cNvPr id="13" name="Picture 12" descr="d_g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617720"/>
            <a:ext cx="2121892" cy="5486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580644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Verdict: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full diversity nₜ × nᵣ with no CSIT — paid for with rate 1/nₜ.  Alamouti later recovers the rate.</a:t>
            </a:r>
          </a:p>
        </p:txBody>
      </p:sp>
    </p:spTree>
    <p:extLst>
      <p:ext uri="{BB962C8B-B14F-4D97-AF65-F5344CB8AC3E}">
        <p14:creationId xmlns:p14="http://schemas.microsoft.com/office/powerpoint/2010/main" val="3281405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DESIGN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Design a 3-antenna open-loop scheme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Nₜ = 3 transmit antennas,   Nᵣ = 1 receive antenna,   total power budget P,   no CSIT.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31343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Use one time slot per antenna  →  N = 3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935224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916936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Spread equally:  W = (1/√3) I₃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5204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Send s on the diagonal — each antenna fires once at power P/3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42232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23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12394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Receiver combines the 3 slots (MRC)</a:t>
            </a:r>
          </a:p>
        </p:txBody>
      </p:sp>
      <p:pic>
        <p:nvPicPr>
          <p:cNvPr id="20" name="Picture 19" descr="desig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058" y="2331720"/>
            <a:ext cx="4836443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43584" y="47548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6A623"/>
                </a:solidFill>
                <a:latin typeface="Calibri"/>
              </a:rPr>
              <a:t>Contrast:  </a:t>
            </a:r>
            <a:r>
              <a:rPr sz="1250" b="0" i="1">
                <a:solidFill>
                  <a:srgbClr val="FFFFFF"/>
                </a:solidFill>
                <a:latin typeface="Calibri"/>
              </a:rPr>
              <a:t>one antenna only → diversity 1.  Equal spread → diversity 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30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Diversity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3 × 1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650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BER slope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58978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650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8978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1/3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5650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Power / antenna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8978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2E3F7"/>
                </a:solidFill>
                <a:latin typeface="Calibri"/>
              </a:rPr>
              <a:t>P/3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CONCEPT CHECK · QUIZ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best blind precoder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With no CSIT, the precoder that guarantees full diversity turns out to be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channel-matched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random matrix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scaled identity (spatial cycling)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 all-ones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ANSWER · QUIZ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best blind precoder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With no CSIT, the precoder that guarantees full diversity turns out to be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a channel-matched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a random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58184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 scaled identity (spatial cycling)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739896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an all-ones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Equal power + orthogonal directions ⇒ W = (γ/√Nₜ)·I, i.e. spatial cycling: full diversity Nₜ×Nᵣ, but at rate 1/Nₜ.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Can we have it 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We want three things at once: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</a:rPr>
              <a:t>Full diversity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6D6"/>
                </a:solidFill>
                <a:latin typeface="Calibri"/>
              </a:rPr>
              <a:t>best reliability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5146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26864" y="274320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337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Full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74903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6D6"/>
                </a:solidFill>
                <a:latin typeface="Calibri"/>
              </a:rPr>
              <a:t>no loss of throughput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5146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39328" y="2743200"/>
            <a:ext cx="457200" cy="45720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3337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388FF"/>
                </a:solidFill>
                <a:latin typeface="Calibri"/>
              </a:rPr>
              <a:t>Low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74903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6D6"/>
                </a:solidFill>
                <a:latin typeface="Calibri"/>
              </a:rPr>
              <a:t>simple decoding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434840"/>
            <a:ext cx="9235440" cy="128016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92354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Answer: the </a:t>
            </a:r>
            <a:r>
              <a:rPr sz="1800" b="1" i="0">
                <a:solidFill>
                  <a:srgbClr val="62E3F7"/>
                </a:solidFill>
                <a:latin typeface="Calibri"/>
              </a:rPr>
              <a:t>Alamouti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 space-time block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9DB6D6"/>
                </a:solidFill>
                <a:latin typeface="Calibri"/>
              </a:rPr>
              <a:t>the first orthogonal STBC — delivers all three for 2 transmit antennas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landmark in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Historical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Introduced by </a:t>
            </a:r>
            <a:r>
              <a:rPr sz="1600" b="1" i="0">
                <a:solidFill>
                  <a:srgbClr val="62E3F7"/>
                </a:solidFill>
                <a:latin typeface="Calibri"/>
              </a:rPr>
              <a:t>Siavash Alamouti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in 1998 — the first practical space-time block code, now in 3G/4G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320040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0292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Two transmit antennas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Full diversity (order 2 with one RX antenna)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Full data rate — one symbol per channel use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34D399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Simple linear decoding, no CSIT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transmission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29</a:t>
            </a:r>
          </a:p>
        </p:txBody>
      </p:sp>
      <p:pic>
        <p:nvPicPr>
          <p:cNvPr id="6" name="Picture 5" descr="eq_alamouti_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1920240"/>
            <a:ext cx="4396153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828800"/>
            <a:ext cx="6035040" cy="32918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2057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 it across two time slots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Slot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651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Antenna 1 → s₁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992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Antenna 2 → s₂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7033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Slot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033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Antenna 1 → −s₂*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050791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Antenna 2 → s₁*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709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9DB6D6"/>
                </a:solidFill>
                <a:latin typeface="Calibri"/>
              </a:rPr>
              <a:t>Columns = antennas,  rows = time.  (*) = complex conjugate.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SCHEME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Two symbols, two time slots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30</a:t>
            </a:r>
          </a:p>
        </p:txBody>
      </p:sp>
      <p:pic>
        <p:nvPicPr>
          <p:cNvPr id="6" name="Picture 5" descr="alamouti_qp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7649"/>
            <a:ext cx="6400800" cy="28912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828800"/>
            <a:ext cx="4389120" cy="310896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20574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What's happening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51760"/>
            <a:ext cx="38404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Two symbols s₁, s₂ are sent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Spread over 2 antennas × 2 slots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Rate = 2 symbols / 2 slots = 1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Conjugates create orthogonality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Received signals  (one RX antenna)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With channel gains h₁, h₂ held constant over the two slots: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514600"/>
            <a:ext cx="9235440" cy="9601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_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97480"/>
            <a:ext cx="4015136" cy="594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63040" y="3657600"/>
            <a:ext cx="9235440" cy="9601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840480"/>
            <a:ext cx="3937161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2E3F7"/>
                </a:solidFill>
                <a:latin typeface="Calibri"/>
              </a:rPr>
              <a:t>r₁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is received in slot 1, 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r₂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in slot 2 (after conjugation in the model).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RECEIVER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Combining the received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receiver applies three simple linear operations: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3593592" cy="14630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0779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Conjugate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take r₂*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606040"/>
            <a:ext cx="3593592" cy="14630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26864" y="2834640"/>
            <a:ext cx="457200" cy="45720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2816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90779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388FF"/>
                </a:solidFill>
                <a:latin typeface="Calibri"/>
              </a:rPr>
              <a:t>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520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multiply by h₁*, h₂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606040"/>
            <a:ext cx="3593592" cy="14630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39328" y="283464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816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90779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</a:rPr>
              <a:t>Add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520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combine the two slots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434840"/>
            <a:ext cx="9235440" cy="100584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57200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The cross terms cancel  →  the two symbols are separated with no interference.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RECEIVER ·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Received signals: the input–output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Over two time slots, with the channel gains h₁, h₂ constant and AWGN e₁, e₂: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6517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Slot 1</a:t>
            </a:r>
          </a:p>
        </p:txBody>
      </p:sp>
      <p:pic>
        <p:nvPicPr>
          <p:cNvPr id="9" name="Picture 8" descr="a_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322576"/>
            <a:ext cx="3586970" cy="548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20040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6517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Slot 2</a:t>
            </a:r>
          </a:p>
        </p:txBody>
      </p:sp>
      <p:pic>
        <p:nvPicPr>
          <p:cNvPr id="12" name="Picture 11" descr="a_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282696"/>
            <a:ext cx="3672185" cy="548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443484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62E3F7"/>
                </a:solidFill>
                <a:latin typeface="Calibri"/>
              </a:rPr>
              <a:t>h₁, h₂</a:t>
            </a:r>
            <a:r>
              <a:rPr sz="1400" b="0" i="0">
                <a:solidFill>
                  <a:srgbClr val="9DB6D6"/>
                </a:solidFill>
                <a:latin typeface="Calibri"/>
              </a:rPr>
              <a:t>  channel gains    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s₁, s₂</a:t>
            </a:r>
            <a:r>
              <a:rPr sz="1400" b="0" i="0">
                <a:solidFill>
                  <a:srgbClr val="9DB6D6"/>
                </a:solidFill>
                <a:latin typeface="Calibri"/>
              </a:rPr>
              <a:t>  data symbols    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e₁, e₂</a:t>
            </a:r>
            <a:r>
              <a:rPr sz="1400" b="0" i="0">
                <a:solidFill>
                  <a:srgbClr val="9DB6D6"/>
                </a:solidFill>
                <a:latin typeface="Calibri"/>
              </a:rPr>
              <a:t>  receiver noise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The conjugates s₁*, s₂* in slot 2 are exactly the Alamouti code in action.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RECEIVER ·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Signal processing at the receiver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32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627632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Take the conjugate of the slot-2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3584" y="2103120"/>
            <a:ext cx="1042416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_co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40280"/>
            <a:ext cx="3037242" cy="5029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136392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Multiply  y₁  by  h₁*   and   y₂*  by  h₂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" y="3611880"/>
            <a:ext cx="1042416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749039"/>
            <a:ext cx="4322393" cy="5029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243584" y="4480560"/>
            <a:ext cx="1042416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_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617720"/>
            <a:ext cx="4295208" cy="5029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5440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Notice: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both products now carry the same cross-term  h₁*h₂ s₂  — set up to cancel.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RECEIVER · COMBINING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Combining: the interference cancels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Subtract the two products to isolate s₁: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_exp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21408"/>
            <a:ext cx="9054754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9718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→  the  +h₁*h₂ s₂  and  −h₁*h₂ s₂  terms cancel</a:t>
            </a:r>
            <a:r>
              <a:rPr sz="1350" b="0" i="0">
                <a:solidFill>
                  <a:srgbClr val="9DB6D6"/>
                </a:solidFill>
                <a:latin typeface="Calibri"/>
              </a:rPr>
              <a:t>   (and the s₁ terms add):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4815119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434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Likewise, add the two products to isolate s₂ (the s₁ terms cancel):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9200"/>
            <a:ext cx="4835507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8521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2E3F7"/>
                </a:solidFill>
                <a:latin typeface="Calibri"/>
              </a:rPr>
              <a:t>Each symbol is now interference-free — only its own signal plus combined noise remains.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RECEIVER · 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symbols decouple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783080"/>
            <a:ext cx="8503920" cy="10972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ecoup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591" y="1965960"/>
            <a:ext cx="5462336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0175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with the combined noise still white: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474720"/>
            <a:ext cx="850392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03" y="3630168"/>
            <a:ext cx="5582512" cy="548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4526280"/>
            <a:ext cx="3593592" cy="13716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4754880"/>
            <a:ext cx="365760" cy="36576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4736592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Two parallel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s₁ and s₂ are detected separately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4526280"/>
            <a:ext cx="3593592" cy="13716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26864" y="475488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4" y="4736592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Effective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5257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|h₁|²+|h₂|²  →  diversity order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4526280"/>
            <a:ext cx="3593592" cy="13716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39328" y="4754880"/>
            <a:ext cx="365760" cy="36576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4736592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Noise unchanged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5257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ñₖ is still white Gaussian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ALAMOUTI RECEIVER ·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Maximum-likelihood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Because the symbols decoupled, ML detection runs on each symbol separately: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_m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48256"/>
            <a:ext cx="4237719" cy="50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2724912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_m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52928"/>
            <a:ext cx="4237719" cy="502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361188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Joint ML would cost much more</a:t>
            </a:r>
          </a:p>
        </p:txBody>
      </p:sp>
      <p:pic>
        <p:nvPicPr>
          <p:cNvPr id="13" name="Picture 12" descr="a_mljo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2992987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47548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>
                <a:solidFill>
                  <a:srgbClr val="62E3F7"/>
                </a:solidFill>
                <a:latin typeface="Calibri"/>
              </a:rPr>
              <a:t>→ search  𝒜  instead of  𝒜²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61188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376732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Received SNR per symbol</a:t>
            </a:r>
          </a:p>
        </p:txBody>
      </p:sp>
      <p:pic>
        <p:nvPicPr>
          <p:cNvPr id="17" name="Picture 16" descr="a_sn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4160520"/>
            <a:ext cx="2787015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47548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9DB6D6"/>
                </a:solidFill>
                <a:latin typeface="Calibri"/>
              </a:rPr>
              <a:t>grows with both paths'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Alamouti achieves second-order diversity:</a:t>
            </a:r>
          </a:p>
        </p:txBody>
      </p:sp>
      <p:pic>
        <p:nvPicPr>
          <p:cNvPr id="21" name="Picture 20" descr="a_g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5394960"/>
            <a:ext cx="1322549" cy="594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2480" y="525780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>
                <a:solidFill>
                  <a:srgbClr val="34D399"/>
                </a:solidFill>
                <a:latin typeface="Calibri"/>
              </a:rPr>
              <a:t>full diversity, linear decoding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Maximum-likelihood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Without decoupling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Joint search over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6A623"/>
                </a:solidFill>
                <a:latin typeface="Calibri"/>
              </a:rPr>
              <a:t>M²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 combinations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577840" cy="292608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With Alamouti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Two separate searches over just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34D399"/>
                </a:solidFill>
                <a:latin typeface="Calibri"/>
              </a:rPr>
              <a:t>M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62E3F7"/>
                </a:solidFill>
                <a:latin typeface="Calibri"/>
              </a:rPr>
              <a:t>For higher-order constellations this is an enormous reduction in receiver complexity.</a:t>
            </a:r>
          </a:p>
        </p:txBody>
      </p:sp>
    </p:spTree>
    <p:extLst>
      <p:ext uri="{BB962C8B-B14F-4D97-AF65-F5344CB8AC3E}">
        <p14:creationId xmlns:p14="http://schemas.microsoft.com/office/powerpoint/2010/main" val="337618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SIMULATION ·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MATLAB: Alamouti BER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4D399"/>
                </a:solidFill>
                <a:latin typeface="Consolas"/>
              </a:rPr>
              <a:t>% Alamouti 2x1 vs SISO  --  BPSK over Rayleigh fading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SNRdB = 0:2:20;  N = 2e5;  berA = zeros(size(SNRdB));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for k = 1:numel(SNRdB)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snr = 10^(SNRdB(k)/10);  a = sqrt(snr/2);   </a:t>
            </a:r>
            <a:r>
              <a:rPr sz="1150">
                <a:solidFill>
                  <a:srgbClr val="34D399"/>
                </a:solidFill>
                <a:latin typeface="Consolas"/>
              </a:rPr>
              <a:t>% split power / 2 TX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s1 = 2*(rand(1,N)&gt;.5)-1;  s2 = 2*(rand(1,N)&gt;.5)-1;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h1 = (randn(1,N)+1i*randn(1,N))/sqrt(2);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h2 = (randn(1,N)+1i*randn(1,N))/sqrt(2);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n1 = (randn(1,N)+1i*randn(1,N))/sqrt(2);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n2 = (randn(1,N)+1i*randn(1,N))/sqrt(2);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y1 =  a*( h1.*s1 + h2.*s2) + n1; 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% slot 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y2 =  a*(-h2.*conj(s1) + h1.*conj(s2)) + n2; </a:t>
            </a:r>
            <a:r>
              <a:rPr sz="1150">
                <a:solidFill>
                  <a:srgbClr val="34D399"/>
                </a:solidFill>
                <a:latin typeface="Consolas"/>
              </a:rPr>
              <a:t>% slot 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d1 = conj(h1).*y1 - h2.*conj(y2);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% decouples s1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d2 = conj(h2).*y1 + h1.*conj(y2);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% decouples s2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berA(k) = mean([real(d1)&lt;0 ~= (s1&lt;0), ...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            real(d2)&lt;0 ~= (s2&lt;0)]);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end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semilogy(SNRdB, berA, '-s','LineWidth',2);  grid 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xlabel('SNR (dB)');  ylabel('BER');  title('Alamouti 2x1')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SIMULATION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Python: Alamouti BER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import numpy as np, matplotlib.pyplot as plt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SNRdB = np.arange(0, 21, 2);  N = 200_000;  berA = []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for snr_db in SNRdB: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snr = 10**(snr_db/10);  a = np.sqrt(snr/2)    </a:t>
            </a:r>
            <a:r>
              <a:rPr sz="1150">
                <a:solidFill>
                  <a:srgbClr val="34D399"/>
                </a:solidFill>
                <a:latin typeface="Consolas"/>
              </a:rPr>
              <a:t># split power / 2 TX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s1 = 2*(np.random.rand(N) &gt; .5) - 1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s2 = 2*(np.random.rand(N) &gt; .5) - 1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h1 = (np.random.randn(N)+1j*np.random.randn(N))/np.sqrt(2)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h2 = (np.random.randn(N)+1j*np.random.randn(N))/np.sqrt(2)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n1 = (np.random.randn(N)+1j*np.random.randn(N))/np.sqrt(2)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n2 = (np.random.randn(N)+1j*np.random.randn(N))/np.sqrt(2)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y1 = a*( h1*s1 + h2*s2) + n1      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# slot 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y2 = a*(-h2*s1.conj() + h1*s2.conj()) + n2    </a:t>
            </a:r>
            <a:r>
              <a:rPr sz="1150">
                <a:solidFill>
                  <a:srgbClr val="34D399"/>
                </a:solidFill>
                <a:latin typeface="Consolas"/>
              </a:rPr>
              <a:t># slot 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d1 = h1.conj()*y1 - h2*y2.conj()  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# decouples s1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d2 = h2.conj()*y1 + h1*y2.conj()  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# decouples s2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berA.append(np.mean([(d1.real&lt;0)!=(s1&lt;0),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                 (d2.real&lt;0)!=(s2&lt;0)]))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plt.semilogy(SNRdB, berA, '-s'); plt.grid(True)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plt.xlabel('SNR (dB)'); plt.ylabel('BER')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SIMULATION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BER: Alamouti vs other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38</a:t>
            </a:r>
          </a:p>
        </p:txBody>
      </p:sp>
      <p:pic>
        <p:nvPicPr>
          <p:cNvPr id="6" name="Picture 5" descr="ber_compa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3401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curves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423160"/>
            <a:ext cx="274320" cy="27432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SISO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1 — no diversity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264408"/>
            <a:ext cx="274320" cy="2743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Alamouti 2×1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2 — full diversity, no CSIT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105656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MRC 1×2 / MRT 2×1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2, but ~3 dB better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946904"/>
            <a:ext cx="274320" cy="2743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8828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MRC 2×2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937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4 — steepest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71500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57150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2E3F7"/>
                </a:solidFill>
                <a:latin typeface="Calibri"/>
              </a:rPr>
              <a:t>Alamouti = MRC-1×2 slope, paid for with 3 dB (no array gain).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DESIGN PROBLEM · ALAMOUTI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Design a 2×1 Alamouti downlink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base station with 2 transmit antennas serves a single-antenna handset at the cell edge using Alamouti diversity.  Modulation QPSK, Rayleigh fading, total transmit power P, noise σ².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channel snapshot  h₁ = 1+j ,  h₂ = 1+2j      symbols to send  s₁ = (1+j)/√2 ,  s₂ = (1−j)/√2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Write the transmission table — what does each antenna send, in each slot?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Find the power transmitted per antenna.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Given the received signals y₁, y₂, recover s₁ and s₂.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What diversity order is achieved, and what is the SNR advantage over SISO at BER = 10⁻³?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SOLUTION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Transmission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46</a:t>
            </a:r>
          </a:p>
        </p:txBody>
      </p:sp>
      <p:pic>
        <p:nvPicPr>
          <p:cNvPr id="6" name="Picture 5" descr="pb_code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40010"/>
            <a:ext cx="5029200" cy="3343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Alamouti block over 2 slots: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8521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Slot 1:  antenna 1 sends s₁,  antenna 2 sends s₂.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Slot 2:  antenna 1 sends s₂*,  antenna 2 sends −s₁*.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Both antennas are active every slot — split the budget: P/2 per antenna per slot (total P).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2 symbols delivered in 2 slots → rate 1, no rate loss versus SISO.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585216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Per antenna: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P/2,  each symbol carried twice across the two slots.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SOLUTION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Receiver processing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Effective gain</a:t>
            </a:r>
          </a:p>
        </p:txBody>
      </p:sp>
      <p:pic>
        <p:nvPicPr>
          <p:cNvPr id="8" name="Picture 7" descr="pb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54480"/>
            <a:ext cx="4043653" cy="512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228600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Received (this snapshot)</a:t>
            </a:r>
          </a:p>
        </p:txBody>
      </p:sp>
      <p:pic>
        <p:nvPicPr>
          <p:cNvPr id="11" name="Picture 10" descr="pb_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377440"/>
            <a:ext cx="2205814" cy="5120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310896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Combine for s₁</a:t>
            </a:r>
          </a:p>
        </p:txBody>
      </p:sp>
      <p:pic>
        <p:nvPicPr>
          <p:cNvPr id="14" name="Picture 13" descr="pb_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3239725" cy="5120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80" y="393192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Combine for s₂</a:t>
            </a:r>
          </a:p>
        </p:txBody>
      </p:sp>
      <p:pic>
        <p:nvPicPr>
          <p:cNvPr id="17" name="Picture 16" descr="pb_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4023359"/>
            <a:ext cx="3263152" cy="51206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475488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SNR per symbol</a:t>
            </a:r>
          </a:p>
        </p:txBody>
      </p:sp>
      <p:pic>
        <p:nvPicPr>
          <p:cNvPr id="20" name="Picture 19" descr="pb_sn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846320"/>
            <a:ext cx="4173321" cy="51206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0080" y="562356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b_d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42432"/>
            <a:ext cx="491436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5623560"/>
            <a:ext cx="37490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>
                <a:solidFill>
                  <a:srgbClr val="34D399"/>
                </a:solidFill>
                <a:latin typeface="Calibri"/>
              </a:rPr>
              <a:t>symbols decouple → exact recovery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SOLUTION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Performance &amp; link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48</a:t>
            </a:r>
          </a:p>
        </p:txBody>
      </p:sp>
      <p:pic>
        <p:nvPicPr>
          <p:cNvPr id="6" name="Picture 5" descr="pb_link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208776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783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What we bought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4389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Diversity order = Nₜ × Nᵣ = 2 × 1 = 2.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BER 10⁻³ needs ≈ 24 dB for SISO, but only ≈ 14 dB with Alamouti.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→ about 10 dB saved at the cell edge.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Same rate as SISO, and no CSIT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Verdict: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second transmit antenna and Alamouti coding buy ~10 dB at BER 10⁻³ — full diversity, rate 1, linear decoding, no feedback.  That margin is the difference between a dropped and a held call at the edge.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COMPACT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Matrix form of the Alamouti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Stack the two time slots into one linear system: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651760"/>
            <a:ext cx="5577840" cy="11887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50" y="2834640"/>
            <a:ext cx="3179618" cy="822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2062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3708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1">
                <a:solidFill>
                  <a:srgbClr val="00C2E0"/>
                </a:solidFill>
                <a:latin typeface="Calibri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received 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42062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38144" y="43708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1">
                <a:solidFill>
                  <a:srgbClr val="B388FF"/>
                </a:solidFill>
                <a:latin typeface="Calibri"/>
              </a:rPr>
              <a:t>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4937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equivalent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42062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43708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1">
                <a:solidFill>
                  <a:srgbClr val="34D399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4937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symbol vector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42062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34272" y="43708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1">
                <a:solidFill>
                  <a:srgbClr val="F6A623"/>
                </a:solidFill>
                <a:latin typeface="Calibri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4937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noise vector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orthogonality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Stack the two slots: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r = ℋ s + n</a:t>
            </a:r>
          </a:p>
        </p:txBody>
      </p:sp>
      <p:pic>
        <p:nvPicPr>
          <p:cNvPr id="7" name="Picture 6" descr="equiv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920851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6118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The two columns are orthogonal</a:t>
            </a:r>
          </a:p>
        </p:txBody>
      </p:sp>
      <p:pic>
        <p:nvPicPr>
          <p:cNvPr id="10" name="Picture 9" descr="eq_col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2593715" cy="384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60720" y="1572768"/>
            <a:ext cx="5943600" cy="2953512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orthogonality identity</a:t>
            </a:r>
          </a:p>
        </p:txBody>
      </p:sp>
      <p:pic>
        <p:nvPicPr>
          <p:cNvPr id="13" name="Picture 12" descr="eq_orth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46510"/>
            <a:ext cx="5303520" cy="730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342900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Because the columns are orthogonal and equal-norm, </a:t>
            </a:r>
            <a:r>
              <a:rPr sz="1350" b="1" i="0">
                <a:solidFill>
                  <a:srgbClr val="62E3F7"/>
                </a:solidFill>
                <a:latin typeface="Calibri"/>
              </a:rPr>
              <a:t>ℋᴴℋ collapses to a scaled identity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— every cross (interference) term is exactly zero.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Matched-filter decode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DB6D6"/>
                </a:solidFill>
                <a:latin typeface="Calibri"/>
              </a:rPr>
              <a:t>apply ℋᴴ to y</a:t>
            </a:r>
          </a:p>
        </p:txBody>
      </p:sp>
      <p:pic>
        <p:nvPicPr>
          <p:cNvPr id="17" name="Picture 16" descr="eq_mf_d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828032"/>
            <a:ext cx="4053191" cy="457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5779008"/>
            <a:ext cx="292608" cy="292608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Parallel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the 2×2 link splits into two independent scalar channels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81144" y="5779008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No interference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symbols decouple — detect s₁ and s₂ separately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93608" y="5779008"/>
            <a:ext cx="292608" cy="292608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Full diversity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each symbol sees gain |h₁|²+|h₂|², diversity order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F6A623"/>
                </a:solidFill>
                <a:latin typeface="Calibri"/>
              </a:rPr>
              <a:t>CONCEPT CHECK · QUIZ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Why decoding stays simple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Why can the Alamouti receiver detect s₁ and s₂ one at a time with simple linear processing?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Because there is no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Because the equivalent-channel columns are orthogonal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Because the transmitter knows the channel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Because only one antenna is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ANSWER · QUIZ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Why decoding stays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Why can the Alamouti receiver detect s₁ and s₂ one at a time with simple linear processing?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Because there is no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Because the equivalent-channel columns are orthogonal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2386584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Because the transmitter knows the channel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Because only one antenna is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Orthogonal columns make ℋᴴℋ a scaled identity, so the two symbols decouple — no joint search is needed.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WORKED EXAMPLE · ALAMOUTI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Decode an Alamouti block — 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h₁ = 1+j ,   h₂ = 1−j   (single receive antenna)</a:t>
            </a:r>
          </a:p>
        </p:txBody>
      </p:sp>
      <p:pic>
        <p:nvPicPr>
          <p:cNvPr id="7" name="Picture 6" descr="ex1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942" y="2743200"/>
            <a:ext cx="3712754" cy="20116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59689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Effective gain</a:t>
            </a:r>
          </a:p>
        </p:txBody>
      </p:sp>
      <p:pic>
        <p:nvPicPr>
          <p:cNvPr id="11" name="Picture 10" descr="eq_ex1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926080"/>
            <a:ext cx="3536198" cy="43891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51129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Orthogonal equivalent channel</a:t>
            </a:r>
          </a:p>
        </p:txBody>
      </p:sp>
      <p:pic>
        <p:nvPicPr>
          <p:cNvPr id="15" name="Picture 14" descr="eq_ex1_ort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3840480"/>
            <a:ext cx="3186176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0080" y="440740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42569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Decode</a:t>
            </a:r>
          </a:p>
        </p:txBody>
      </p:sp>
      <p:pic>
        <p:nvPicPr>
          <p:cNvPr id="19" name="Picture 18" descr="eq_ex1_d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4736592"/>
            <a:ext cx="2225164" cy="40233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" y="5285232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041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9671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Both symbols are recovered with </a:t>
            </a:r>
            <a:r>
              <a:rPr sz="1350" b="1" i="0">
                <a:solidFill>
                  <a:srgbClr val="34D399"/>
                </a:solidFill>
                <a:latin typeface="Calibri"/>
              </a:rPr>
              <a:t>no interference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, SNR scaled ×4 (6 dB) and diversity order 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9DB6D6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WHY IT WORKS · SNR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SNR after combining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From the matched filter:  </a:t>
            </a:r>
            <a:r>
              <a:rPr sz="1400" b="1" i="0">
                <a:solidFill>
                  <a:srgbClr val="62E3F7"/>
                </a:solidFill>
                <a:latin typeface="Calibri"/>
              </a:rPr>
              <a:t>ŝ = a s + ñ</a:t>
            </a:r>
          </a:p>
        </p:txBody>
      </p:sp>
      <p:pic>
        <p:nvPicPr>
          <p:cNvPr id="7" name="Picture 6" descr="equiv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920851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6118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Noise after the matched filter</a:t>
            </a:r>
          </a:p>
        </p:txBody>
      </p:sp>
      <p:pic>
        <p:nvPicPr>
          <p:cNvPr id="10" name="Picture 9" descr="eq_col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2593715" cy="384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60720" y="1572768"/>
            <a:ext cx="5943600" cy="2953512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Post-combining SNR</a:t>
            </a:r>
          </a:p>
        </p:txBody>
      </p:sp>
      <p:pic>
        <p:nvPicPr>
          <p:cNvPr id="13" name="Picture 12" descr="eq_orth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46510"/>
            <a:ext cx="5303520" cy="730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342900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Signal power grows as a², noise only as a — so </a:t>
            </a:r>
            <a:r>
              <a:rPr sz="1350" b="1" i="0">
                <a:solidFill>
                  <a:srgbClr val="62E3F7"/>
                </a:solidFill>
                <a:latin typeface="Calibri"/>
              </a:rPr>
              <a:t>one factor of a = |h₁|²+|h₂|² survives as SNR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.  A deep fade now has to hit both channels at once to hurt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Compare the contenders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DB6D6"/>
                </a:solidFill>
                <a:latin typeface="Calibri"/>
              </a:rPr>
              <a:t>same total power P</a:t>
            </a:r>
          </a:p>
        </p:txBody>
      </p:sp>
      <p:pic>
        <p:nvPicPr>
          <p:cNvPr id="17" name="Picture 16" descr="eq_mf_d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828032"/>
            <a:ext cx="4053191" cy="457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5779008"/>
            <a:ext cx="292608" cy="292608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Diversity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two independent |hᵢ|² terms in γ — the BER curve falls with slope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81144" y="5779008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No array 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the P/2 power split leaves Alamouti exactly 3 dB behind MRC 1×2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5532120"/>
            <a:ext cx="3593592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93608" y="5779008"/>
            <a:ext cx="292608" cy="292608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5088" y="56509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Average SNR unchanged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596188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E[γ] = P/σ², same as SISO — what shrinks is the fading variance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388FF"/>
                </a:solidFill>
                <a:latin typeface="Calibri"/>
              </a:rPr>
              <a:t>BEYOND ALAMOUTI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two antennas is special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 dirty="0" err="1">
                <a:solidFill>
                  <a:srgbClr val="FFFFFF"/>
                </a:solidFill>
                <a:latin typeface="Calibri"/>
              </a:rPr>
              <a:t>Alamouti</a:t>
            </a:r>
            <a:r>
              <a:rPr sz="1550" b="0" i="0" dirty="0">
                <a:solidFill>
                  <a:srgbClr val="FFFFFF"/>
                </a:solidFill>
                <a:latin typeface="Calibri"/>
              </a:rPr>
              <a:t> is an </a:t>
            </a:r>
            <a:r>
              <a:rPr sz="1550" b="1" i="0" dirty="0">
                <a:solidFill>
                  <a:srgbClr val="62E3F7"/>
                </a:solidFill>
                <a:latin typeface="Calibri"/>
              </a:rPr>
              <a:t>orthogonal STBC</a:t>
            </a:r>
            <a:r>
              <a:rPr sz="1550" b="0" i="0" dirty="0">
                <a:solidFill>
                  <a:srgbClr val="FFFFFF"/>
                </a:solidFill>
                <a:latin typeface="Calibri"/>
              </a:rPr>
              <a:t> — orthogonality buys full diversity and simple linear decoding. But for complex symbols that gift only extends so far.</a:t>
            </a:r>
          </a:p>
        </p:txBody>
      </p:sp>
      <p:pic>
        <p:nvPicPr>
          <p:cNvPr id="7" name="Picture 6" descr="rate_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5039828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2331720"/>
            <a:ext cx="5486400" cy="3063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5420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C2E0"/>
                </a:solidFill>
                <a:latin typeface="Calibri"/>
              </a:rPr>
              <a:t>The result  (complex constellations)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718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Nt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718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rate 1 —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7355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Alamouti, the only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3016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Nt = 3,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3016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rate 3/4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unavoidable rate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8853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DB6D6"/>
                </a:solidFill>
                <a:latin typeface="Calibri"/>
              </a:rPr>
              <a:t>any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288536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rate 1/2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902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always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474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>
                <a:solidFill>
                  <a:srgbClr val="62E3F7"/>
                </a:solidFill>
                <a:latin typeface="Calibri"/>
              </a:rPr>
              <a:t>→ Alamouti uniquely gives full rate + full diversity.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B388FF"/>
                </a:solidFill>
                <a:latin typeface="Calibri"/>
              </a:rPr>
              <a:t>For more antennas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DB6D6"/>
                </a:solidFill>
                <a:latin typeface="Calibri"/>
              </a:rPr>
              <a:t>relax one goal: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6692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2E3F7"/>
                </a:solidFill>
                <a:latin typeface="Calibri"/>
              </a:rPr>
              <a:t>Quasi-orthogonal STBC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9710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more rate, slight interference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56692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Spatial multiplexing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59710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max rate, no built-in diversity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56692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6A623"/>
                </a:solidFill>
                <a:latin typeface="Calibri"/>
              </a:rPr>
              <a:t>CSIT precoding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59710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use feedback (SVD / water-filling)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Diversity order of Alamouti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39</a:t>
            </a:r>
          </a:p>
        </p:txBody>
      </p:sp>
      <p:pic>
        <p:nvPicPr>
          <p:cNvPr id="6" name="Picture 5" descr="ber_s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38010"/>
            <a:ext cx="5120640" cy="37306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0C2E0"/>
                </a:solidFill>
                <a:latin typeface="Calibri"/>
              </a:rPr>
              <a:t>Special case  (Nt = 2, Nr =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4D399"/>
                </a:solidFill>
                <a:latin typeface="Calibri"/>
              </a:rPr>
              <a:t>diversity order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0C2E0"/>
                </a:solidFill>
                <a:latin typeface="Calibri"/>
              </a:rPr>
              <a:t>General case</a:t>
            </a:r>
          </a:p>
        </p:txBody>
      </p:sp>
      <p:pic>
        <p:nvPicPr>
          <p:cNvPr id="11" name="Picture 10" descr="eq_di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2232561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02920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2E3F7"/>
                </a:solidFill>
                <a:latin typeface="Calibri"/>
              </a:rPr>
              <a:t>Same diversity slope as MRT — without any CSIT.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CONCEPT CHECK · QUIZ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Count the diversity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An Alamouti system with 2 transmit and 2 receive antennas achieves what diversity order?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ANSWER · QUIZ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Count the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An Alamouti system with 2 transmit and 2 receive antennas achieves what diversity order?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758184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3739896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Diversity order = Nₜ × Nᵣ = 2 × 2 = 4 (equivalently 2Nᵣ). At high SNR the BER curve falls with a slope of 4.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Alamouti is special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157984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4751" y="251460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4751" y="25420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4D399"/>
                </a:solidFill>
                <a:latin typeface="Calibri"/>
              </a:rPr>
              <a:t>Full diversity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order 2Nr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5" y="2194560"/>
            <a:ext cx="2157984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21607" y="2514600"/>
            <a:ext cx="548640" cy="54864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7" y="25420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5" y="329184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C2E0"/>
                </a:solidFill>
                <a:latin typeface="Calibri"/>
              </a:rPr>
              <a:t>Full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5" y="379476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1 symbol /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194560"/>
            <a:ext cx="2157984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98464" y="2514600"/>
            <a:ext cx="548640" cy="54864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98464" y="25420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29184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388FF"/>
                </a:solidFill>
                <a:latin typeface="Calibri"/>
              </a:rPr>
              <a:t>No CSIT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79476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blind at the TX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0648" y="2194560"/>
            <a:ext cx="2157984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75319" y="2514600"/>
            <a:ext cx="548640" cy="5486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25420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29184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6A623"/>
                </a:solidFill>
                <a:latin typeface="Calibri"/>
              </a:rPr>
              <a:t>Simple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79476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linear, decoupled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47504" y="2194560"/>
            <a:ext cx="2157984" cy="237744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552176" y="2514600"/>
            <a:ext cx="548640" cy="548640"/>
          </a:xfrm>
          <a:prstGeom prst="ellipse">
            <a:avLst/>
          </a:prstGeom>
          <a:solidFill>
            <a:srgbClr val="62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52176" y="25420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29184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62E3F7"/>
                </a:solidFill>
                <a:latin typeface="Calibri"/>
              </a:rPr>
              <a:t>Orthogonal STBC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79476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6D6"/>
                </a:solidFill>
                <a:latin typeface="Calibri"/>
              </a:rPr>
              <a:t>clean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FFFFFF"/>
                </a:solidFill>
                <a:latin typeface="Calibri"/>
              </a:rPr>
              <a:t>Diversity gain with the simplicity of an open-loop scheme — that is its lasting impact.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Beamforming vs Alamouti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931920" cy="54864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840480" cy="548640"/>
          </a:xfrm>
          <a:prstGeom prst="rect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Beamforming (MRT)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828800"/>
            <a:ext cx="3383280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Alamouti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77440"/>
            <a:ext cx="393192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CSIT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377440"/>
            <a:ext cx="384048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377440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2E3F7"/>
                </a:solidFill>
                <a:latin typeface="Calibri"/>
              </a:rP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377440"/>
            <a:ext cx="338328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2377440"/>
            <a:ext cx="3017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4D399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80944"/>
            <a:ext cx="393192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980944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Diversity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80944"/>
            <a:ext cx="384048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2980944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2E3F7"/>
                </a:solidFill>
                <a:latin typeface="Calibri"/>
              </a:rPr>
              <a:t>Full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980944"/>
            <a:ext cx="338328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980944"/>
            <a:ext cx="3017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4D399"/>
                </a:solidFill>
                <a:latin typeface="Calibri"/>
              </a:rPr>
              <a:t>Full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584448"/>
            <a:ext cx="393192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584448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Array gain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584448"/>
            <a:ext cx="384048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3584448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2E3F7"/>
                </a:solidFill>
                <a:latin typeface="Calibri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584448"/>
            <a:ext cx="338328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3584448"/>
            <a:ext cx="3017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4D399"/>
                </a:solidFill>
                <a:latin typeface="Calibr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87952"/>
            <a:ext cx="393192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187952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Complexity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187952"/>
            <a:ext cx="384048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00600" y="4187952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2E3F7"/>
                </a:solidFill>
                <a:latin typeface="Calibri"/>
              </a:rPr>
              <a:t>Moderate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187952"/>
            <a:ext cx="338328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41080" y="4187952"/>
            <a:ext cx="3017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4D399"/>
                </a:solidFill>
                <a:latin typeface="Calibri"/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91456"/>
            <a:ext cx="393192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791456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791456"/>
            <a:ext cx="384048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0600" y="4791456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2E3F7"/>
                </a:solidFill>
                <a:latin typeface="Calibri"/>
              </a:rPr>
              <a:t>Needed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791456"/>
            <a:ext cx="3383280" cy="603504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41080" y="4791456"/>
            <a:ext cx="3017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4D399"/>
                </a:solidFill>
                <a:latin typeface="Calibri"/>
              </a:rPr>
              <a:t>None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394960"/>
            <a:ext cx="393192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394960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394960"/>
            <a:ext cx="384048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00600" y="5394960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2E3F7"/>
                </a:solidFill>
                <a:latin typeface="Calibri"/>
              </a:rPr>
              <a:t>Harder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5394960"/>
            <a:ext cx="3383280" cy="603504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41080" y="5394960"/>
            <a:ext cx="3017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4D399"/>
                </a:solidFill>
                <a:latin typeface="Calibri"/>
              </a:rPr>
              <a:t>Simple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Same diversity, different cost: closed-loop SNR boost vs open-loop simplicity.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F6A623"/>
                </a:solidFill>
                <a:latin typeface="Calibri"/>
              </a:rPr>
              <a:t>CONCEPT CHECK · QUIZ </a:t>
            </a:r>
            <a:r>
              <a:rPr lang="en-US" sz="1300" b="1" i="0" dirty="0">
                <a:solidFill>
                  <a:srgbClr val="F6A623"/>
                </a:solidFill>
                <a:latin typeface="Calibri"/>
              </a:rPr>
              <a:t>6</a:t>
            </a:r>
            <a:endParaRPr sz="1300" b="1" i="0" dirty="0">
              <a:solidFill>
                <a:srgbClr val="F6A623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Pick a diversity scheme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receiver is moving fast and reliable channel feedback to the transmitter is unavailable. Which transmit-diversity scheme fits best?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MRT beamforming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Alamouti STBC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Single antenna (SISO)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SVD precoding + water-filling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9DB6D6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ANSWER ·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Why Alamouti fits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A receiver is moving fast and reliable channel feedback to the transmitter is unavailable. Which transmit-diversity scheme fits best?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MRT beamforming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Alamouti STBC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2386584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Single antenna (SISO)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SVD precoding + water-filling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Alamouti is open-loop — no CSIT needed — yet it gives full diversity, full rate and simple linear decoding. MRT (A) and SVD precoding (D) both need channel knowledge / feedback at the transmitter; SISO (C) provides no diversity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9DB6D6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BEYOND ALAMOUTI · OSTBC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Generalising to more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Alamouti is the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unique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rate-1, full-diversity, linearly-decodable complex code for 2 antennas. The generalisation is the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Orthogonal STBC (OSTBC)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— an Nₜ-antenna code matrix 𝒢(s) whose columns stay orthogonal: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697480"/>
            <a:ext cx="7406640" cy="10058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_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174" y="2852928"/>
            <a:ext cx="245317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233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Orthogonality ⇒ the symbols decouple — single-symbol linear ML decoding (as in Alamouti).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Full diversity Nₜ × Nᵣ is automatic (every symbol-difference matrix is full rank).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So the goal for Nₜ = 3, 4, … is to keep this orthogonality. Can we — at full rate?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rate-3/4 code for 3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9DB6D6"/>
                </a:solidFill>
                <a:latin typeface="Calibri"/>
              </a:rPr>
              <a:t>48</a:t>
            </a:r>
          </a:p>
        </p:txBody>
      </p:sp>
      <p:pic>
        <p:nvPicPr>
          <p:cNvPr id="6" name="Picture 5" descr="g3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734" y="1783080"/>
            <a:ext cx="4847411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 symbols  (s₁, s₂, s₃)  over 4 time slots: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8521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Rate = 3 symbols / 4 slots = 3/4.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Columns are orthogonal ⇒ 𝒢ᴴ𝒢 = (|s₁|²+|s₂|²+|s₃|²) I.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Full diversity 3 × Nᵣ — every symbol-difference is full rank.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Still single-symbol linear ML decoding, just like Alamouti.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0C2E0"/>
                </a:solidFill>
                <a:latin typeface="Calibri"/>
              </a:rPr>
              <a:t>▸  </a:t>
            </a:r>
            <a:r>
              <a:rPr sz="1450">
                <a:solidFill>
                  <a:srgbClr val="FFFFFF"/>
                </a:solidFill>
                <a:latin typeface="Calibri"/>
              </a:rPr>
              <a:t>A rate-3/4 design for 4 antennas follows the same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7784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Trade-off: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orthogonality and full diversity are kept — but the rate has dropped from 1 to 3/4.</a:t>
            </a:r>
          </a:p>
        </p:txBody>
      </p:sp>
    </p:spTree>
    <p:extLst>
      <p:ext uri="{BB962C8B-B14F-4D97-AF65-F5344CB8AC3E}">
        <p14:creationId xmlns:p14="http://schemas.microsoft.com/office/powerpoint/2010/main" val="17015327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rate-3/4 code for 4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3 symbols  (s₁, s₂, s₃)  over 4 slots: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20624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Rate = 3/4  (same as the 3-antenna code).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Orthogonal ⇒ 𝒢ᴴ𝒢 = (|s₁|²+|s₂|²+|s₃|²) 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Full diversity 4 × Nᵣ.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Still single-symbol linear ML decoding.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Needs √2 scaling and Re/Im combinations — less clean than 3 antennas.</a:t>
            </a:r>
          </a:p>
        </p:txBody>
      </p:sp>
      <p:pic>
        <p:nvPicPr>
          <p:cNvPr id="8" name="Picture 7" descr="cx_h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14297"/>
            <a:ext cx="6675120" cy="28122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53212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Same trade-off: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orthogonality and full diversity for 4 antennas, at rate 3/4 — the extra antenna costs a busier code.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rate-1/2 code for 3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4 symbols  (s₁…s₄)  over 8 time slots: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64008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Rate = 4 symbols / 8 slots = 1/2.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Built by stacking a design and its conjugate — all entries are just symbols and conjugates (no scaling, no combinations).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Orthogonal ⇒ full diversity 3 × Nᵣ, single-symbol linear decoding.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The simplest full-diversity complex code — the price is the low rate.</a:t>
            </a:r>
          </a:p>
        </p:txBody>
      </p:sp>
      <p:pic>
        <p:nvPicPr>
          <p:cNvPr id="8" name="Picture 7" descr="cx_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83" y="1554480"/>
            <a:ext cx="2455432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62356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Why use it: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cleanest possible construction and it exists for any Nₜ — trade rate for simplicity.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rate-1/2 code for 4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4 symbols  (s₁…s₄)  over 8 time slots: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60350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Rate = 4 / 8 = 1/2.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Same stack-and-conjugate recipe as the 3-antenna code, now with a 4th column.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Orthogonal ⇒ 𝒢ᴴ𝒢 = 2(Σ|sₖ|²) I  ⇒  full diversity 4 × Nᵣ.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Single-symbol linear ML decoding throughout.</a:t>
            </a:r>
          </a:p>
        </p:txBody>
      </p:sp>
      <p:pic>
        <p:nvPicPr>
          <p:cNvPr id="8" name="Picture 7" descr="cx_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768" y="1554480"/>
            <a:ext cx="2955663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62356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Rate ladder for 4 antennas: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rate 1/2 (clean, this slide)  →  rate 3/4 (busier H₄).  Higher rate always costs code complexity.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Standard complex OSTBC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146303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Antennas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39" y="1828800"/>
            <a:ext cx="265176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42032" y="18288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137160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18288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173736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828800"/>
            <a:ext cx="146303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Symbols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155448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8288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828800"/>
            <a:ext cx="201168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57232" y="18288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Diversity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31720"/>
            <a:ext cx="17373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331720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39" y="2331720"/>
            <a:ext cx="26517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42032" y="233172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Alamouti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331720"/>
            <a:ext cx="137160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3792" y="23317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31720"/>
            <a:ext cx="17373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2331720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331720"/>
            <a:ext cx="155448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233172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331720"/>
            <a:ext cx="201168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57232" y="23317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full · 2Nᵣ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898648"/>
            <a:ext cx="173736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2898648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39" y="2898648"/>
            <a:ext cx="265176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42032" y="289864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rate-3/4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2898648"/>
            <a:ext cx="137160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93792" y="2898648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898648"/>
            <a:ext cx="173736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2898648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898648"/>
            <a:ext cx="155448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02752" y="289864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3/4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2898648"/>
            <a:ext cx="201168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57232" y="289864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full · 3Nᵣ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465576"/>
            <a:ext cx="17373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1" y="3465576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39" y="3465576"/>
            <a:ext cx="26517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42032" y="3465576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C2E0"/>
                </a:solidFill>
                <a:latin typeface="Calibri"/>
              </a:rPr>
              <a:t>rate-3/4  (H₄)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3465576"/>
            <a:ext cx="137160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93792" y="3465576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465576"/>
            <a:ext cx="17373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3465576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465576"/>
            <a:ext cx="155448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02752" y="3465576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3/4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3465576"/>
            <a:ext cx="201168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57232" y="3465576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full · 4Nᵣ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032504"/>
            <a:ext cx="173736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1" y="4032504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39" y="4032504"/>
            <a:ext cx="265176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42032" y="4032504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rate-1/2  (G₃)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4032504"/>
            <a:ext cx="137160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93792" y="4032504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032504"/>
            <a:ext cx="173736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65392" y="4032504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4032504"/>
            <a:ext cx="155448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02752" y="4032504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1/2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4032504"/>
            <a:ext cx="201168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57232" y="4032504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full · 3Nᵣ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4599431"/>
            <a:ext cx="17373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1" y="4599431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77439" y="4599431"/>
            <a:ext cx="26517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542032" y="4599431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388FF"/>
                </a:solidFill>
                <a:latin typeface="Calibri"/>
              </a:rPr>
              <a:t>rate-1/2  (G₄)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0" y="4599431"/>
            <a:ext cx="137160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193792" y="4599431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4599431"/>
            <a:ext cx="173736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65392" y="4599431"/>
            <a:ext cx="14630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4599431"/>
            <a:ext cx="155448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02752" y="4599431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1/2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92640" y="4599431"/>
            <a:ext cx="201168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857232" y="4599431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full · 4Nᵣ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2578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All of them: orthogonal columns ⇒ full diversity and single-symbol linear decoding.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" y="571500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14400" y="57150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The pattern: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complex OSTBCs give rate 1 only at Nₜ = 2 (Alamouti).  For 3–4 antennas the best is rate 3/4; rate 1/2 is the clean fallback for any Nₜ.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THE RATE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rate limit of complex OSTBCs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Key result: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a full-rate (rate-1) complex orthogonal design exists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only for Nₜ = 2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.  Beyond that, the rate must drop:</a:t>
            </a:r>
          </a:p>
        </p:txBody>
      </p:sp>
      <p:pic>
        <p:nvPicPr>
          <p:cNvPr id="7" name="Picture 6" descr="ostbc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6023565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2286000"/>
            <a:ext cx="4206240" cy="13716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24505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Maximal-rate formula</a:t>
            </a:r>
          </a:p>
        </p:txBody>
      </p:sp>
      <p:pic>
        <p:nvPicPr>
          <p:cNvPr id="10" name="Picture 9" descr="o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97437"/>
            <a:ext cx="3566160" cy="4059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34564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DB6D6"/>
                </a:solidFill>
                <a:latin typeface="Calibri"/>
              </a:rPr>
              <a:t>(Liang, 2003)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794760"/>
            <a:ext cx="4206240" cy="17830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3931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Rate by antenna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43400"/>
            <a:ext cx="374903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C2E0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Nₜ = 2  →  rate 1  (Alamouti)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C2E0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Nₜ = 3, 4  →  3/4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C2E0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Nₜ = 5, 6  →  2/3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C2E0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Nₜ = 7, 8  →  5/8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15000"/>
            <a:ext cx="1106424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Note: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real OSTBCs (PAM) reach rate 1 for Nₜ = 2, 4, 8 — but complex constellations only at Nₜ = 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SIMULATION ·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MATLAB: comparing complex OSTBCs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4D399"/>
                </a:solidFill>
                <a:latin typeface="Consolas"/>
              </a:rPr>
              <a:t>% Complex OSTBC comparison -- QPSK over Rayleigh fading, one RX antenna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4D399"/>
                </a:solidFill>
                <a:latin typeface="Consolas"/>
              </a:rPr>
              <a:t>% Orthogonality =&gt; exact equivalent scalar channel:  gamma = a*(snr/Nt)*||h||^2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schemes = { 'Alamouti 2Tx, rate 1',2,1;  'OSTBC 3Tx, rate 3/4',3,1;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    'OSTBC 4Tx, rate 3/4',4,1;  'OSTBC 4Tx, rate 1/2',4,2 };  </a:t>
            </a:r>
            <a:r>
              <a:rPr sz="1150">
                <a:solidFill>
                  <a:srgbClr val="34D399"/>
                </a:solidFill>
                <a:latin typeface="Consolas"/>
              </a:rPr>
              <a:t>% {name,Nt,a}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SNRdB = 0:2:20;  N = 2e5;  ber = zeros(4,numel(SNRdB));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for m = 1:4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Nt = schemes{m,2};  a = schemes{m,3};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for k = 1:numel(SNRdB)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snr = 10^(SNRdB(k)/10);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h = (randn(N,Nt)+1i*randn(N,Nt))/sqrt(2);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g = a*snr/Nt .* sum(abs(h).^2,2);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% post-combining SNR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s = ((2*(rand(N,1)&gt;.5)-1)+1i*(2*(rand(N,1)&gt;.5)-1))/sqrt(2);  </a:t>
            </a:r>
            <a:r>
              <a:rPr sz="1150">
                <a:solidFill>
                  <a:srgbClr val="34D399"/>
                </a:solidFill>
                <a:latin typeface="Consolas"/>
              </a:rPr>
              <a:t>% QPSK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n = (randn(N,1)+1i*randn(N,1))/sqrt(2);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y = sqrt(g).*s + n;            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% decoupled symbol channel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ber(m,k) = mean([real(y)&lt;0 ~= (real(s)&lt;0); imag(y)&lt;0 ~= (imag(s)&lt;0)]);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end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end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semilogy(SNRdB,ber,'-s','LineWidth',2);  grid on;  legend(schemes{:,1})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xlabel('SNR (dB)');  ylabel('BER');  title('Complex OSTBC comparison')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SIMULATION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Python: comparing complex OSTBCs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import numpy as np, matplotlib.pyplot as plt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4D399"/>
                </a:solidFill>
                <a:latin typeface="Consolas"/>
              </a:rPr>
              <a:t># Complex OSTBC comparison -- QPSK over Rayleigh fading, one RX antenna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4D399"/>
                </a:solidFill>
                <a:latin typeface="Consolas"/>
              </a:rPr>
              <a:t># Orthogonality =&gt; exact equivalent scalar channel: gamma = a*(snr/Nt)*||h||^2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schemes = [('Alamouti 2Tx, rate 1',2,1), ('OSTBC 3Tx, rate 3/4',3,1),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   ('OSTBC 4Tx, rate 3/4',4,1), ('OSTBC 4Tx, rate 1/2',4,2)]  </a:t>
            </a:r>
            <a:r>
              <a:rPr sz="1150">
                <a:solidFill>
                  <a:srgbClr val="34D399"/>
                </a:solidFill>
                <a:latin typeface="Consolas"/>
              </a:rPr>
              <a:t># (name,Nt,a)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SNRdB = np.arange(0, 21, 2);  N = 200_000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for name, Nt, a in schemes: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ber = []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for snr_db in SNRdB: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snr = 10**(snr_db/10)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h = (np.random.randn(N,Nt)+1j*np.random.randn(N,Nt))/np.sqrt(2)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g = a*snr/Nt * np.sum(np.abs(h)**2, axis=1)   </a:t>
            </a:r>
            <a:r>
              <a:rPr sz="1150">
                <a:solidFill>
                  <a:srgbClr val="34D399"/>
                </a:solidFill>
                <a:latin typeface="Consolas"/>
              </a:rPr>
              <a:t># post-combining SNR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s = ((2*(np.random.rand(N)&gt;.5)-1)+1j*(2*(np.random.rand(N)&gt;.5)-1))/np.sqrt(2)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n = (np.random.randn(N)+1j*np.random.randn(N))/np.sqrt(2)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y = np.sqrt(g)*s + n                          </a:t>
            </a:r>
            <a:r>
              <a:rPr sz="1150">
                <a:solidFill>
                  <a:srgbClr val="34D399"/>
                </a:solidFill>
                <a:latin typeface="Consolas"/>
              </a:rPr>
              <a:t># decoupled symbol channel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    ber.append(np.mean([(y.real&lt;0)!=(s.real&lt;0), (y.imag&lt;0)!=(s.imag&lt;0)]))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    plt.semilogy(SNRdB, ber, '-s', label=name)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plt.legend();  plt.grid(True)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E3F7"/>
                </a:solidFill>
                <a:latin typeface="Consolas"/>
              </a:rPr>
              <a:t>plt.xlabel('SNR (dB)');  plt.ylabel('BER');  plt.title('Complex OSTBC comparison')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SIMULATION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BER: comparing complex OSTBCs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ber_compa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3401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curves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423160"/>
            <a:ext cx="274320" cy="27432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SISO (1 Tx)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1 — the no-diversity reference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264408"/>
            <a:ext cx="274320" cy="2743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Alamouti 2 Tx · rate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2 — full diversity at full rate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105656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OSTBC 3 Tx · rate 3/4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3 — one more antenna, steeper fall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946904"/>
            <a:ext cx="274320" cy="2743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8828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OSTBC 4 Tx · 3/4 &amp; 1/2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937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both slope 4 — parallel curves, 3 dB apart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71500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57150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2E3F7"/>
                </a:solidFill>
                <a:latin typeface="Calibri"/>
              </a:rPr>
              <a:t>Antennas set the slope; the code sets the shift — rate-1/2 G₄ collects 2× energy per symbol (+3 dB).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SIMULATION · INTERPRETATION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the slopes are telling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pb_link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208776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783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plot at BER = 10⁻³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4389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Slope = diversity order: SISO 1, Alamouti 2, the 3 Tx code 3, both 4 Tx codes 4 — full Nₜ × Nᵣ every time.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SISO needs ≈ 27 dB; Alamouti reaches it at ≈ 17 dB — the first extra antenna buys ~10 dB.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3 Tx rate-3/4 ≈ 14.4 dB, 4 Tx rate-3/4 ≈ 13.1 dB — gains of ~2.7 dB, then ~1.3 dB: diminishing returns.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The 4 Tx curves are parallel, exactly 3 dB apart: G₄ sends each symbol twice (𝒢ᴴ𝒢 = 2Σ|sₖ|²I) — energy gain, no slope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Verdict: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diversity order sets the slope and dominates at high SNR; energy per symbol only slides the curve sideways.  The first antennas are worth the most — beyond four, every extra dB gets expensive.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SIMULATION · INTERPRETATION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the plot hides: the rate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iv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71553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Same power ≠ same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8600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All five curves use QPSK at equal transmit power — so throughput differs: Alamouti delivers 2 b/s/Hz, the rate-3/4 codes 1.5, and G₄ only 1.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At fixed spectral efficiency the rate loss must be repaid with a bigger constellation — G₄ needs 16-QAM to match Alamouti's 2 b/s/Hz — costing several dB and eating into its 3 dB head start.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The diversity slope survives any fair comparison; the dB gaps between curves do not — always re-rank the schemes at the spectral efficiency you actually need.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2 antennas → Alamouti, always.  Beyond that: rate-3/4 when throughput matters, rate-1/2 when raw reliability at low rate is the mission — and re-check the ranking at equal b/s/Hz before committing.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BEYOND OSTBC · QOSTBC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Quasi-orthogonal STBC: back to rate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rate penalty hurts.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Quasi-orthogonal STBCs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(Jafarkhani, 2001) relax full orthogonality to win back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rate 1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for 4 antennas.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5760720" cy="18288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Built from two Alamouti blocks (ABBA)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X =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[ A₁₂   A₃₄ ;  −A₃₄*   A₁₂* 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each Aᵢⱼ is a 2×2 Alamouti block — so 4 symbols ride in one 4×4 matrix (rate 1).</a:t>
            </a:r>
          </a:p>
        </p:txBody>
      </p:sp>
      <p:pic>
        <p:nvPicPr>
          <p:cNvPr id="10" name="Picture 9" descr="qostbc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1692"/>
            <a:ext cx="5029200" cy="41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234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QOSTBC · DECODING &amp;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Pairwise decoding and the rotation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columns are orthogonal in pairs, not fully — so the symbols decouple into </a:t>
            </a:r>
            <a:r>
              <a:rPr sz="1450" b="1" i="0">
                <a:solidFill>
                  <a:srgbClr val="62E3F7"/>
                </a:solidFill>
                <a:latin typeface="Calibri"/>
              </a:rPr>
              <a:t>two pairs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, not singletons:</a:t>
            </a:r>
          </a:p>
        </p:txBody>
      </p:sp>
      <p:pic>
        <p:nvPicPr>
          <p:cNvPr id="7" name="Picture 6" descr="qostbc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18" y="2148840"/>
            <a:ext cx="4787682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79476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B388FF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Decoding is pairwise:  jointly search |𝒜|² per pair, not |𝒜|⁴ — cheaper than full ML, dearer than OSTBC.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B388FF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The catch:  plain QOSTBC does NOT reach full diversity (some symbol differences give zero coding gain).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B388FF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Fix:  rotate one pair's constellation (s₃, s₄) by an optimised angle → full diversity 4Nᵣ restored, still rate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Net: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QOSTBC buys rate 1 for 4 antennas — paid for with pairwise (not single-symbol) decoding and a constellation rotation.</a:t>
            </a:r>
          </a:p>
        </p:txBody>
      </p:sp>
    </p:spTree>
    <p:extLst>
      <p:ext uri="{BB962C8B-B14F-4D97-AF65-F5344CB8AC3E}">
        <p14:creationId xmlns:p14="http://schemas.microsoft.com/office/powerpoint/2010/main" val="35580957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QOSTBC · SIMULATION ·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MATLAB: QOSTBC vs OSTBC at equal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512064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% QOSTBC (ABBA, 4 Tx, rate 1, QPSK)  vs  OSTBC G4 (4 Tx, rate 1/2, 16-QAM): both 2 b/s/Hz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% Equivalent model y = a*H*s + n;  H'*H = ||h||^2*I + beta*P  =&gt;  ML pairs (s1,s4),(s2,s3)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QP = [1+1i 1-1i -1+1i -1-1i]/sqrt(2);  cj = @conj;  SNRdB = 0:2:20;  N = 2e5;  ber = zeros(2,11);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rot = exp(1i*pi/4);   </a:t>
            </a:r>
            <a:r>
              <a:rPr sz="950">
                <a:solidFill>
                  <a:srgbClr val="34D399"/>
                </a:solidFill>
                <a:latin typeface="Consolas"/>
              </a:rPr>
              <a:t>% rotation on s3,s4 restores full diversity; rot = 1 -&gt; slope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for k = 1:numel(SNRdB)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snr = 10^(SNRdB(k)/10);  amp = sqrt(snr/4);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h = (randn(N,4)+1i*randn(N,4))/sqrt(2);  s = QP(randi(4,N,4));  s(:,3:4) = rot*s(:,3:4);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h1 = h(:,1);  h2 = h(:,2);  h3 = h(:,3);  h4 = h(:,4);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Y = amp*[sum(h.*s,2), cj(h2).*s(:,1)-cj(h1).*s(:,2)+cj(h4).*s(:,3)-cj(h3).*s(:,4),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cj(h3).*s(:,1)+cj(h4).*s(:,2)-cj(h1).*s(:,3)-cj(h2).*s(:,4),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h4.*s(:,1)-h3.*s(:,2)-h2.*s(:,3)+h1.*s(:,4)] + (randn(N,4)+1i*randn(N,4))/sqrt(2);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z = [cj(h1).*Y(:,1)+h2.*Y(:,2)+h3.*Y(:,3)+cj(h4).*Y(:,4), ...   </a:t>
            </a:r>
            <a:r>
              <a:rPr sz="950">
                <a:solidFill>
                  <a:srgbClr val="34D399"/>
                </a:solidFill>
                <a:latin typeface="Consolas"/>
              </a:rPr>
              <a:t>% matched filter H'Y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cj(h2).*Y(:,1)-h1.*Y(:,2)+h4.*Y(:,3)-cj(h3).*Y(:,4),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cj(h3).*Y(:,1)+h4.*Y(:,2)-h1.*Y(:,3)-cj(h2).*Y(:,4),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cj(h4).*Y(:,1)-h3.*Y(:,2)-h2.*Y(:,3)+cj(h1).*Y(:,4)];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beta = 2*real(cj(h1).*h4 - h2.*cj(h3));  errs = 0;  P = [1 4 1; 2 3 -1];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for p = 1:2,  i = P(p,1);  j = P(p,2);  sg = P(p,3);  M = inf(N,1);  D = zeros(N,2);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for c1 = QP, for c2 = rot*QP   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% 16-pair ML; |c| = 1: a-term constant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m = sg*2*amp*beta*real(cj(c1)*c2) - 2*real(cj(z(:,i))*c1 + cj(z(:,j))*c2);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w = m &lt; M;  M(w) = m(w);  D(w,1) = c1;  D(w,2) = c2;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end,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t = [s(:,i), s(:,j)/rot];  D(:,2) = D(:,2)/rot;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errs = errs + sum(sum((real(D)&lt;0) ~= (real(t)&lt;0))) + sum(sum((imag(D)&lt;0) ~= (imag(t)&lt;0)));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end,  ber(1,k) = errs/(8*N);     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% 8 bits per 4-slot block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g = 2*snr/4*sum(abs((randn(N,4)+1i*randn(N,4))/sqrt(2)).^2, 2);  </a:t>
            </a:r>
            <a:r>
              <a:rPr sz="950">
                <a:solidFill>
                  <a:srgbClr val="34D399"/>
                </a:solidFill>
                <a:latin typeface="Consolas"/>
              </a:rPr>
              <a:t>% OSTBC G4: scalar channel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lv = [-3 -1 1 3]/sqrt(10);  GR = [0 1 3 2];  ii = randi(4,N,1);  qq = randi(4,N,1);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y = (sqrt(g).*(lv(ii)+1i*lv(qq)) + (randn(N,1)+1i*randn(N,1))/sqrt(2))./sqrt(g);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di = min(max(round((real(y)*sqrt(10)+3)/2),0),3)+1;  dq = min(max(round((imag(y)*sqrt(10)+3)/2),0),3)+1;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e = bitxor(GR(ii),GR(di)) + 4*bitxor(GR(qq),GR(dq));  nb = 0;   </a:t>
            </a:r>
            <a:r>
              <a:rPr sz="950">
                <a:solidFill>
                  <a:srgbClr val="34D399"/>
                </a:solidFill>
                <a:latin typeface="Consolas"/>
              </a:rPr>
              <a:t>% Gray 16-QAM bit errors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for b = 0:3, nb = nb + sum(bitand(floor(e/2^b),1)); end,  ber(2,k) = nb/(4*N);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semilogy(SNRdB,ber,'-s','LineWidth',1.5); grid on; xlabel('SNR (dB)'); ylabel('BER (2 b/s/Hz)')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legend('QOSTBC + \pi/4 rotation, rate 1', 'OSTBC G_4 + 16-QAM, rate 1/2')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QOSTBC · SIMULATION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Python: QOSTBC vs OSTBC at equal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512064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846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import numpy as np, matplotlib.pyplot as plt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# QOSTBC (ABBA, 4 Tx, rate 1, QPSK)  vs  OSTBC G4 (4 Tx, rate 1/2, 16-QAM): both 2 b/s/Hz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# Equivalent model y = a*H s + n;  H'H = ||h||^2 I + beta*P  =&gt;  ML pairs (s1,s4),(s2,s3)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rng = np.random.default_rng(1); QP = np.array([1+1j, 1-1j, -1+1j, -1-1j])/np.sqrt(2)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rot = np.exp(1j*np.pi/4)  </a:t>
            </a:r>
            <a:r>
              <a:rPr sz="950">
                <a:solidFill>
                  <a:srgbClr val="34D399"/>
                </a:solidFill>
                <a:latin typeface="Consolas"/>
              </a:rPr>
              <a:t># rotation on s3,s4 restores full diversity; rot = 1 -&gt; slope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def qostbc_ber(snr, N):                 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pairwise ML decoding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c = np.conj; amp = np.sqrt(snr/4)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h1,h2,h3,h4 = (rng.standard_normal((4,N))+1j*rng.standard_normal((4,N)))/np.sqrt(2)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H = np.stack([np.stack([h1,h2,h3,h4],-1), np.stack([c(h2),-c(h1),c(h4),-c(h3)],-1),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           np.stack([c(h3),c(h4),-c(h1),-c(h2)],-1), np.stack([h4,-h3,-h2,h1],-1)],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s = QP[rng.integers(0,4,(N,4))]; s[:,2:] *= rot       </a:t>
            </a:r>
            <a:r>
              <a:rPr sz="950">
                <a:solidFill>
                  <a:srgbClr val="34D399"/>
                </a:solidFill>
                <a:latin typeface="Consolas"/>
              </a:rPr>
              <a:t># rotate s3, s4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y = amp*np.einsum('nij,nj-&gt;ni',H,s) + (rng.standard_normal((N,4))+1j*rng.standard_normal((N,4)))/np.sqrt(2)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z = np.einsum('nij,ni-&gt;nj', c(H), y)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matched filter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beta = 2*np.real(c(h1)*h4 - h2*c(h3)); errs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cand = np.array([[c1, rot*c2] for c1 in QP for c2 in QP])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the 16 symbol pairs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for i,j,sg in [(0,3,1),(1,2,-1)]:   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unit-energy PSK: a-term constant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 m = (sg*2*amp*beta*np.real(c(cand[:,:1])*cand[:,1:])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      - 2*np.real(c(cand[:,:1])*z[:,i] + c(cand[:,1:])*z[:,j]))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 d = cand[np.argmin(m,0)]; d[:,1] /= rot; t = np.stack([s[:,i], s[:,j]/rot],-1)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    errs += ((d.real&lt;0)!=(t.real&lt;0)).sum() + ((d.imag&lt;0)!=(t.imag&lt;0)).sum()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return errs/(8*N)                   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8 bits per 4-slot block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def g4_ber(snr, N):                           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OSTBC G4: exact scalar channel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g = 2*snr/4*np.sum(np.abs(rng.standard_normal((N,4))+1j*rng.standard_normal((N,4)))**2/2,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lv = np.array([-3,-1,1,3])/np.sqrt(10); GR = np.array([0,1,3,2]); ii, qq = rng.integers(0,4,(2,N))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y = (np.sqrt(g)*(lv[ii]+1j*lv[qq]) + (rng.standard_normal(N)+1j*rng.standard_normal(N))/np.sqrt(2))/np.sqrt(g)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di, dq = (np.clip(np.round((v*np.sqrt(10)+3)/2),0,3).astype(int) for v in (y.real, y.imag))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e = (GR[ii]^GR[di]) | ((GR[qq]^GR[dq])&lt;&lt;2)            </a:t>
            </a:r>
            <a:r>
              <a:rPr sz="950">
                <a:solidFill>
                  <a:srgbClr val="34D399"/>
                </a:solidFill>
                <a:latin typeface="Consolas"/>
              </a:rPr>
              <a:t># Gray-coded 16-QAM bit errors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    return sum((e&gt;&gt;k)&amp;1 for k in range(4)).sum()/(4*N)    </a:t>
            </a:r>
            <a:r>
              <a:rPr sz="950">
                <a:solidFill>
                  <a:srgbClr val="34D399"/>
                </a:solidFill>
                <a:latin typeface="Consolas"/>
              </a:rPr>
              <a:t># 16 bits per 8-slot block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SNRdB = np.arange(0,21,2); N = 200_000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plt.semilogy(SNRdB, [qostbc_ber(10**(d/10),N) for d in SNRdB], '-s', label='QOSTBC + pi/4 rotation')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plt.semilogy(SNRdB, [g4_ber(10**(d/10),N) for d in SNRdB], '-o', label='OSTBC G4 + 16-QAM')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2E3F7"/>
                </a:solidFill>
                <a:latin typeface="Consolas"/>
              </a:rPr>
              <a:t>plt.legend(); plt.grid(True); plt.xlabel('SNR (dB)'); plt.ylabel('BER  (both at 2 b/s/Hz)')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QOSTBC · SIMULATION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QOSTBC vs OSTBC: equal-rate shoot-out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ber_compa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3401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curves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423160"/>
            <a:ext cx="274320" cy="27432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QOSTBC + π/4 rotation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4 — rate 1 with small QPSK: BER 10⁻⁴ at ≈ 16.9 dB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264408"/>
            <a:ext cx="274320" cy="2743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OSTBC G₄ + 16-QAM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4 but ≈ 2.9 dB right — 16-QAM penalty beats its 2× energy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105656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QOSTBC, no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slope 2 only — overtaken by G₄ near ≈ 21 dB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946904"/>
            <a:ext cx="274320" cy="2743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8828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Decoding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937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QOSTBC: pairwise, 16 metrics · OSTBC: single-symbol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71500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57150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2E3F7"/>
                </a:solidFill>
                <a:latin typeface="Calibri"/>
              </a:rPr>
              <a:t>At equal throughput, rotated QOSTBC wins: rate 1 on a small constellation beats rate 1/2 on a big one — paid for with pairwise decoding.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6FB"/>
                </a:solidFill>
                <a:latin typeface="Calibri"/>
              </a:rPr>
              <a:t>OSTBC vs QOSTBC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B3CC"/>
                </a:solidFill>
                <a:latin typeface="Calibri"/>
              </a:rPr>
              <a:t>Every scheme trades among three currencies: </a:t>
            </a:r>
            <a:r>
              <a:rPr sz="1400" b="1" i="0">
                <a:solidFill>
                  <a:srgbClr val="29B6E8"/>
                </a:solidFill>
                <a:latin typeface="Calibri"/>
              </a:rPr>
              <a:t>rate</a:t>
            </a:r>
            <a:r>
              <a:rPr sz="1400" b="0" i="0">
                <a:solidFill>
                  <a:srgbClr val="9FB3CC"/>
                </a:solidFill>
                <a:latin typeface="Calibri"/>
              </a:rPr>
              <a:t>, </a:t>
            </a:r>
            <a:r>
              <a:rPr sz="1400" b="1" i="0">
                <a:solidFill>
                  <a:srgbClr val="3ECF8E"/>
                </a:solidFill>
                <a:latin typeface="Calibri"/>
              </a:rPr>
              <a:t>diversity</a:t>
            </a:r>
            <a:r>
              <a:rPr sz="1400" b="0" i="0">
                <a:solidFill>
                  <a:srgbClr val="9FB3CC"/>
                </a:solidFill>
                <a:latin typeface="Calibri"/>
              </a:rPr>
              <a:t>, and </a:t>
            </a:r>
            <a:r>
              <a:rPr sz="1400" b="1" i="0">
                <a:solidFill>
                  <a:srgbClr val="B19CFA"/>
                </a:solidFill>
                <a:latin typeface="Calibri"/>
              </a:rPr>
              <a:t>decoding complexity</a:t>
            </a:r>
            <a:r>
              <a:rPr sz="1400" b="0" i="0">
                <a:solidFill>
                  <a:srgbClr val="9FB3CC"/>
                </a:solidFill>
                <a:latin typeface="Calibri"/>
              </a:rPr>
              <a:t>.  No scheme wins all three.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47088"/>
            <a:ext cx="2606040" cy="420624"/>
          </a:xfrm>
          <a:prstGeom prst="rect">
            <a:avLst/>
          </a:prstGeom>
          <a:solidFill>
            <a:srgbClr val="14355C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47088"/>
            <a:ext cx="1325880" cy="420624"/>
          </a:xfrm>
          <a:prstGeom prst="rect">
            <a:avLst/>
          </a:prstGeom>
          <a:solidFill>
            <a:srgbClr val="14355C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847088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Antennas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47088"/>
            <a:ext cx="1600200" cy="420624"/>
          </a:xfrm>
          <a:prstGeom prst="rect">
            <a:avLst/>
          </a:prstGeom>
          <a:solidFill>
            <a:srgbClr val="14355C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847088"/>
            <a:ext cx="138988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2606040" cy="420624"/>
          </a:xfrm>
          <a:prstGeom prst="rect">
            <a:avLst/>
          </a:prstGeom>
          <a:solidFill>
            <a:srgbClr val="14355C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847088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Diversity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847088"/>
            <a:ext cx="2770632" cy="420624"/>
          </a:xfrm>
          <a:prstGeom prst="rect">
            <a:avLst/>
          </a:prstGeom>
          <a:solidFill>
            <a:srgbClr val="14355C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42832" y="1847088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ML decoding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67712"/>
            <a:ext cx="260604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267712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CF8E"/>
                </a:solidFill>
                <a:latin typeface="Calibri"/>
              </a:rPr>
              <a:t>Alamouti (OSTBC)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267712"/>
            <a:ext cx="132588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10712" y="2267712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2F6FB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267712"/>
            <a:ext cx="160020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2267712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2F6FB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267712"/>
            <a:ext cx="260604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267712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2F6FB"/>
                </a:solidFill>
                <a:latin typeface="Calibri"/>
              </a:rPr>
              <a:t>2N</a:t>
            </a:r>
            <a:r>
              <a:rPr sz="1400" b="0" baseline="-25000">
                <a:solidFill>
                  <a:srgbClr val="F2F6FB"/>
                </a:solidFill>
                <a:latin typeface="Calibri"/>
              </a:rPr>
              <a:t>r</a:t>
            </a:r>
            <a:r>
              <a:rPr sz="1400" b="0">
                <a:solidFill>
                  <a:srgbClr val="F2F6FB"/>
                </a:solidFill>
                <a:latin typeface="Calibri"/>
              </a:rPr>
              <a:t>  — full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267712"/>
            <a:ext cx="2770632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42832" y="2267712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2F6FB"/>
                </a:solidFill>
                <a:latin typeface="Calibri"/>
              </a:rPr>
              <a:t>single-symbol, linear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871216"/>
            <a:ext cx="260604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2871216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OSTBC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871216"/>
            <a:ext cx="132588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10712" y="2871216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2F6FB"/>
                </a:solidFill>
                <a:latin typeface="Calibri"/>
              </a:rPr>
              <a:t>3 –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871216"/>
            <a:ext cx="160020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36592" y="2871216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7C55C"/>
                </a:solidFill>
                <a:latin typeface="Calibri"/>
              </a:rPr>
              <a:t>3/4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871216"/>
            <a:ext cx="260604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2871216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2F6FB"/>
                </a:solidFill>
                <a:latin typeface="Calibri"/>
              </a:rPr>
              <a:t>N</a:t>
            </a:r>
            <a:r>
              <a:rPr sz="1400" b="0" baseline="-25000">
                <a:solidFill>
                  <a:srgbClr val="F2F6FB"/>
                </a:solidFill>
                <a:latin typeface="Calibri"/>
              </a:rPr>
              <a:t>t</a:t>
            </a:r>
            <a:r>
              <a:rPr sz="1400" b="0">
                <a:solidFill>
                  <a:srgbClr val="F2F6FB"/>
                </a:solidFill>
                <a:latin typeface="Calibri"/>
              </a:rPr>
              <a:t>N</a:t>
            </a:r>
            <a:r>
              <a:rPr sz="1400" b="0" baseline="-25000">
                <a:solidFill>
                  <a:srgbClr val="F2F6FB"/>
                </a:solidFill>
                <a:latin typeface="Calibri"/>
              </a:rPr>
              <a:t>r</a:t>
            </a:r>
            <a:r>
              <a:rPr sz="1400" b="0">
                <a:solidFill>
                  <a:srgbClr val="F2F6FB"/>
                </a:solidFill>
                <a:latin typeface="Calibri"/>
              </a:rPr>
              <a:t>  — full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2871216"/>
            <a:ext cx="2770632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2832" y="2871216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2F6FB"/>
                </a:solidFill>
                <a:latin typeface="Calibri"/>
              </a:rPr>
              <a:t>single-symbol, linear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74720"/>
            <a:ext cx="260604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3474720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9B6E8"/>
                </a:solidFill>
                <a:latin typeface="Calibri"/>
              </a:rPr>
              <a:t>OSTBC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474720"/>
            <a:ext cx="132588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10712" y="3474720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2F6FB"/>
                </a:solidFill>
                <a:latin typeface="Calibri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474720"/>
            <a:ext cx="160020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36592" y="347472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7C55C"/>
                </a:solidFill>
                <a:latin typeface="Calibri"/>
              </a:rPr>
              <a:t>5/8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474720"/>
            <a:ext cx="260604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6792" y="3474720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2F6FB"/>
                </a:solidFill>
                <a:latin typeface="Calibri"/>
              </a:rPr>
              <a:t>8N</a:t>
            </a:r>
            <a:r>
              <a:rPr sz="1400" b="0" baseline="-25000">
                <a:solidFill>
                  <a:srgbClr val="F2F6FB"/>
                </a:solidFill>
                <a:latin typeface="Calibri"/>
              </a:rPr>
              <a:t>r</a:t>
            </a:r>
            <a:r>
              <a:rPr sz="1400" b="0">
                <a:solidFill>
                  <a:srgbClr val="F2F6FB"/>
                </a:solidFill>
                <a:latin typeface="Calibri"/>
              </a:rPr>
              <a:t>  — full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474720"/>
            <a:ext cx="2770632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42832" y="3474720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2F6FB"/>
                </a:solidFill>
                <a:latin typeface="Calibri"/>
              </a:rPr>
              <a:t>single-symbol, linear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078224"/>
            <a:ext cx="260604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078224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19CFA"/>
                </a:solidFill>
                <a:latin typeface="Calibri"/>
              </a:rPr>
              <a:t>QOSTBC (no rotation)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4078224"/>
            <a:ext cx="132588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10712" y="4078224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2F6FB"/>
                </a:solidFill>
                <a:latin typeface="Calibri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078224"/>
            <a:ext cx="160020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36592" y="4078224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ECF8E"/>
                </a:solidFill>
                <a:latin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078224"/>
            <a:ext cx="2606040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36792" y="4078224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7C55C"/>
                </a:solidFill>
                <a:latin typeface="Calibri"/>
              </a:rPr>
              <a:t>2N</a:t>
            </a:r>
            <a:r>
              <a:rPr sz="1400" b="0" baseline="-25000">
                <a:solidFill>
                  <a:srgbClr val="F7C55C"/>
                </a:solidFill>
                <a:latin typeface="Calibri"/>
              </a:rPr>
              <a:t>r</a:t>
            </a:r>
            <a:r>
              <a:rPr sz="1400" b="0">
                <a:solidFill>
                  <a:srgbClr val="F7C55C"/>
                </a:solidFill>
                <a:latin typeface="Calibri"/>
              </a:rPr>
              <a:t>  — only half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4078224"/>
            <a:ext cx="2770632" cy="603504"/>
          </a:xfrm>
          <a:prstGeom prst="rect">
            <a:avLst/>
          </a:prstGeom>
          <a:solidFill>
            <a:srgbClr val="0C2444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42832" y="4078224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2F6FB"/>
                </a:solidFill>
                <a:latin typeface="Calibri"/>
              </a:rPr>
              <a:t>pairwise (2 symbols jointly)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681728"/>
            <a:ext cx="260604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" y="4681728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19CFA"/>
                </a:solidFill>
                <a:latin typeface="Calibri"/>
              </a:rPr>
              <a:t>QOSTBC + rotation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4681728"/>
            <a:ext cx="132588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0712" y="4681728"/>
            <a:ext cx="111556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2F6FB"/>
                </a:solidFill>
                <a:latin typeface="Calibri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681728"/>
            <a:ext cx="160020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36592" y="4681728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ECF8E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4681728"/>
            <a:ext cx="2606040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36792" y="4681728"/>
            <a:ext cx="23957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3ECF8E"/>
                </a:solidFill>
                <a:latin typeface="Calibri"/>
              </a:rPr>
              <a:t>4N</a:t>
            </a:r>
            <a:r>
              <a:rPr sz="1400" b="0" baseline="-25000">
                <a:solidFill>
                  <a:srgbClr val="3ECF8E"/>
                </a:solidFill>
                <a:latin typeface="Calibri"/>
              </a:rPr>
              <a:t>r</a:t>
            </a:r>
            <a:r>
              <a:rPr sz="1400" b="0">
                <a:solidFill>
                  <a:srgbClr val="3ECF8E"/>
                </a:solidFill>
                <a:latin typeface="Calibri"/>
              </a:rPr>
              <a:t>  — full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4681728"/>
            <a:ext cx="2770632" cy="603504"/>
          </a:xfrm>
          <a:prstGeom prst="rect">
            <a:avLst/>
          </a:prstGeom>
          <a:solidFill>
            <a:srgbClr val="0F2B4E"/>
          </a:solidFill>
          <a:ln w="9525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42832" y="4681728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2F6FB"/>
                </a:solidFill>
                <a:latin typeface="Calibri"/>
              </a:rPr>
              <a:t>pairwise (2 symbols jointly)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5541264"/>
            <a:ext cx="10908792" cy="960120"/>
          </a:xfrm>
          <a:prstGeom prst="roundRect">
            <a:avLst>
              <a:gd name="adj" fmla="val 10000"/>
            </a:avLst>
          </a:prstGeom>
          <a:solidFill>
            <a:srgbClr val="102A4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5541264"/>
            <a:ext cx="1036015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F5A623"/>
                </a:solidFill>
                <a:latin typeface="Calibri"/>
              </a:rPr>
              <a:t>Big picture:  </a:t>
            </a:r>
            <a:r>
              <a:rPr sz="1450" b="0">
                <a:solidFill>
                  <a:srgbClr val="F2F6FB"/>
                </a:solidFill>
                <a:latin typeface="Calibri"/>
              </a:rPr>
              <a:t>orthogonality buys single-symbol decoding and full diversity, but the price is rate once N</a:t>
            </a:r>
            <a:r>
              <a:rPr sz="1450" b="0" baseline="-25000">
                <a:solidFill>
                  <a:srgbClr val="F2F6FB"/>
                </a:solidFill>
                <a:latin typeface="Calibri"/>
              </a:rPr>
              <a:t>t</a:t>
            </a:r>
            <a:r>
              <a:rPr sz="1450" b="0">
                <a:solidFill>
                  <a:srgbClr val="F2F6FB"/>
                </a:solidFill>
                <a:latin typeface="Calibri"/>
              </a:rPr>
              <a:t> &gt; 2.  QOSTBC relaxes orthogonality to win rate 1 back — decoding becomes pairwise, and </a:t>
            </a:r>
            <a:r>
              <a:rPr sz="1450" b="1">
                <a:solidFill>
                  <a:srgbClr val="3ECF8E"/>
                </a:solidFill>
                <a:latin typeface="Calibri"/>
              </a:rPr>
              <a:t>constellation rotation</a:t>
            </a:r>
            <a:r>
              <a:rPr sz="1450" b="0">
                <a:solidFill>
                  <a:srgbClr val="F2F6FB"/>
                </a:solidFill>
                <a:latin typeface="Calibri"/>
              </a:rPr>
              <a:t> is what restores full diversity.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FB3CC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OSTBC · REAL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Real OSTBCs: rate 1 for any antenna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852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For real constellations (BPSK, PAM) the code entries are </a:t>
            </a:r>
            <a:r>
              <a:rPr sz="1450" b="1" i="0">
                <a:solidFill>
                  <a:srgbClr val="62E3F7"/>
                </a:solidFill>
                <a:latin typeface="Calibri"/>
              </a:rPr>
              <a:t>±xₖ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— no conjugates. A real orthogonal design keeps the columns orthogonal: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585216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_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9232"/>
            <a:ext cx="1979454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2336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4D399"/>
                </a:solidFill>
                <a:latin typeface="Calibri"/>
              </a:rPr>
              <a:t>The headline: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unlike complex OSTBCs (rate 1 only at Nₜ = 2), real OSTBCs reach </a:t>
            </a:r>
            <a:r>
              <a:rPr sz="1450" b="1" i="0">
                <a:solidFill>
                  <a:srgbClr val="34D399"/>
                </a:solidFill>
                <a:latin typeface="Calibri"/>
              </a:rPr>
              <a:t>rate 1 for every Nₜ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pic>
        <p:nvPicPr>
          <p:cNvPr id="10" name="Picture 9" descr="real_vs_complex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6331"/>
            <a:ext cx="5120640" cy="2922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2578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Same benefits as before: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full diversity Nₜ×Nᵣ and single-symbol linear decoding — now at full rate for any antenna count.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REAL OSTBC · 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quest: keep Alamouti's magic for more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Alamouti (2 antennas) handed us three prizes at once — and normally these </a:t>
            </a:r>
            <a:r>
              <a:rPr sz="1500" b="1" i="0">
                <a:solidFill>
                  <a:srgbClr val="F6A623"/>
                </a:solidFill>
                <a:latin typeface="Calibri"/>
              </a:rPr>
              <a:t>fight each other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93592" cy="16459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57984" y="246888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450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</a:rPr>
              <a:t>Full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every fading path protects the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240280"/>
            <a:ext cx="3593592" cy="16459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9050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70448" y="2468880"/>
            <a:ext cx="548640" cy="54864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0448" y="2450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154680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C2E0"/>
                </a:solidFill>
                <a:latin typeface="Calibri"/>
              </a:rPr>
              <a:t>Rate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5661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no throughput is wasted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240280"/>
            <a:ext cx="3593592" cy="16459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82912" y="2468880"/>
            <a:ext cx="548640" cy="54864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82912" y="2450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154680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388FF"/>
                </a:solidFill>
                <a:latin typeface="Calibri"/>
              </a:rPr>
              <a:t>Simple decoding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5661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one symbol at a time (linear)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2E3F7"/>
                </a:solidFill>
                <a:latin typeface="Calibri"/>
              </a:rPr>
              <a:t>The quest: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can we keep all three for 3, 4, 5, … antennas?  For real signals (BPSK/PAM), the answer is a surprising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yes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— through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orthogonal designs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This deck builds that answer step by step — starting from the one property that makes it all work.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REAL OSTBC · THE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One property does all the work: orthogonality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A real OSTBC packs the symbols  x₁,…,xₖ  (real, entered as ±xₖ) into a code matrix 𝒢. </a:t>
            </a:r>
            <a:r>
              <a:rPr sz="1450" b="1" i="0">
                <a:solidFill>
                  <a:srgbClr val="62E3F7"/>
                </a:solidFill>
                <a:latin typeface="Calibri"/>
              </a:rPr>
              <a:t>The one magic condition — its columns are orthogonal: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48840"/>
            <a:ext cx="667512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v_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304288"/>
            <a:ext cx="4056396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3291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Payoff 1 · decoding decouples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Orthogonal columns don't interfere, so the receiver can detect </a:t>
            </a:r>
            <a:r>
              <a:rPr sz="1300" b="1" i="0">
                <a:solidFill>
                  <a:srgbClr val="62E3F7"/>
                </a:solidFill>
                <a:latin typeface="Calibri"/>
              </a:rPr>
              <a:t>each symbol on its own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— cheap, linear, no joint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91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429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Payoff 2 · full diversity, for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8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Orthogonality forces every symbol-difference to be full rank ⇒ the </a:t>
            </a:r>
            <a:r>
              <a:rPr sz="1300" b="1" i="0">
                <a:solidFill>
                  <a:srgbClr val="34D399"/>
                </a:solidFill>
                <a:latin typeface="Calibri"/>
              </a:rPr>
              <a:t>maximum diversity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Nₜ × Nᵣ,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5780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So the whole game reduces to one thing: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find a code whose columns stay orthogonal.  Everything good follows.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WORKED · THE 2×2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See it work: the simplest real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03</a:t>
            </a:r>
          </a:p>
        </p:txBody>
      </p:sp>
      <p:pic>
        <p:nvPicPr>
          <p:cNvPr id="6" name="Picture 5" descr="iv_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15" y="1737360"/>
            <a:ext cx="3007528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2 symbols, 2 slots  →  rate 1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169164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673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4" y="17099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Columns orthogonal?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8384" y="21031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6D6"/>
                </a:solidFill>
                <a:latin typeface="Calibri"/>
              </a:rPr>
              <a:t>c₁ = [x₁, −x₂],   c₂ = [x₂, x₁]</a:t>
            </a:r>
          </a:p>
        </p:txBody>
      </p:sp>
      <p:pic>
        <p:nvPicPr>
          <p:cNvPr id="12" name="Picture 11" descr="iv_c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450592"/>
            <a:ext cx="28448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58384" y="297180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→ orthogonal, and both have norm² = x₁²+x₂²  ✓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352044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3502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35387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Decoding decouples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393192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6D6"/>
                </a:solidFill>
                <a:latin typeface="Calibri"/>
              </a:rPr>
              <a:t>The receiver combines to give, for each symbol:</a:t>
            </a:r>
          </a:p>
        </p:txBody>
      </p:sp>
      <p:pic>
        <p:nvPicPr>
          <p:cNvPr id="18" name="Picture 17" descr="iv_decou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4279392"/>
            <a:ext cx="432858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58384" y="484632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→ xₖ comes out clean — decide it alone, exactly like Alamouti.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Meet the real-signal cousin of Alamouti: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full diversity 2, rate 1, one-symbol-at-a-time decoding.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THE RATE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Can we keep rate 1 as we add antennas?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Rate = symbols ÷ time slots.  The 2×2 sends </a:t>
            </a:r>
            <a:r>
              <a:rPr sz="1500" b="1" i="0">
                <a:solidFill>
                  <a:srgbClr val="34D399"/>
                </a:solidFill>
                <a:latin typeface="Calibri"/>
              </a:rPr>
              <a:t>2 symbols in 2 slots = rate 1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— perfect, nothing wasted.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natural hope:  </a:t>
            </a:r>
            <a:r>
              <a:rPr sz="1500" b="1" i="0">
                <a:solidFill>
                  <a:srgbClr val="62E3F7"/>
                </a:solidFill>
                <a:latin typeface="Calibri"/>
              </a:rPr>
              <a:t>a 3×3, 4×4, 5×5 … all at rate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971800"/>
            <a:ext cx="9235440" cy="1600200"/>
          </a:xfrm>
          <a:prstGeom prst="roundRect">
            <a:avLst>
              <a:gd name="adj" fmla="val 5000"/>
            </a:avLst>
          </a:prstGeom>
          <a:solidFill>
            <a:srgbClr val="143A2E"/>
          </a:solidFill>
          <a:ln w="25400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31546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THE SURPRISE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188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1900" b="1" i="1" dirty="0">
                <a:solidFill>
                  <a:srgbClr val="F6A623"/>
                </a:solidFill>
                <a:latin typeface="Calibri"/>
              </a:rPr>
              <a:t>square</a:t>
            </a:r>
            <a:r>
              <a:rPr sz="1900" b="0" i="0" dirty="0">
                <a:solidFill>
                  <a:srgbClr val="FFFFFF"/>
                </a:solidFill>
                <a:latin typeface="Calibri"/>
              </a:rPr>
              <a:t> rate-1 real design exists only for  </a:t>
            </a:r>
            <a:r>
              <a:rPr sz="1900" b="1" i="0" dirty="0">
                <a:solidFill>
                  <a:srgbClr val="34D399"/>
                </a:solidFill>
                <a:latin typeface="Calibri"/>
              </a:rPr>
              <a:t>Nₜ = 1, 2, 4, 8</a:t>
            </a:r>
            <a:r>
              <a:rPr sz="1900" b="0" i="0" dirty="0">
                <a:solidFill>
                  <a:srgbClr val="FFFFFF"/>
                </a:solidFill>
                <a:latin typeface="Calibri"/>
              </a:rPr>
              <a:t>  antennas.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 dirty="0">
                <a:solidFill>
                  <a:srgbClr val="9DB6D6"/>
                </a:solidFill>
                <a:latin typeface="Calibri"/>
              </a:rPr>
              <a:t>Never 3, never 5, 6, or 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2E3F7"/>
                </a:solidFill>
                <a:latin typeface="Calibri"/>
              </a:rPr>
              <a:t>Why these four magic numbers?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reason is 2000 years old and genuinely beautiful — next slide.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9B6E8"/>
                </a:solidFill>
                <a:latin typeface="Calibri"/>
              </a:rPr>
              <a:t>THE BEAUTIFUL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6FB"/>
                </a:solidFill>
                <a:latin typeface="Calibri"/>
              </a:rPr>
              <a:t>Why exactly 1, 2, 4, 8 — and what </a:t>
            </a:r>
            <a:r>
              <a:rPr sz="3000" b="1" i="1">
                <a:solidFill>
                  <a:srgbClr val="F5A623"/>
                </a:solidFill>
                <a:latin typeface="Calibri"/>
              </a:rPr>
              <a:t>n</a:t>
            </a:r>
            <a:r>
              <a:rPr sz="3000" b="1" i="0">
                <a:solidFill>
                  <a:srgbClr val="F2F6FB"/>
                </a:solidFill>
                <a:latin typeface="Calibri"/>
              </a:rPr>
              <a:t> means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F5A623"/>
                </a:solidFill>
                <a:latin typeface="Calibri"/>
              </a:rPr>
              <a:t>n</a:t>
            </a:r>
            <a:r>
              <a:rPr sz="1450" b="0" i="0">
                <a:solidFill>
                  <a:srgbClr val="F2F6FB"/>
                </a:solidFill>
                <a:latin typeface="Calibri"/>
              </a:rPr>
              <a:t>  =  how many squares the identity multiplies  =  how many antennas a square rate-1 real design can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91056"/>
            <a:ext cx="5321808" cy="2084831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29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29B6E8"/>
                </a:solidFill>
                <a:latin typeface="Calibri"/>
              </a:rPr>
              <a:t>n = 2</a:t>
            </a:r>
            <a:r>
              <a:rPr sz="1250" b="0" i="0">
                <a:solidFill>
                  <a:srgbClr val="9FB3CC"/>
                </a:solidFill>
                <a:latin typeface="Calibri"/>
              </a:rPr>
              <a:t>  — Brahmagupta–Fibonacci (complex numbers)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F2F6FB"/>
                </a:solidFill>
                <a:latin typeface="Calibri"/>
              </a:rPr>
              <a:t>(a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4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 + a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)(b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4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 + b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) = (a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b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 − a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b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)</a:t>
            </a:r>
            <a:r>
              <a:rPr sz="14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 + (a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b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 + a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b</a:t>
            </a:r>
            <a:r>
              <a:rPr sz="14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450" b="0" i="1">
                <a:solidFill>
                  <a:srgbClr val="F2F6FB"/>
                </a:solidFill>
                <a:latin typeface="Calibri"/>
              </a:rPr>
              <a:t>)</a:t>
            </a:r>
            <a:r>
              <a:rPr sz="1450" b="0" i="1" baseline="30000">
                <a:solidFill>
                  <a:srgbClr val="F2F6F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ECF8E"/>
                </a:solidFill>
                <a:latin typeface="Calibri"/>
              </a:rPr>
              <a:t>(1</a:t>
            </a:r>
            <a:r>
              <a:rPr sz="13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350" b="0" i="1">
                <a:solidFill>
                  <a:srgbClr val="3ECF8E"/>
                </a:solidFill>
                <a:latin typeface="Calibri"/>
              </a:rPr>
              <a:t>+2</a:t>
            </a:r>
            <a:r>
              <a:rPr sz="13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350" b="0" i="1">
                <a:solidFill>
                  <a:srgbClr val="3ECF8E"/>
                </a:solidFill>
                <a:latin typeface="Calibri"/>
              </a:rPr>
              <a:t>)(3</a:t>
            </a:r>
            <a:r>
              <a:rPr sz="13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350" b="0" i="1">
                <a:solidFill>
                  <a:srgbClr val="3ECF8E"/>
                </a:solidFill>
                <a:latin typeface="Calibri"/>
              </a:rPr>
              <a:t>+4</a:t>
            </a:r>
            <a:r>
              <a:rPr sz="13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350" b="0" i="1">
                <a:solidFill>
                  <a:srgbClr val="3ECF8E"/>
                </a:solidFill>
                <a:latin typeface="Calibri"/>
              </a:rPr>
              <a:t>) = 5·25 = 125 = (−5)</a:t>
            </a:r>
            <a:r>
              <a:rPr sz="13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350" b="0" i="1">
                <a:solidFill>
                  <a:srgbClr val="3ECF8E"/>
                </a:solidFill>
                <a:latin typeface="Calibri"/>
              </a:rPr>
              <a:t> + (10)</a:t>
            </a:r>
            <a:r>
              <a:rPr sz="1350" b="0" i="1" baseline="30000">
                <a:solidFill>
                  <a:srgbClr val="3ECF8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44368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9FB3CC"/>
                </a:solidFill>
                <a:latin typeface="Calibri"/>
              </a:rPr>
              <a:t>…which is just  |(1+2j)(3+4j)|</a:t>
            </a:r>
            <a:r>
              <a:rPr sz="1250" b="0" i="1" baseline="30000">
                <a:solidFill>
                  <a:srgbClr val="9FB3CC"/>
                </a:solidFill>
                <a:latin typeface="Calibri"/>
              </a:rPr>
              <a:t>2</a:t>
            </a:r>
            <a:r>
              <a:rPr sz="1250" b="0" i="1">
                <a:solidFill>
                  <a:srgbClr val="9FB3CC"/>
                </a:solidFill>
                <a:latin typeface="Calibri"/>
              </a:rPr>
              <a:t> = |−5+10j|</a:t>
            </a:r>
            <a:r>
              <a:rPr sz="1250" b="0" i="1" baseline="30000">
                <a:solidFill>
                  <a:srgbClr val="9FB3CC"/>
                </a:solidFill>
                <a:latin typeface="Calibri"/>
              </a:rPr>
              <a:t>2</a:t>
            </a:r>
            <a:r>
              <a:rPr sz="1250" b="0" i="1">
                <a:solidFill>
                  <a:srgbClr val="9FB3CC"/>
                </a:solidFill>
                <a:latin typeface="Calibri"/>
              </a:rPr>
              <a:t>.  These two output entries </a:t>
            </a:r>
            <a:r>
              <a:rPr sz="1250" b="1" i="1">
                <a:solidFill>
                  <a:srgbClr val="9FB3CC"/>
                </a:solidFill>
                <a:latin typeface="Calibri"/>
              </a:rPr>
              <a:t>are</a:t>
            </a:r>
            <a:r>
              <a:rPr sz="1250" b="0" i="1">
                <a:solidFill>
                  <a:srgbClr val="9FB3CC"/>
                </a:solidFill>
                <a:latin typeface="Calibri"/>
              </a:rPr>
              <a:t> Alamouti’s 2×2 matrix.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591056"/>
            <a:ext cx="5321808" cy="2084831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737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F5A623"/>
                </a:solidFill>
                <a:latin typeface="Calibri"/>
              </a:rPr>
              <a:t>n = 4</a:t>
            </a:r>
            <a:r>
              <a:rPr sz="1250" b="0" i="0">
                <a:solidFill>
                  <a:srgbClr val="9FB3CC"/>
                </a:solidFill>
                <a:latin typeface="Calibri"/>
              </a:rPr>
              <a:t>  — Euler’s four-square identity (quaternions, 1748)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66544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F2F6FB"/>
                </a:solidFill>
                <a:latin typeface="Calibri"/>
              </a:rPr>
              <a:t>(a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+a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+a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3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+a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4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)(b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+b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+b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3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+b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4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) = c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1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+c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+c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3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  <a:r>
              <a:rPr sz="1350" b="0" i="1">
                <a:solidFill>
                  <a:srgbClr val="F2F6FB"/>
                </a:solidFill>
                <a:latin typeface="Calibri"/>
              </a:rPr>
              <a:t>+c</a:t>
            </a:r>
            <a:r>
              <a:rPr sz="1350" b="0" i="1" baseline="-25000">
                <a:solidFill>
                  <a:srgbClr val="F2F6FB"/>
                </a:solidFill>
                <a:latin typeface="Calibri"/>
              </a:rPr>
              <a:t>4</a:t>
            </a:r>
            <a:r>
              <a:rPr sz="1350" b="0" i="1" baseline="30000">
                <a:solidFill>
                  <a:srgbClr val="F2F6F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45059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1">
                <a:solidFill>
                  <a:srgbClr val="9FB3CC"/>
                </a:solidFill>
                <a:latin typeface="Calibri"/>
              </a:rPr>
              <a:t>c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 = 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−a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−a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−a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        c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 = 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+a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+a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−a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</a:p>
          <a:p>
            <a:pPr>
              <a:lnSpc>
                <a:spcPct val="115000"/>
              </a:lnSpc>
            </a:pPr>
            <a:r>
              <a:rPr sz="1150" b="0" i="1">
                <a:solidFill>
                  <a:srgbClr val="9FB3CC"/>
                </a:solidFill>
                <a:latin typeface="Calibri"/>
              </a:rPr>
              <a:t>c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 = 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−a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+a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+a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        c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 = 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+a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−a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3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2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+a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4</a:t>
            </a:r>
            <a:r>
              <a:rPr sz="1150" b="0" i="1">
                <a:solidFill>
                  <a:srgbClr val="9FB3CC"/>
                </a:solidFill>
                <a:latin typeface="Calibri"/>
              </a:rPr>
              <a:t>b</a:t>
            </a:r>
            <a:r>
              <a:rPr sz="1150" b="0" i="1" baseline="-25000">
                <a:solidFill>
                  <a:srgbClr val="9FB3C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301752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ECF8E"/>
                </a:solidFill>
                <a:latin typeface="Calibri"/>
              </a:rPr>
              <a:t>(1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+1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+1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+1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)(1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+2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+3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+4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) = 4·30 = 120 = 8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+4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+2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  <a:r>
              <a:rPr sz="1250" b="0" i="1">
                <a:solidFill>
                  <a:srgbClr val="3ECF8E"/>
                </a:solidFill>
                <a:latin typeface="Calibri"/>
              </a:rPr>
              <a:t>+6</a:t>
            </a:r>
            <a:r>
              <a:rPr sz="1250" b="0" i="1" baseline="30000">
                <a:solidFill>
                  <a:srgbClr val="3ECF8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34670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FB3CC"/>
                </a:solidFill>
                <a:latin typeface="Calibri"/>
              </a:rPr>
              <a:t>…which is just  |(1+i+j+k)(1+2i+3j+4k)|</a:t>
            </a:r>
            <a:r>
              <a:rPr sz="1200" b="0" i="1" baseline="30000">
                <a:solidFill>
                  <a:srgbClr val="9FB3CC"/>
                </a:solidFill>
                <a:latin typeface="Calibri"/>
              </a:rPr>
              <a:t>2</a:t>
            </a:r>
            <a:r>
              <a:rPr sz="1200" b="0" i="1">
                <a:solidFill>
                  <a:srgbClr val="9FB3CC"/>
                </a:solidFill>
                <a:latin typeface="Calibri"/>
              </a:rPr>
              <a:t>  — quaternion multiplication.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5A623"/>
                </a:solidFill>
                <a:latin typeface="Calibri"/>
              </a:rPr>
              <a:t>Hurwitz’s theorem (1898):  </a:t>
            </a:r>
            <a:r>
              <a:rPr sz="1450" b="0" i="0">
                <a:solidFill>
                  <a:srgbClr val="F2F6FB"/>
                </a:solidFill>
                <a:latin typeface="Calibri"/>
              </a:rPr>
              <a:t>such an identity in </a:t>
            </a:r>
            <a:r>
              <a:rPr sz="1450" b="1" i="1">
                <a:solidFill>
                  <a:srgbClr val="F5A623"/>
                </a:solidFill>
                <a:latin typeface="Calibri"/>
              </a:rPr>
              <a:t>n</a:t>
            </a:r>
            <a:r>
              <a:rPr sz="1450" b="0" i="0">
                <a:solidFill>
                  <a:srgbClr val="F2F6FB"/>
                </a:solidFill>
                <a:latin typeface="Calibri"/>
              </a:rPr>
              <a:t> squares exists </a:t>
            </a:r>
            <a:r>
              <a:rPr sz="1450" b="1" i="0">
                <a:solidFill>
                  <a:srgbClr val="F5A623"/>
                </a:solidFill>
                <a:latin typeface="Calibri"/>
              </a:rPr>
              <a:t>only</a:t>
            </a:r>
            <a:r>
              <a:rPr sz="1450" b="0" i="0">
                <a:solidFill>
                  <a:srgbClr val="F2F6FB"/>
                </a:solidFill>
                <a:latin typeface="Calibri"/>
              </a:rPr>
              <a:t> for </a:t>
            </a:r>
            <a:r>
              <a:rPr sz="1450" b="1" i="1">
                <a:solidFill>
                  <a:srgbClr val="F2F6FB"/>
                </a:solidFill>
                <a:latin typeface="Calibri"/>
              </a:rPr>
              <a:t>n = 1, 2, 4, 8</a:t>
            </a:r>
            <a:r>
              <a:rPr sz="1450" b="0" i="0">
                <a:solidFill>
                  <a:srgbClr val="F2F6FB"/>
                </a:solidFill>
                <a:latin typeface="Calibri"/>
              </a:rPr>
              <a:t> — the four normed division algebras: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3"/>
            <a:ext cx="10908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1">
                <a:solidFill>
                  <a:srgbClr val="F5A623"/>
                </a:solidFill>
                <a:latin typeface="Calibri"/>
              </a:rPr>
              <a:t>R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reals (1)      </a:t>
            </a:r>
            <a:r>
              <a:rPr sz="1900" b="1" i="1">
                <a:solidFill>
                  <a:srgbClr val="F5A623"/>
                </a:solidFill>
                <a:latin typeface="Calibri"/>
              </a:rPr>
              <a:t>C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complex (2)      </a:t>
            </a:r>
            <a:r>
              <a:rPr sz="1900" b="1" i="1">
                <a:solidFill>
                  <a:srgbClr val="F5A623"/>
                </a:solidFill>
                <a:latin typeface="Calibri"/>
              </a:rPr>
              <a:t>H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quaternions (4)      </a:t>
            </a:r>
            <a:r>
              <a:rPr sz="1900" b="1" i="1">
                <a:solidFill>
                  <a:srgbClr val="F5A623"/>
                </a:solidFill>
                <a:latin typeface="Calibri"/>
              </a:rPr>
              <a:t>O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octonions (8)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81727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B19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7"/>
            <a:ext cx="10378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 i="0" dirty="0">
                <a:solidFill>
                  <a:srgbClr val="B19CFA"/>
                </a:solidFill>
                <a:latin typeface="Calibri"/>
              </a:rPr>
              <a:t>Hurwitz–Radon formula</a:t>
            </a:r>
            <a:r>
              <a:rPr sz="1350" b="0" i="0" dirty="0">
                <a:solidFill>
                  <a:srgbClr val="F2F6FB"/>
                </a:solidFill>
                <a:latin typeface="Calibri"/>
              </a:rPr>
              <a:t> (rectangular </a:t>
            </a:r>
            <a:r>
              <a:rPr sz="1350" b="0" i="0" dirty="0" err="1">
                <a:solidFill>
                  <a:srgbClr val="F2F6FB"/>
                </a:solidFill>
                <a:latin typeface="Calibri"/>
              </a:rPr>
              <a:t>p×n</a:t>
            </a:r>
            <a:r>
              <a:rPr sz="1350" b="0" i="0" dirty="0">
                <a:solidFill>
                  <a:srgbClr val="F2F6FB"/>
                </a:solidFill>
                <a:latin typeface="Calibri"/>
              </a:rPr>
              <a:t> designs, non-square case):  write  </a:t>
            </a:r>
            <a:r>
              <a:rPr sz="1400" b="1" i="1" dirty="0">
                <a:solidFill>
                  <a:srgbClr val="29B6E8"/>
                </a:solidFill>
                <a:latin typeface="Calibri"/>
              </a:rPr>
              <a:t>p = 2</a:t>
            </a:r>
            <a:r>
              <a:rPr sz="1400" b="1" i="1" baseline="30000" dirty="0">
                <a:solidFill>
                  <a:srgbClr val="29B6E8"/>
                </a:solidFill>
                <a:latin typeface="Calibri"/>
              </a:rPr>
              <a:t>4c+d</a:t>
            </a:r>
            <a:r>
              <a:rPr sz="1400" b="1" i="1" dirty="0">
                <a:solidFill>
                  <a:srgbClr val="29B6E8"/>
                </a:solidFill>
                <a:latin typeface="Calibri"/>
              </a:rPr>
              <a:t>·(odd),  0 ≤ d ≤ 3</a:t>
            </a:r>
            <a:r>
              <a:rPr sz="1400" b="0" i="0" dirty="0">
                <a:solidFill>
                  <a:srgbClr val="F2F6FB"/>
                </a:solidFill>
                <a:latin typeface="Calibri"/>
              </a:rPr>
              <a:t>   ⇒   </a:t>
            </a:r>
            <a:r>
              <a:rPr sz="1400" b="1" i="1" dirty="0">
                <a:solidFill>
                  <a:srgbClr val="3ECF8E"/>
                </a:solidFill>
                <a:latin typeface="Calibri"/>
              </a:rPr>
              <a:t>ρ(p) = 8c + 2</a:t>
            </a:r>
            <a:r>
              <a:rPr sz="1400" b="1" i="1" baseline="30000" dirty="0">
                <a:solidFill>
                  <a:srgbClr val="3ECF8E"/>
                </a:solidFill>
                <a:latin typeface="Calibri"/>
              </a:rPr>
              <a:t>d</a:t>
            </a:r>
          </a:p>
          <a:p>
            <a:pPr>
              <a:lnSpc>
                <a:spcPct val="118000"/>
              </a:lnSpc>
            </a:pPr>
            <a:r>
              <a:rPr sz="1250" b="0" dirty="0">
                <a:solidFill>
                  <a:srgbClr val="9FB3CC"/>
                </a:solidFill>
                <a:latin typeface="Calibri"/>
              </a:rPr>
              <a:t>Check:  p = 2 (c=0, d=1) → ρ = 2;    p = 8 (c=0, d=3) → ρ = 8;    p = 16 (c=1, d=0) → ρ = 8+1 = 9.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97295"/>
            <a:ext cx="10908792" cy="658368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3E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5"/>
            <a:ext cx="10378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3ECF8E"/>
                </a:solidFill>
                <a:latin typeface="Calibri"/>
              </a:rPr>
              <a:t>Same four numbers ⇒ </a:t>
            </a:r>
            <a:r>
              <a:rPr sz="1400" b="0">
                <a:solidFill>
                  <a:srgbClr val="F2F6FB"/>
                </a:solidFill>
                <a:latin typeface="Calibri"/>
              </a:rPr>
              <a:t>square rate-1 real OSTBCs stop at n = 8, and ρ(p) tells you the best you can do for every other block length.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FB3C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9B6E8"/>
                </a:solidFill>
                <a:latin typeface="Calibri"/>
              </a:rPr>
              <a:t>THE BEAUTIFUL REASON ·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6FB"/>
                </a:solidFill>
                <a:latin typeface="Calibri"/>
              </a:rPr>
              <a:t>Where the sum of squares comes from — by </a:t>
            </a:r>
            <a:r>
              <a:rPr sz="3000" b="1" i="1">
                <a:solidFill>
                  <a:srgbClr val="F5A623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 dirty="0">
                <a:solidFill>
                  <a:srgbClr val="F5A623"/>
                </a:solidFill>
                <a:latin typeface="Calibri"/>
              </a:rPr>
              <a:t>X</a:t>
            </a:r>
            <a:r>
              <a:rPr sz="1450" b="0" i="0" dirty="0">
                <a:solidFill>
                  <a:srgbClr val="F2F6FB"/>
                </a:solidFill>
                <a:latin typeface="Calibri"/>
              </a:rPr>
              <a:t>  =  the transmission table you would draw from the </a:t>
            </a:r>
            <a:r>
              <a:rPr sz="1450" b="0" i="0" dirty="0" err="1">
                <a:solidFill>
                  <a:srgbClr val="F2F6FB"/>
                </a:solidFill>
                <a:latin typeface="Calibri"/>
              </a:rPr>
              <a:t>wishlist</a:t>
            </a:r>
            <a:r>
              <a:rPr sz="1450" b="0" i="0" dirty="0">
                <a:solidFill>
                  <a:srgbClr val="F2F6FB"/>
                </a:solidFill>
                <a:latin typeface="Calibri"/>
              </a:rPr>
              <a:t> alone — the identity falls out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91056"/>
            <a:ext cx="5321808" cy="2084831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29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29B6E8"/>
                </a:solidFill>
                <a:latin typeface="Calibri"/>
              </a:rPr>
              <a:t>Step 1</a:t>
            </a:r>
            <a:r>
              <a:rPr sz="1250" b="0" i="0">
                <a:solidFill>
                  <a:srgbClr val="9FB3CC"/>
                </a:solidFill>
                <a:latin typeface="Calibri"/>
              </a:rPr>
              <a:t>  — the designer’s wishlist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 dirty="0">
                <a:solidFill>
                  <a:srgbClr val="F2F6FB"/>
                </a:solidFill>
                <a:latin typeface="Calibri"/>
              </a:rPr>
              <a:t>rate 1:  n symbols in n slots · entries just ±xₖ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ECF8E"/>
                </a:solidFill>
                <a:latin typeface="Calibri"/>
              </a:rPr>
              <a:t>every symbol through every antenna — diversity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44368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9FB3CC"/>
                </a:solidFill>
                <a:latin typeface="Calibri"/>
              </a:rPr>
              <a:t>zero interference — each xₖ detected alone,</a:t>
            </a:r>
          </a:p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9FB3CC"/>
                </a:solidFill>
                <a:latin typeface="Calibri"/>
              </a:rPr>
              <a:t>with one linear combine.  That’s the whole 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591056"/>
            <a:ext cx="5321808" cy="2084831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737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F5A623"/>
                </a:solidFill>
                <a:latin typeface="Calibri"/>
              </a:rPr>
              <a:t>Step 2</a:t>
            </a:r>
            <a:r>
              <a:rPr sz="1250" b="0" i="0">
                <a:solidFill>
                  <a:srgbClr val="9FB3CC"/>
                </a:solidFill>
                <a:latin typeface="Calibri"/>
              </a:rPr>
              <a:t>  — the wishlist, written as algebra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66544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F2F6FB"/>
                </a:solidFill>
                <a:latin typeface="Calibri"/>
              </a:rPr>
              <a:t>each column carries all n symbols ⇒ energy Σxₖ²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45059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1">
                <a:solidFill>
                  <a:srgbClr val="9FB3CC"/>
                </a:solidFill>
                <a:latin typeface="Calibri"/>
              </a:rPr>
              <a:t>the sum of squares enters as the block energy</a:t>
            </a:r>
          </a:p>
          <a:p>
            <a:pPr>
              <a:lnSpc>
                <a:spcPct val="115000"/>
              </a:lnSpc>
            </a:pPr>
            <a:r>
              <a:rPr sz="1150" b="0" i="1">
                <a:solidFill>
                  <a:srgbClr val="9FB3CC"/>
                </a:solidFill>
                <a:latin typeface="Calibri"/>
              </a:rPr>
              <a:t>each antenna transmits — before any channel.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301752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ECF8E"/>
                </a:solidFill>
                <a:latin typeface="Calibri"/>
              </a:rPr>
              <a:t>orthogonal columns ⇒ XᵀX = (Σxₖ²)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34670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FB3CC"/>
                </a:solidFill>
                <a:latin typeface="Calibri"/>
              </a:rPr>
              <a:t>…one equation now encodes the whole wishlist.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 dirty="0">
                <a:solidFill>
                  <a:srgbClr val="F5A623"/>
                </a:solidFill>
                <a:latin typeface="Calibri"/>
              </a:rPr>
              <a:t>Step 3 — expand ‖Xb‖²:  </a:t>
            </a:r>
            <a:r>
              <a:rPr sz="1450" b="0" i="0" dirty="0">
                <a:solidFill>
                  <a:srgbClr val="F2F6FB"/>
                </a:solidFill>
                <a:latin typeface="Calibri"/>
              </a:rPr>
              <a:t>it equals </a:t>
            </a:r>
            <a:r>
              <a:rPr sz="1450" b="1" i="1" dirty="0">
                <a:solidFill>
                  <a:srgbClr val="F5A623"/>
                </a:solidFill>
                <a:latin typeface="Calibri"/>
              </a:rPr>
              <a:t>(x₁²+…+xₙ²)(b₁²+…+bₙ²)</a:t>
            </a:r>
            <a:r>
              <a:rPr sz="1450" b="0" i="0" dirty="0">
                <a:solidFill>
                  <a:srgbClr val="F2F6FB"/>
                </a:solidFill>
                <a:latin typeface="Calibri"/>
              </a:rPr>
              <a:t> — </a:t>
            </a:r>
            <a:r>
              <a:rPr sz="1450" b="1" i="0" dirty="0">
                <a:solidFill>
                  <a:srgbClr val="F5A623"/>
                </a:solidFill>
                <a:latin typeface="Calibri"/>
              </a:rPr>
              <a:t>squares in, squares out</a:t>
            </a:r>
            <a:r>
              <a:rPr sz="1450" b="0" i="0" dirty="0">
                <a:solidFill>
                  <a:srgbClr val="F2F6FB"/>
                </a:solidFill>
                <a:latin typeface="Calibri"/>
              </a:rPr>
              <a:t>.  </a:t>
            </a:r>
            <a:r>
              <a:rPr sz="1450" b="1" i="1" dirty="0">
                <a:solidFill>
                  <a:srgbClr val="F2F6FB"/>
                </a:solidFill>
                <a:latin typeface="Calibri"/>
              </a:rPr>
              <a:t>That IS the n-square identity</a:t>
            </a:r>
            <a:r>
              <a:rPr sz="1450" b="0" i="0" dirty="0">
                <a:solidFill>
                  <a:srgbClr val="F2F6FB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3"/>
            <a:ext cx="10908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F5A623"/>
                </a:solidFill>
                <a:latin typeface="Calibri"/>
              </a:rPr>
              <a:t>X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= [x₁ x₂; −x₂ x₁]:   </a:t>
            </a:r>
            <a:r>
              <a:rPr sz="1500" b="1" i="1">
                <a:solidFill>
                  <a:srgbClr val="F5A623"/>
                </a:solidFill>
                <a:latin typeface="Calibri"/>
              </a:rPr>
              <a:t>(x₁²+x₂²)(b₁²+b₂²)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= </a:t>
            </a:r>
            <a:r>
              <a:rPr sz="1500" b="1" i="1">
                <a:solidFill>
                  <a:srgbClr val="F5A623"/>
                </a:solidFill>
                <a:latin typeface="Calibri"/>
              </a:rPr>
              <a:t>(x₁b₁+x₂b₂)²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+ </a:t>
            </a:r>
            <a:r>
              <a:rPr sz="1500" b="1" i="1">
                <a:solidFill>
                  <a:srgbClr val="F5A623"/>
                </a:solidFill>
                <a:latin typeface="Calibri"/>
              </a:rPr>
              <a:t>(x₁b₂−x₂b₁)²</a:t>
            </a:r>
            <a:r>
              <a:rPr sz="1500" b="0" i="0">
                <a:solidFill>
                  <a:srgbClr val="9FB3CC"/>
                </a:solidFill>
                <a:latin typeface="Calibri"/>
              </a:rPr>
              <a:t>  — Brahmagupta, rebuilt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81727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B19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7"/>
            <a:ext cx="10378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 i="0" dirty="0">
                <a:solidFill>
                  <a:srgbClr val="B19CFA"/>
                </a:solidFill>
                <a:latin typeface="Calibri"/>
              </a:rPr>
              <a:t>Now let the channel in</a:t>
            </a:r>
            <a:r>
              <a:rPr sz="1350" b="0" i="0" dirty="0">
                <a:solidFill>
                  <a:srgbClr val="F2F6FB"/>
                </a:solidFill>
                <a:latin typeface="Calibri"/>
              </a:rPr>
              <a:t>:  set b = h  ⇒  received energy  </a:t>
            </a:r>
            <a:r>
              <a:rPr sz="1400" b="1" i="1" dirty="0">
                <a:solidFill>
                  <a:srgbClr val="29B6E8"/>
                </a:solidFill>
                <a:latin typeface="Calibri"/>
              </a:rPr>
              <a:t>‖Xh‖² = (Σxₖ²)·(</a:t>
            </a:r>
            <a:r>
              <a:rPr sz="1400" b="1" i="1" dirty="0" err="1">
                <a:solidFill>
                  <a:srgbClr val="29B6E8"/>
                </a:solidFill>
                <a:latin typeface="Calibri"/>
              </a:rPr>
              <a:t>Σ|h</a:t>
            </a:r>
            <a:r>
              <a:rPr sz="1400" b="1" i="1" dirty="0">
                <a:solidFill>
                  <a:srgbClr val="29B6E8"/>
                </a:solidFill>
                <a:latin typeface="Calibri"/>
              </a:rPr>
              <a:t>ⱼ|²)</a:t>
            </a:r>
            <a:r>
              <a:rPr sz="1400" b="0" i="0" dirty="0">
                <a:solidFill>
                  <a:srgbClr val="F2F6FB"/>
                </a:solidFill>
                <a:latin typeface="Calibri"/>
              </a:rPr>
              <a:t>   ⇒   </a:t>
            </a:r>
            <a:r>
              <a:rPr sz="1400" b="1" i="1" dirty="0">
                <a:solidFill>
                  <a:srgbClr val="3ECF8E"/>
                </a:solidFill>
                <a:latin typeface="Calibri"/>
              </a:rPr>
              <a:t>symbol energy × channel energy — zero leakage</a:t>
            </a:r>
          </a:p>
          <a:p>
            <a:pPr>
              <a:lnSpc>
                <a:spcPct val="118000"/>
              </a:lnSpc>
            </a:pPr>
            <a:r>
              <a:rPr sz="1250" b="0" dirty="0">
                <a:solidFill>
                  <a:srgbClr val="9FB3CC"/>
                </a:solidFill>
                <a:latin typeface="Calibri"/>
              </a:rPr>
              <a:t>Every symbol collects the full </a:t>
            </a:r>
            <a:r>
              <a:rPr sz="1250" b="0" dirty="0" err="1">
                <a:solidFill>
                  <a:srgbClr val="9FB3CC"/>
                </a:solidFill>
                <a:latin typeface="Calibri"/>
              </a:rPr>
              <a:t>Σ|h</a:t>
            </a:r>
            <a:r>
              <a:rPr sz="1250" b="0" dirty="0">
                <a:solidFill>
                  <a:srgbClr val="9FB3CC"/>
                </a:solidFill>
                <a:latin typeface="Calibri"/>
              </a:rPr>
              <a:t>ⱼ|² — the receive-side sum of squares is the diversity gain.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97295"/>
            <a:ext cx="10908792" cy="658368"/>
          </a:xfrm>
          <a:prstGeom prst="roundRect">
            <a:avLst>
              <a:gd name="adj" fmla="val 7000"/>
            </a:avLst>
          </a:prstGeom>
          <a:solidFill>
            <a:srgbClr val="102A4A"/>
          </a:solidFill>
          <a:ln w="19050">
            <a:solidFill>
              <a:srgbClr val="3E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5"/>
            <a:ext cx="10378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dirty="0">
                <a:solidFill>
                  <a:srgbClr val="3ECF8E"/>
                </a:solidFill>
                <a:latin typeface="Calibri"/>
              </a:rPr>
              <a:t>The </a:t>
            </a:r>
            <a:r>
              <a:rPr sz="1400" b="1" dirty="0" err="1">
                <a:solidFill>
                  <a:srgbClr val="3ECF8E"/>
                </a:solidFill>
                <a:latin typeface="Calibri"/>
              </a:rPr>
              <a:t>wishlist</a:t>
            </a:r>
            <a:r>
              <a:rPr sz="1400" b="1" dirty="0">
                <a:solidFill>
                  <a:srgbClr val="3ECF8E"/>
                </a:solidFill>
                <a:latin typeface="Calibri"/>
              </a:rPr>
              <a:t> ⇔ the identity.  </a:t>
            </a:r>
            <a:r>
              <a:rPr sz="1400" b="0" dirty="0">
                <a:solidFill>
                  <a:srgbClr val="F2F6FB"/>
                </a:solidFill>
                <a:latin typeface="Calibri"/>
              </a:rPr>
              <a:t>Hurwitz: identities exist only for n = 1, 2, 4, 8 — so the </a:t>
            </a:r>
            <a:r>
              <a:rPr sz="1400" b="0" dirty="0" err="1">
                <a:solidFill>
                  <a:srgbClr val="F2F6FB"/>
                </a:solidFill>
                <a:latin typeface="Calibri"/>
              </a:rPr>
              <a:t>wishlist</a:t>
            </a:r>
            <a:r>
              <a:rPr sz="1400" b="0" dirty="0">
                <a:solidFill>
                  <a:srgbClr val="F2F6FB"/>
                </a:solidFill>
                <a:latin typeface="Calibri"/>
              </a:rPr>
              <a:t> is grantable only there.  The math isn’t imported into the engineering: the wishes ARE the identity.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REAL OSTBC · CONCEPT CHECK ·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magic antenna counts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For real constellations (BPSK / PAM), a square rate-1 orthogonal design exists for which numbers of transmit antennas?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For any number of transmit antennas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Only for Nₜ = 1, 2, 4,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Only for Nₜ = 2, as with Alamouti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Only for even antenna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REAL OSTBC · ANSWER ·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magic antenna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For real constellations (BPSK / PAM), a square rate-1 orthogonal design exists for which numbers of transmit antennas?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For any number of transmit antennas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Only for Nₜ = 1, 2, 4,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2386584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Only for Nₜ = 2, as with Alamouti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Only for even antenna 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Hurwitz’s theorem: square rate-1 real designs exist only for n = 1, 2, 4, 8 — the four normed division algebras (reals, complex, quaternions, octonions). Every other Nₜ needs a non-square design.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HURWITZ–RADON · THE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FFFFFF"/>
                </a:solidFill>
                <a:latin typeface="Calibri"/>
              </a:rPr>
              <a:t>Computing ρ(p): a quick 3-step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ρ(p) looks mysterious, but it's a short calculation — and </a:t>
            </a:r>
            <a:r>
              <a:rPr sz="1450" b="1" i="0">
                <a:solidFill>
                  <a:srgbClr val="62E3F7"/>
                </a:solidFill>
                <a:latin typeface="Calibri"/>
              </a:rPr>
              <a:t>only the powers of 2 in p matter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305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C2E0"/>
                </a:solidFill>
                <a:latin typeface="Calibri"/>
              </a:rPr>
              <a:t>Pull out the powers of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146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 dirty="0">
                <a:solidFill>
                  <a:srgbClr val="9DB6D6"/>
                </a:solidFill>
                <a:latin typeface="Calibri"/>
              </a:rPr>
              <a:t>write p as 2 to some power, times an odd number</a:t>
            </a:r>
          </a:p>
        </p:txBody>
      </p:sp>
      <p:pic>
        <p:nvPicPr>
          <p:cNvPr id="12" name="Picture 11" descr="hr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94560"/>
            <a:ext cx="2492496" cy="548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3035808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 dirty="0">
                <a:solidFill>
                  <a:srgbClr val="00C2E0"/>
                </a:solidFill>
                <a:latin typeface="Calibri"/>
              </a:rPr>
              <a:t>Split that exponent by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387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DB6D6"/>
                </a:solidFill>
                <a:latin typeface="Calibri"/>
              </a:rPr>
              <a:t>d = remainder of a ÷ 4,   c = the quotient</a:t>
            </a:r>
          </a:p>
        </p:txBody>
      </p:sp>
      <p:pic>
        <p:nvPicPr>
          <p:cNvPr id="18" name="Picture 17" descr="hr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18688"/>
            <a:ext cx="4780429" cy="5486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0080" y="4059936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4288536"/>
            <a:ext cx="457200" cy="457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70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788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C2E0"/>
                </a:solidFill>
                <a:latin typeface="Calibri"/>
              </a:rPr>
              <a:t>Plug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6285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DB6D6"/>
                </a:solidFill>
                <a:latin typeface="Calibri"/>
              </a:rPr>
              <a:t>and you're done</a:t>
            </a:r>
          </a:p>
        </p:txBody>
      </p:sp>
      <p:pic>
        <p:nvPicPr>
          <p:cNvPr id="24" name="Picture 23" descr="hr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242816"/>
            <a:ext cx="2420666" cy="5486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0080" y="54406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34D399"/>
                </a:solidFill>
                <a:latin typeface="Calibri"/>
              </a:rPr>
              <a:t>The odd factor is thrown away:  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ρ(6)=ρ(2)=2  and  ρ(12)=ρ(4)=4.  Only the 2-power decides the answer.</a:t>
            </a:r>
          </a:p>
        </p:txBody>
      </p:sp>
    </p:spTree>
    <p:extLst>
      <p:ext uri="{BB962C8B-B14F-4D97-AF65-F5344CB8AC3E}">
        <p14:creationId xmlns:p14="http://schemas.microsoft.com/office/powerpoint/2010/main" val="19575690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HURWITZ–RADON ·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Worked: computing ρ(p)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Four examples — watch the 2-power do all the work: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1033272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r_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67712"/>
            <a:ext cx="5101243" cy="512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3017520"/>
            <a:ext cx="1033272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r_w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136391"/>
            <a:ext cx="5211235" cy="5120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3886200"/>
            <a:ext cx="1033272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r_w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005072"/>
            <a:ext cx="6245629" cy="5120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400" y="4754880"/>
            <a:ext cx="10332720" cy="74980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r_w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873752"/>
            <a:ext cx="6951656" cy="5120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80" y="5623560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The pattern: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ρ = 1, 2, 1, 4, 1, 2, 1, 8, …  — it spikes to 1, 2, 4, 8 exactly at p = 1, 2, 4, 8, and sits low everywhere else.</a:t>
            </a:r>
          </a:p>
        </p:txBody>
      </p:sp>
    </p:spTree>
    <p:extLst>
      <p:ext uri="{BB962C8B-B14F-4D97-AF65-F5344CB8AC3E}">
        <p14:creationId xmlns:p14="http://schemas.microsoft.com/office/powerpoint/2010/main" val="31125329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REAL OSTBC · CONCEPT CHECK ·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Count the time slots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27632"/>
            <a:ext cx="1005840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rate-1 real OSTBC for Nₜ = 6 transmit antennas needs at least how many time slots (block length p)?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 =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83464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3163824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14553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99923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 =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 =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18795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37376" y="4517136"/>
            <a:ext cx="530352" cy="530352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9884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35254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 =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DB6D6"/>
                </a:solidFill>
                <a:latin typeface="Calibri"/>
              </a:rPr>
              <a:t>Answer on the next slide  →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REAL OSTBC · ANSWER ·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Count the time slots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Q:  </a:t>
            </a:r>
            <a:r>
              <a:rPr sz="1300" b="0" i="1">
                <a:solidFill>
                  <a:srgbClr val="9DB6D6"/>
                </a:solidFill>
                <a:latin typeface="Calibri"/>
              </a:rPr>
              <a:t>A rate-1 real OSTBC for Nₜ = 6 transmit antennas needs at least how many time slots (block length p)?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p =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240280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37376" y="2569464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404872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p =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D2442"/>
          </a:solidFill>
          <a:ln w="12700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922776"/>
            <a:ext cx="530352" cy="530352"/>
          </a:xfrm>
          <a:prstGeom prst="ellipse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9DB6D6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58184"/>
            <a:ext cx="419709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DB6D6"/>
                </a:solidFill>
                <a:latin typeface="Calibri"/>
              </a:rPr>
              <a:t>p =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593592"/>
            <a:ext cx="5385816" cy="11887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37376" y="3922776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3904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758184"/>
            <a:ext cx="410565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 =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3739896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✓ correct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2E0"/>
                </a:solidFill>
                <a:latin typeface="Calibri"/>
              </a:rPr>
              <a:t>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ρ(6) = 2 and ρ(7) = 1 are too small; the smallest p with ρ(p) ≥ 6 is p = 8, since ρ(8) = 8. Take the 8×8 design and keep 6 columns — rate stays 1, only the decoding delay grows.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HURWITZ–RADON · THE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How many antennas can a block support?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ρ(p) answers the design question directly:  </a:t>
            </a:r>
            <a:r>
              <a:rPr sz="1450" b="1" i="0" dirty="0">
                <a:solidFill>
                  <a:srgbClr val="62E3F7"/>
                </a:solidFill>
                <a:latin typeface="Calibri"/>
              </a:rPr>
              <a:t>how many antennas can p time slots carry at rate 1?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440680" cy="274320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The existence rule</a:t>
            </a:r>
          </a:p>
        </p:txBody>
      </p:sp>
      <p:pic>
        <p:nvPicPr>
          <p:cNvPr id="9" name="Picture 8" descr="hr_c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1714954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24612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FFFFFF"/>
                </a:solidFill>
                <a:latin typeface="Calibri"/>
              </a:rPr>
              <a:t>A rate-1 real design with Nₜ antennas needs a block whose ρ(p) is at least Nₜ.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00C2E0"/>
                </a:solidFill>
                <a:latin typeface="Calibri"/>
              </a:rPr>
              <a:t>Smallest block that works:</a:t>
            </a:r>
          </a:p>
        </p:txBody>
      </p:sp>
      <p:pic>
        <p:nvPicPr>
          <p:cNvPr id="12" name="Picture 11" descr="hr_min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15968"/>
            <a:ext cx="3825688" cy="457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63640" y="2057400"/>
            <a:ext cx="5440680" cy="27432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The ceiling</a:t>
            </a:r>
          </a:p>
        </p:txBody>
      </p:sp>
      <p:pic>
        <p:nvPicPr>
          <p:cNvPr id="15" name="Picture 14" descr="hr_rhol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38704"/>
            <a:ext cx="4846320" cy="4375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320040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ρ can never exceed p, and equals it only at 1, 2, 4, 8 — the square cases.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319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F6A623"/>
                </a:solidFill>
                <a:latin typeface="Calibri"/>
              </a:rPr>
              <a:t>Worked — 5 antennas:</a:t>
            </a:r>
          </a:p>
        </p:txBody>
      </p:sp>
      <p:pic>
        <p:nvPicPr>
          <p:cNvPr id="18" name="Picture 17" descr="hr_ex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317335"/>
            <a:ext cx="5029200" cy="3813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0080" y="49834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The real cost: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past 8, ρ crawls — 8 → 9 → 10 as p doubles (8, 16, 32).  Many antennas ⇒ long blocks (big delay).</a:t>
            </a:r>
          </a:p>
        </p:txBody>
      </p:sp>
    </p:spTree>
    <p:extLst>
      <p:ext uri="{BB962C8B-B14F-4D97-AF65-F5344CB8AC3E}">
        <p14:creationId xmlns:p14="http://schemas.microsoft.com/office/powerpoint/2010/main" val="25193348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00C2E0"/>
                </a:solidFill>
                <a:latin typeface="Calibri"/>
              </a:rPr>
              <a:t>HURWITZ–RADON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FFFFFF"/>
                </a:solidFill>
                <a:latin typeface="Calibri"/>
              </a:rPr>
              <a:t>The bookkeeping: how many antennas fit in p slots?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Given p time slots, the most antennas you can support at rate 1 is the </a:t>
            </a:r>
            <a:r>
              <a:rPr sz="1450" b="1" i="0" dirty="0">
                <a:solidFill>
                  <a:srgbClr val="62E3F7"/>
                </a:solidFill>
                <a:latin typeface="Calibri"/>
              </a:rPr>
              <a:t>Hurwitz–Radon number ρ(p)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1097280" cy="457200"/>
          </a:xfrm>
          <a:prstGeom prst="rect">
            <a:avLst/>
          </a:prstGeom>
          <a:solidFill>
            <a:srgbClr val="163760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2E3F7"/>
                </a:solidFill>
                <a:latin typeface="Calibri"/>
              </a:rPr>
              <a:t>p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68880"/>
            <a:ext cx="1097280" cy="457200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2E3F7"/>
                </a:solidFill>
                <a:latin typeface="Calibri"/>
              </a:rPr>
              <a:t>ρ(p)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468880"/>
            <a:ext cx="1097280" cy="457200"/>
          </a:xfrm>
          <a:prstGeom prst="rect">
            <a:avLst/>
          </a:prstGeom>
          <a:solidFill>
            <a:srgbClr val="143A2E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39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39" y="2468880"/>
            <a:ext cx="1097280" cy="457200"/>
          </a:xfrm>
          <a:prstGeom prst="rect">
            <a:avLst/>
          </a:prstGeom>
          <a:solidFill>
            <a:srgbClr val="143A2E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39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34D399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468880"/>
            <a:ext cx="1097280" cy="457200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468880"/>
            <a:ext cx="1097280" cy="457200"/>
          </a:xfrm>
          <a:prstGeom prst="rect">
            <a:avLst/>
          </a:prstGeom>
          <a:solidFill>
            <a:srgbClr val="143A2E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468880"/>
            <a:ext cx="1097280" cy="457200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59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59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59" y="2468880"/>
            <a:ext cx="1097280" cy="457200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59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2468880"/>
            <a:ext cx="1097280" cy="457200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7824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19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19" y="2468880"/>
            <a:ext cx="1097280" cy="457200"/>
          </a:xfrm>
          <a:prstGeom prst="rect">
            <a:avLst/>
          </a:prstGeom>
          <a:solidFill>
            <a:srgbClr val="143A2E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75519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799" y="2011680"/>
            <a:ext cx="1097280" cy="457200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799" y="2011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799" y="2468880"/>
            <a:ext cx="1097280" cy="457200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72799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29992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 dirty="0">
                <a:solidFill>
                  <a:srgbClr val="34D399"/>
                </a:solidFill>
                <a:latin typeface="Calibri"/>
              </a:rPr>
              <a:t>green = the clean squares where ρ(p) = p:  only p = 1, 2, 4, 8.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520440"/>
            <a:ext cx="5486400" cy="1691640"/>
          </a:xfrm>
          <a:prstGeom prst="roundRect">
            <a:avLst>
              <a:gd name="adj" fmla="val 5000"/>
            </a:avLst>
          </a:prstGeom>
          <a:solidFill>
            <a:srgbClr val="122E52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3657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The recipe (all you need)</a:t>
            </a:r>
          </a:p>
        </p:txBody>
      </p:sp>
      <p:pic>
        <p:nvPicPr>
          <p:cNvPr id="50" name="Picture 49" descr="iv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3264273" cy="4572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4400" y="46177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FFFFFF"/>
                </a:solidFill>
                <a:latin typeface="Calibri"/>
              </a:rPr>
              <a:t>Pick the smallest delay p whose ρ(p) reaches n.  That fixes the block length.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52044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3657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6A623"/>
                </a:solidFill>
                <a:latin typeface="Calibri"/>
              </a:rPr>
              <a:t>Worked:  n = 5 antennas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11480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Smallest p with ρ(p) ≥ 5 is  </a:t>
            </a:r>
            <a:r>
              <a:rPr sz="1300" b="1" i="0" dirty="0">
                <a:solidFill>
                  <a:srgbClr val="34D399"/>
                </a:solidFill>
                <a:latin typeface="Calibri"/>
              </a:rPr>
              <a:t>p = 8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 →  a 5-antenna, rate-1 code over 8 time slots (take the 8×8 design, keep 5 columns).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2852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B6D6"/>
                </a:solidFill>
                <a:latin typeface="Calibri"/>
              </a:rPr>
              <a:t>exact count (for the curious):</a:t>
            </a:r>
          </a:p>
        </p:txBody>
      </p:sp>
      <p:pic>
        <p:nvPicPr>
          <p:cNvPr id="56" name="Picture 55" descr="iv_r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284935"/>
            <a:ext cx="3108960" cy="32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939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WORKED · THE 4×4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next clean one: 4 antennas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06</a:t>
            </a:r>
          </a:p>
        </p:txBody>
      </p:sp>
      <p:pic>
        <p:nvPicPr>
          <p:cNvPr id="6" name="Picture 5" descr="iv_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671" y="1783080"/>
            <a:ext cx="4007537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4 symbols (x₁…x₄) over 4 slots: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8521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450" dirty="0">
                <a:solidFill>
                  <a:srgbClr val="FFFFFF"/>
                </a:solidFill>
                <a:latin typeface="Calibri"/>
              </a:rPr>
              <a:t>Rate = 4 / 4 = 1  — full rate, like the 2×2.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450" dirty="0">
                <a:solidFill>
                  <a:srgbClr val="FFFFFF"/>
                </a:solidFill>
                <a:latin typeface="Calibri"/>
              </a:rPr>
              <a:t>Columns orthogonal ⇒ 𝒢ᵀ𝒢 = (Σxₖ²) 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450" dirty="0">
                <a:solidFill>
                  <a:srgbClr val="FFFFFF"/>
                </a:solidFill>
                <a:latin typeface="Calibri"/>
              </a:rPr>
              <a:t>Full diversity 4 × Nᵣ; still single-symbol decoding.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dirty="0">
                <a:solidFill>
                  <a:srgbClr val="00C2E0"/>
                </a:solidFill>
                <a:latin typeface="Calibri"/>
              </a:rPr>
              <a:t>▸  </a:t>
            </a:r>
            <a:r>
              <a:rPr sz="1450" dirty="0">
                <a:solidFill>
                  <a:srgbClr val="FFFFFF"/>
                </a:solidFill>
                <a:latin typeface="Calibri"/>
              </a:rPr>
              <a:t>It comes straight from Euler's four-square identity — the quaternions (n = 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After this,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the only remaining clean square is 8 (octonions) — then no more.  For everything else we need a new trick.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ANY ANTENNA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Rate 1 for any antenna count — just drop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760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The trick: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you don't need a square design.  Start from the next clean one (2, 4, or 8) and simply </a:t>
            </a:r>
            <a:r>
              <a:rPr sz="1450" b="1" i="0">
                <a:solidFill>
                  <a:srgbClr val="62E3F7"/>
                </a:solidFill>
                <a:latin typeface="Calibri"/>
              </a:rPr>
              <a:t>delete columns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to reach any Nₜ.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6A623"/>
                </a:solidFill>
                <a:latin typeface="Calibri"/>
              </a:rPr>
              <a:t>Example — 3 antennas: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760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Take the 4×4 design, keep the first 3 columns → a 4×3 code.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Still 4 symbols in 4 slots = rate 1; columns still orthogonal ⇒ full diversity 3.</a:t>
            </a:r>
          </a:p>
        </p:txBody>
      </p:sp>
      <p:pic>
        <p:nvPicPr>
          <p:cNvPr id="9" name="Picture 8" descr="iv_g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579" y="1645920"/>
            <a:ext cx="3682601" cy="3108960"/>
          </a:xfrm>
          <a:prstGeom prst="rect">
            <a:avLst/>
          </a:prstGeom>
        </p:spPr>
      </p:pic>
      <p:pic>
        <p:nvPicPr>
          <p:cNvPr id="10" name="Picture 9" descr="iv_verify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892040"/>
            <a:ext cx="3443801" cy="457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48640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The only cost is a little delay, never rate: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Nₜ = 3 → 4 slots;  Nₜ = 5, 6, 7 → 8 slots.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SUMMARY · REAL VS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So when do you use a real OSTBC?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09</a:t>
            </a:r>
          </a:p>
        </p:txBody>
      </p:sp>
      <p:pic>
        <p:nvPicPr>
          <p:cNvPr id="6" name="Picture 5" descr="iv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71553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trade you're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8600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Real OSTBC: rate 1 for ANY Nₜ, cleanest codes, single-symbol decoding.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Complex OSTBC: rate 1 only at Nₜ = 2 — but each symbol carries twice the bits.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Catch: a real symbol holds half the bits, so matching QAM needs a bigger PAM — which costs power.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Bottom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orthogonal designs are the machinery behind simple, full-diversity coding.  Real ones extend it to every antenna count — at a modulation-efficiency cost you weigh case by case.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REAL OSTBC · SIMULATION ·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MATLAB: real OSTBCs — rate 1 for any Nₜ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% Real OSTBC: rate 1 for ANY Nt (BPSK). One master 4x4 design; keep the first Nt columns.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%   X = [x1 x2 x3 x4; -x2 x1 -x4 x3; -x3 x4 x1 -x2; -x4 -x3 x2 x1],   X'*X = (sum xk^2)*I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SNRdB = 0:2:20;  N = 2e5;  Nts = [2 3 4];  ber = zeros(4,numel(SNRdB));  cj = @conj;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for k = 1:numel(SNRdB)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snr = 10^(SNRdB(k)/10);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for v = 1:3                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% real OSTBC via column deletion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Nt = Nts(v);  amp = sqrt(snr/Nt);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 = zeros(N,4);  h(:,1:Nt) = (randn(N,Nt)+1i*randn(N,Nt))/sqrt(2);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h1 = h(:,1);  h2 = h(:,2);  h3 = h(:,3);  h4 = h(:,4);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x = 2*(rand(N,4)&gt;.5) - 1;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% 4 BPSK symbols in 4 slots -&gt; rate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Y = amp*[h1.*x(:,1)+h2.*x(:,2)+h3.*x(:,3)+h4.*x(:,4), ...   </a:t>
            </a:r>
            <a:r>
              <a:rPr sz="1000">
                <a:solidFill>
                  <a:srgbClr val="34D399"/>
                </a:solidFill>
                <a:latin typeface="Consolas"/>
              </a:rPr>
              <a:t>% y = amp*H*x + 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h2.*x(:,1)-h1.*x(:,2)+h4.*x(:,3)-h3.*x(:,4),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h3.*x(:,1)-h4.*x(:,2)-h1.*x(:,3)+h2.*x(:,4),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h4.*x(:,1)+h3.*x(:,2)-h2.*x(:,3)-h1.*x(:,4)] + (randn(N,4)+1i*randn(N,4))/sqrt(2);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d = real([cj(h1).*Y(:,1)+cj(h2).*Y(:,2)+cj(h3).*Y(:,3)+cj(h4).*Y(:,4),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 cj(h2).*Y(:,1)-cj(h1).*Y(:,2)-cj(h4).*Y(:,3)+cj(h3).*Y(:,4),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 cj(h3).*Y(:,1)+cj(h4).*Y(:,2)-cj(h1).*Y(:,3)-cj(h2).*Y(:,4),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 cj(h4).*Y(:,1)-cj(h3).*Y(:,2)+cj(h2).*Y(:,3)-cj(h1).*Y(:,4)]);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    % Re(H'*H) = ||h||^2 * I  -&gt;  the four symbols decouple; BPSK slicing per symbol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ber(v,k) = mean(mean((d&lt;0) ~= (x&lt;0)));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g = 2*snr/4*sum(abs((randn(N,4)+1i*randn(N,4))/sqrt(2)).^2, 2);  </a:t>
            </a:r>
            <a:r>
              <a:rPr sz="1000">
                <a:solidFill>
                  <a:srgbClr val="34D399"/>
                </a:solidFill>
                <a:latin typeface="Consolas"/>
              </a:rPr>
              <a:t>% complex G4 + QPSK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s = ((2*(rand(N,1)&gt;.5)-1)+1i*(2*(rand(N,1)&gt;.5)-1))/sqrt(2);      </a:t>
            </a:r>
            <a:r>
              <a:rPr sz="1000">
                <a:solidFill>
                  <a:srgbClr val="34D399"/>
                </a:solidFill>
                <a:latin typeface="Consolas"/>
              </a:rPr>
              <a:t>% also 1 b/s/Hz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y = sqrt(g).*s + (randn(N,1)+1i*randn(N,1))/sqrt(2);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ber(4,k) = mean([(real(y)&lt;0)~=(real(s)&lt;0); (imag(y)&lt;0)~=(imag(s)&lt;0)]);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semilogy(SNRdB,ber,'-s','LineWidth',1.5); grid on; xlabel('SNR (dB)'); ylabel('BER (1 b/s/Hz)')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legend('Real OSTBC 2 Tx','Real OSTBC 3 Tx','Real OSTBC 4 Tx','Complex G_4 + QPSK, rate 1/2')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REAL OSTBC · SIMULATION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Python: real OSTBCs — rate 1 for any Nₜ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4709160"/>
          </a:xfrm>
          <a:prstGeom prst="roundRect">
            <a:avLst>
              <a:gd name="adj" fmla="val 3000"/>
            </a:avLst>
          </a:prstGeom>
          <a:solidFill>
            <a:srgbClr val="081628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0698480" cy="4434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import numpy as np, matplotlib.pyplot as plt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# Real OSTBC: rate 1 for ANY Nt (BPSK). One master 4x4 design; keep the first Nt columns.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#   X = [x1 x2 x3 x4; -x2 x1 -x4 x3; -x3 x4 x1 -x2; -x4 -x3 x2 x1],   X'X = (sum xk^2) 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rng = np.random.default_rng(1)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def real_ostbc_ber(snr, N, Nt):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column deletion: antennas Nt+1..4 stay silent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amp = np.sqrt(snr/Nt); h = np.zeros((4,N), complex)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h[:Nt] = (rng.standard_normal((Nt,N))+1j*rng.standard_normal((Nt,N)))/np.sqrt(2)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h1,h2,h3,h4 = h            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equivalent channel: column k = X(e_k)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H = np.stack([np.stack([h1,h2,h3,h4],-1), np.stack([h2,-h1,-h4,h3],-1),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     np.stack([h3,h4,-h1,-h2],-1), np.stack([h4,-h3,h2,-h1],-1)], -1)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x = 2.0*(rng.random((N,4))&gt;.5) - 1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4 BPSK symbols in 4 slots  -&gt;  rate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y = amp*np.einsum('nij,nj-&gt;ni',H,x) + (rng.standard_normal((N,4))+1j*rng.standard_normal((N,4)))/np.sqrt(2)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d = np.real(np.einsum('nij,ni-&gt;nj', np.conj(H), y))   </a:t>
            </a:r>
            <a:r>
              <a:rPr sz="1000">
                <a:solidFill>
                  <a:srgbClr val="34D399"/>
                </a:solidFill>
                <a:latin typeface="Consolas"/>
              </a:rPr>
              <a:t># Re(H'H) = ||h||^2 I: symbols decouple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return np.mean((d&lt;0)!=(x&lt;0))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def g4_qpsk_ber(snr, N):                       </a:t>
            </a:r>
            <a:r>
              <a:rPr sz="1000">
                <a:solidFill>
                  <a:srgbClr val="34D399"/>
                </a:solidFill>
                <a:latin typeface="Consolas"/>
              </a:rPr>
              <a:t># complex OSTBC G4, rate 1/2 + QPSK: also 1 b/s/Hz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g = 2*snr/4*np.sum(np.abs(rng.standard_normal((N,4))+1j*rng.standard_normal((N,4)))**2/2,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s = ((2*(rng.random(N)&gt;.5)-1)+1j*(2*(rng.random(N)&gt;.5)-1))/np.sqrt(2)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y = np.sqrt(g)*s + (rng.standard_normal(N)+1j*rng.standard_normal(N))/np.sqrt(2)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return np.mean([(y.real&lt;0)!=(s.real&lt;0), (y.imag&lt;0)!=(s.imag&lt;0)])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SNRdB = np.arange(0,21,2); N = 200_000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for Nt in (2,3,4):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plt.semilogy(SNRdB, [real_ostbc_ber(10**(d/10),N,Nt) for d in SNRdB], '-s',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    label=f'Real OSTBC, {Nt} Tx, rate 1 + BPSK')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plt.semilogy(SNRdB, [g4_qpsk_ber(10**(d/10),N) for d in SNRdB], '--o',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             label='Complex G4, 4 Tx, rate 1/2 + QPSK')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2E3F7"/>
                </a:solidFill>
                <a:latin typeface="Consolas"/>
              </a:rPr>
              <a:t>plt.legend(); plt.grid(True); plt.xlabel('SNR (dB)'); plt.ylabel('BER  (all at 1 b/s/Hz)')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REAL OSTBC · SIMULATION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 OSTBCs: the rate-1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ber_compa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3401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Reading the curves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423160"/>
            <a:ext cx="274320" cy="27432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6A623"/>
                </a:solidFill>
                <a:latin typeface="Calibri"/>
              </a:rPr>
              <a:t>Real OSTBC · 2, 3, 4 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all rate 1: slopes 2, 3, 4 — one master design, columns deleted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264408"/>
            <a:ext cx="274320" cy="27432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The dB ladder (BER 10⁻⁴)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19.3 → 15.1 → 13.1 dB — extra antennas cost nothing in rate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105656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Complex G₄ + QPSK (1 b/s/Hz)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lands exactly on the real 4 Tx curve — 2× energy ⇄ half rate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946904"/>
            <a:ext cx="274320" cy="27432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88289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388FF"/>
                </a:solidFill>
                <a:latin typeface="Calibri"/>
              </a:rPr>
              <a:t>Same BER, different bill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937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real: 4 slots, plain ±xₖ entries · G₄: 8 slots, conjugates + QPSK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71500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57150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2E3F7"/>
                </a:solidFill>
                <a:latin typeface="Calibri"/>
              </a:rPr>
              <a:t>Rate 1 at any antenna count is the real designs' gift; at 1 b/s/Hz the real and complex routes give identical BER — choose by delay and hardware, not by the curve.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Real vs complex OSTBC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DB6D6"/>
                </a:solidFill>
                <a:latin typeface="Calibri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65760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70332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Real OSTBC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737360"/>
            <a:ext cx="3703320" cy="502920"/>
          </a:xfrm>
          <a:prstGeom prst="rect">
            <a:avLst/>
          </a:prstGeom>
          <a:solidFill>
            <a:srgbClr val="16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73736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C2E0"/>
                </a:solidFill>
                <a:latin typeface="Calibri"/>
              </a:rPr>
              <a:t>Complex OSTBC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365760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2240280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DB6D6"/>
                </a:solidFill>
                <a:latin typeface="Calibri"/>
              </a:rPr>
              <a:t>Constellation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40280"/>
            <a:ext cx="370332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24028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BPSK / PAM  (real)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240280"/>
            <a:ext cx="370332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24028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QAM / PSK  (complex)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07208"/>
            <a:ext cx="365760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2807208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DB6D6"/>
                </a:solidFill>
                <a:latin typeface="Calibri"/>
              </a:rPr>
              <a:t>Rate 1 for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807208"/>
            <a:ext cx="370332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2807208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any Nₜ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807208"/>
            <a:ext cx="370332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2807208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only Nₜ = 2  (Alamouti)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74136"/>
            <a:ext cx="365760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3374136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DB6D6"/>
                </a:solidFill>
                <a:latin typeface="Calibri"/>
              </a:rPr>
              <a:t>Square min-delay 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374136"/>
            <a:ext cx="370332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3374136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Nₜ = 1, 2, 4, 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374136"/>
            <a:ext cx="370332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3374136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Nₜ = 1,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41064"/>
            <a:ext cx="365760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3941064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DB6D6"/>
                </a:solidFill>
                <a:latin typeface="Calibri"/>
              </a:rPr>
              <a:t>Rate at Nₜ = 3,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941064"/>
            <a:ext cx="370332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60" y="3941064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3941064"/>
            <a:ext cx="3703320" cy="566928"/>
          </a:xfrm>
          <a:prstGeom prst="rect">
            <a:avLst/>
          </a:prstGeom>
          <a:solidFill>
            <a:srgbClr val="0E2647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79" y="3941064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3/4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507992"/>
            <a:ext cx="365760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59" y="450799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DB6D6"/>
                </a:solidFill>
                <a:latin typeface="Calibri"/>
              </a:rPr>
              <a:t>Decoding / diversity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507992"/>
            <a:ext cx="370332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450799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single-symbol · full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4507992"/>
            <a:ext cx="3703320" cy="566928"/>
          </a:xfrm>
          <a:prstGeom prst="rect">
            <a:avLst/>
          </a:prstGeom>
          <a:solidFill>
            <a:srgbClr val="122E52"/>
          </a:solidFill>
          <a:ln w="952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79" y="450799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single-symbol · full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2578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2578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Caveat: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real symbol carries half the bits of a complex one — to match QAM you need a larger PAM, which costs power. Real OSTBC wins on rate-for-any-Nₜ, but pays in modulation efficiency.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6A623"/>
                </a:solidFill>
                <a:latin typeface="Calibri"/>
              </a:rPr>
              <a:t>CAPSTONE · DESIGN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Design an open-loop 4-antenna downlink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2E0"/>
                </a:solidFill>
                <a:latin typeface="Calibri"/>
              </a:rPr>
              <a:t>Scenario: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high-mobility user makes channel feedback useless — no CSIT.  The base station has 4 transmit antennas, the handset one.  Target: BER 10⁻⁴ at 2 b/s/Hz within a cell-edge SNR budget of 18 dB.  Rayleigh fading, total power 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F6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6A623"/>
                </a:solidFill>
                <a:latin typeface="Calibri"/>
              </a:rPr>
              <a:t>Given: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toolbox — complex OSTBCs (rate ≤ 3/4 at 4 Tx), QOSTBC (rate 1, pairwise decoding), constellations QPSK / 16-QAM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Tasks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879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List every open-loop candidate that delivers 2 b/s/Hz with 4 antennas.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7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7365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Which candidates achieve full diversity 4 — and what breaks it?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1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528523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From the simulated curves, find the SNR each needs at BER 10⁻⁴. Who fits the 18 dB budget?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852159"/>
            <a:ext cx="420624" cy="420624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1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833871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Specify the winner: code matrix, constellation, decoder — and its decoding complexity.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CAPSTONE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Scheme selection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pic>
        <p:nvPicPr>
          <p:cNvPr id="6" name="Picture 5" descr="pb_link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208776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783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The shortlist at 2 b/s/Hz  (BER 10⁻⁴)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4389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Rate-3/4 OSTBC would need a 2^(8/3)-point constellation — none exists: eliminated at this spectral efficiency.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G₄ rate-1/2 + 16-QAM: full diversity 4, but needs ≈ 19.8 dB — misses the 18 dB budget.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QOSTBC + QPSK, no rotation: ≈ 19.4 dB and only diversity 2 — also out.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C2E0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QOSTBC + QPSK with π/4 rotation: full diversity 4 at ≈ 16.9 dB — inside budget, 1.1 dB to spare.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Verdict: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ship the rotated QOSTBC — ABBA code matrix, QPSK with s₃, s₄ rotated by π/4, pairwise ML (two 16-hypothesis searches per block).  Rate 1, diversity 4Nᵣ, no feedback: the only candidate inside the 18 dB budget.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Where these schemes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30428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UMTS · Alamouti STTD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03320" y="237744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30428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LTE · SFBC (Alamouti)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2240" y="2377440"/>
            <a:ext cx="411480" cy="41148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30428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WiMAX · Matrix A STBC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0116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81160" y="2377440"/>
            <a:ext cx="411480" cy="411480"/>
          </a:xfrm>
          <a:prstGeom prst="ellipse">
            <a:avLst/>
          </a:prstGeom>
          <a:solidFill>
            <a:srgbClr val="62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230428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5G NR · precoded MIMO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19272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685032"/>
            <a:ext cx="411480" cy="41148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611879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DVB-T2 · MISO Alamouti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319272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703320" y="3685032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3611879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Military · open-loop STBC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19272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92240" y="3685032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3611879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Wi-Fi 802.11n · STBC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319272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81160" y="3685032"/>
            <a:ext cx="411480" cy="41148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3611879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IoT · low-cost diversity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2E3F7"/>
                </a:solidFill>
                <a:latin typeface="Calibri"/>
              </a:rPr>
              <a:t>Alamouti's 2×2 matrix — and its OSTBC descendants — sit inside essentially every modern wireless standard.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00C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0C2E0"/>
                </a:solidFill>
                <a:latin typeface="Calibri"/>
              </a:rPr>
              <a:t>MRT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Closed-loop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Needs CSIT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Maximum SNR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C2E0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Array + diversity 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288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0E26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2057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Calibri"/>
              </a:rPr>
              <a:t>Alamouti → OSTBC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6060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Open-loop — no CSIT, no feedback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Alamouti: rate 1 + full diversity, only at Nₜ = 2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Complex OSTBC: rate ≤ 3/4 beyond; QOSTBC + rotation wins rate 1 back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▸  </a:t>
            </a:r>
            <a:r>
              <a:rPr sz="1350">
                <a:solidFill>
                  <a:srgbClr val="FFFFFF"/>
                </a:solidFill>
                <a:latin typeface="Calibri"/>
              </a:rPr>
              <a:t>Real designs: rate 1 for ANY Nₜ — Hurwitz's 1, 2, 4,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82880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0574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B388FF"/>
                </a:solidFill>
                <a:latin typeface="Calibri"/>
              </a:rPr>
              <a:t>Big picture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65176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Space-time coding turns the fading channel from an enemy into </a:t>
            </a:r>
            <a:r>
              <a:rPr sz="1400" b="1" i="0" dirty="0">
                <a:solidFill>
                  <a:srgbClr val="62E3F7"/>
                </a:solidFill>
                <a:latin typeface="Calibri"/>
              </a:rPr>
              <a:t>parallel independent paths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— and orthogonality is what keeps those paths clean.  The foundation of reliable MIMO.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2E0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Where the field is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Massive MIMO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hundreds of antennas — CSI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26864" y="228600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21224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Hybrid beamforming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analog + digital at mmWave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0116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9328" y="2286000"/>
            <a:ext cx="411480" cy="411480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22677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388FF"/>
                </a:solidFill>
                <a:latin typeface="Calibri"/>
              </a:rPr>
              <a:t>Space-time-frequency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529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one orthogonal code across all three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886200"/>
            <a:ext cx="411480" cy="411480"/>
          </a:xfrm>
          <a:prstGeom prst="ellipse">
            <a:avLst/>
          </a:prstGeom>
          <a:solidFill>
            <a:srgbClr val="62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2E3F7"/>
                </a:solidFill>
                <a:latin typeface="Calibri"/>
              </a:rPr>
              <a:t>RIS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reconfigurable surfaces shape the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26864" y="3886200"/>
            <a:ext cx="411480" cy="411480"/>
          </a:xfrm>
          <a:prstGeom prst="ellipse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1224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6A623"/>
                </a:solidFill>
                <a:latin typeface="Calibri"/>
              </a:rPr>
              <a:t>AI-assisted beamforming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learned precoders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611880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122E52"/>
          </a:solidFill>
          <a:ln w="15875">
            <a:solidFill>
              <a:srgbClr val="274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39328" y="3886200"/>
            <a:ext cx="411480" cy="41148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386791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6G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45312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DB6D6"/>
                </a:solidFill>
                <a:latin typeface="Calibri"/>
              </a:rPr>
              <a:t>URLLC-grade reliability targets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imo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953796"/>
            <a:ext cx="4937760" cy="25384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C2E0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9DB6D6"/>
                </a:solidFill>
                <a:latin typeface="Calibri"/>
              </a:rPr>
              <a:t>From MRT beamforming to orthogonal designs — reliability is engineered, not assumed.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892040"/>
            <a:ext cx="2926080" cy="18288"/>
          </a:xfrm>
          <a:prstGeom prst="rect">
            <a:avLst/>
          </a:prstGeom>
          <a:solidFill>
            <a:srgbClr val="27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PG Diploma in Advanced Communication with Quantum &amp;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24691</TotalTime>
  <Words>13808</Words>
  <Application>Microsoft Office PowerPoint</Application>
  <PresentationFormat>Widescreen</PresentationFormat>
  <Paragraphs>1425</Paragraphs>
  <Slides>111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Manav Bhatnagar</cp:lastModifiedBy>
  <cp:revision>21</cp:revision>
  <dcterms:created xsi:type="dcterms:W3CDTF">2013-01-27T09:14:16Z</dcterms:created>
  <dcterms:modified xsi:type="dcterms:W3CDTF">2026-07-11T03:50:17Z</dcterms:modified>
  <cp:category/>
</cp:coreProperties>
</file>